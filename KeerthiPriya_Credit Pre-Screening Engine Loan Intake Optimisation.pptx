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charts/chart7.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0.xml" ContentType="application/vnd.openxmlformats-officedocument.drawingml.chart+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76" r:id="rId5"/>
    <p:sldId id="259" r:id="rId6"/>
    <p:sldId id="260" r:id="rId7"/>
    <p:sldId id="261" r:id="rId8"/>
    <p:sldId id="262" r:id="rId9"/>
    <p:sldId id="263" r:id="rId10"/>
    <p:sldId id="264" r:id="rId11"/>
    <p:sldId id="265" r:id="rId12"/>
    <p:sldId id="266" r:id="rId13"/>
    <p:sldId id="268" r:id="rId14"/>
    <p:sldId id="269" r:id="rId15"/>
    <p:sldId id="277" r:id="rId16"/>
    <p:sldId id="278" r:id="rId17"/>
    <p:sldId id="270" r:id="rId18"/>
    <p:sldId id="271" r:id="rId19"/>
    <p:sldId id="272" r:id="rId20"/>
    <p:sldId id="273" r:id="rId21"/>
    <p:sldId id="275" r:id="rId22"/>
    <p:sldId id="274" r:id="rId23"/>
    <p:sldId id="279"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8D7830-9989-147A-303A-F485971D9CC3}">
          <p14:sldIdLst>
            <p14:sldId id="256"/>
            <p14:sldId id="257"/>
            <p14:sldId id="258"/>
            <p14:sldId id="276"/>
          </p14:sldIdLst>
        </p14:section>
        <p14:section name="Understanding the data" id="{8535EB7D-119E-BF49-6962-4CF146D566C7}">
          <p14:sldIdLst>
            <p14:sldId id="259"/>
            <p14:sldId id="260"/>
            <p14:sldId id="261"/>
            <p14:sldId id="262"/>
            <p14:sldId id="263"/>
            <p14:sldId id="264"/>
          </p14:sldIdLst>
        </p14:section>
        <p14:section name="Baseline model" id="{2A94EBA1-80C4-8B5A-0018-98F12637E52A}">
          <p14:sldIdLst>
            <p14:sldId id="265"/>
            <p14:sldId id="266"/>
            <p14:sldId id="268"/>
            <p14:sldId id="269"/>
            <p14:sldId id="277"/>
            <p14:sldId id="278"/>
          </p14:sldIdLst>
        </p14:section>
        <p14:section name="Better model and lanes" id="{1B83E75E-62B7-D005-2D9B-082273070977}">
          <p14:sldIdLst>
            <p14:sldId id="270"/>
            <p14:sldId id="271"/>
            <p14:sldId id="272"/>
            <p14:sldId id="273"/>
          </p14:sldIdLst>
        </p14:section>
        <p14:section name="Wrap-up" id="{71583973-F91E-4F5A-9CAA-72EBCBB23F68}">
          <p14:sldIdLst>
            <p14:sldId id="275"/>
            <p14:sldId id="274"/>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10"/>
  </p:normalViewPr>
  <p:slideViewPr>
    <p:cSldViewPr snapToGrid="0" snapToObjects="1">
      <p:cViewPr>
        <p:scale>
          <a:sx n="77" d="100"/>
          <a:sy n="77" d="100"/>
        </p:scale>
        <p:origin x="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IN" sz="1400" b="1" i="0" u="none" strike="noStrike">
                <a:solidFill>
                  <a:srgbClr val="1E2B33"/>
                </a:solidFill>
                <a:latin typeface="+mn-lt"/>
              </a:rPr>
              <a:t>Past decisions</a:t>
            </a:r>
          </a:p>
        </c:rich>
      </c:tx>
      <c:overlay val="0"/>
    </c:title>
    <c:autoTitleDeleted val="0"/>
    <c:plotArea>
      <c:layout/>
      <c:doughnutChart>
        <c:varyColors val="1"/>
        <c:ser>
          <c:idx val="0"/>
          <c:order val="0"/>
          <c:tx>
            <c:strRef>
              <c:f>Sheet1!$B$1</c:f>
              <c:strCache>
                <c:ptCount val="1"/>
                <c:pt idx="0">
                  <c:v>Decision</c:v>
                </c:pt>
              </c:strCache>
            </c:strRef>
          </c:tx>
          <c:spPr>
            <a:solidFill>
              <a:schemeClr val="accent1"/>
            </a:solidFill>
            <a:ln w="9525" cap="flat">
              <a:solidFill>
                <a:srgbClr val="F9F9F9"/>
              </a:solidFill>
              <a:prstDash val="solid"/>
              <a:round/>
            </a:ln>
            <a:effectLst/>
          </c:spPr>
          <c:dPt>
            <c:idx val="0"/>
            <c:bubble3D val="0"/>
            <c:spPr>
              <a:solidFill>
                <a:srgbClr val="0F8B8D"/>
              </a:solidFill>
              <a:ln w="25400" cap="flat">
                <a:solidFill>
                  <a:srgbClr val="FFFFFF"/>
                </a:solidFill>
                <a:prstDash val="solid"/>
                <a:round/>
              </a:ln>
              <a:effectLst/>
            </c:spPr>
            <c:extLst>
              <c:ext xmlns:c16="http://schemas.microsoft.com/office/drawing/2014/chart" uri="{C3380CC4-5D6E-409C-BE32-E72D297353CC}">
                <c16:uniqueId val="{00000001-3757-4520-B2E2-A44454291B17}"/>
              </c:ext>
            </c:extLst>
          </c:dPt>
          <c:dPt>
            <c:idx val="1"/>
            <c:bubble3D val="0"/>
            <c:spPr>
              <a:solidFill>
                <a:srgbClr val="DC5442"/>
              </a:solidFill>
              <a:ln w="25400" cap="flat">
                <a:solidFill>
                  <a:srgbClr val="FFFFFF"/>
                </a:solidFill>
                <a:prstDash val="solid"/>
                <a:round/>
              </a:ln>
              <a:effectLst/>
            </c:spPr>
            <c:extLst>
              <c:ext xmlns:c16="http://schemas.microsoft.com/office/drawing/2014/chart" uri="{C3380CC4-5D6E-409C-BE32-E72D297353CC}">
                <c16:uniqueId val="{00000003-3757-4520-B2E2-A44454291B17}"/>
              </c:ext>
            </c:extLst>
          </c:dPt>
          <c:dLbls>
            <c:dLbl>
              <c:idx val="0"/>
              <c:numFmt formatCode="0.0%" sourceLinked="0"/>
              <c:spPr/>
              <c:txPr>
                <a:bodyPr/>
                <a:lstStyle/>
                <a:p>
                  <a:pPr>
                    <a:defRPr sz="14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757-4520-B2E2-A44454291B17}"/>
                </c:ext>
              </c:extLst>
            </c:dLbl>
            <c:dLbl>
              <c:idx val="1"/>
              <c:numFmt formatCode="0.0%" sourceLinked="0"/>
              <c:spPr/>
              <c:txPr>
                <a:bodyPr/>
                <a:lstStyle/>
                <a:p>
                  <a:pPr>
                    <a:defRPr sz="14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757-4520-B2E2-A44454291B17}"/>
                </c:ext>
              </c:extLst>
            </c:dLbl>
            <c:numFmt formatCode="0.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Approved</c:v>
                </c:pt>
                <c:pt idx="1">
                  <c:v>Declined</c:v>
                </c:pt>
              </c:strCache>
            </c:strRef>
          </c:cat>
          <c:val>
            <c:numRef>
              <c:f>Sheet1!$B$2:$B$3</c:f>
              <c:numCache>
                <c:formatCode>General</c:formatCode>
                <c:ptCount val="2"/>
                <c:pt idx="0">
                  <c:v>6353</c:v>
                </c:pt>
                <c:pt idx="1">
                  <c:v>5647</c:v>
                </c:pt>
              </c:numCache>
            </c:numRef>
          </c:val>
          <c:extLst>
            <c:ext xmlns:c16="http://schemas.microsoft.com/office/drawing/2014/chart" uri="{C3380CC4-5D6E-409C-BE32-E72D297353CC}">
              <c16:uniqueId val="{00000004-3757-4520-B2E2-A44454291B17}"/>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US" sz="1400" b="1" i="0" u="none" strike="noStrike">
                <a:solidFill>
                  <a:srgbClr val="1E2B33"/>
                </a:solidFill>
                <a:latin typeface="+mn-lt"/>
              </a:rPr>
              <a:t>Approval rate by credit score band</a:t>
            </a:r>
          </a:p>
        </c:rich>
      </c:tx>
      <c:overlay val="0"/>
    </c:title>
    <c:autoTitleDeleted val="0"/>
    <c:plotArea>
      <c:layout/>
      <c:barChart>
        <c:barDir val="col"/>
        <c:grouping val="clustered"/>
        <c:varyColors val="0"/>
        <c:ser>
          <c:idx val="0"/>
          <c:order val="0"/>
          <c:tx>
            <c:strRef>
              <c:f>Sheet1!$B$1</c:f>
              <c:strCache>
                <c:ptCount val="1"/>
                <c:pt idx="0">
                  <c:v>Approval rate</c:v>
                </c:pt>
              </c:strCache>
            </c:strRef>
          </c:tx>
          <c:spPr>
            <a:solidFill>
              <a:srgbClr val="DC5442"/>
            </a:solidFill>
            <a:effectLst/>
          </c:spPr>
          <c:invertIfNegative val="0"/>
          <c:dPt>
            <c:idx val="0"/>
            <c:invertIfNegative val="0"/>
            <c:bubble3D val="0"/>
            <c:extLst>
              <c:ext xmlns:c16="http://schemas.microsoft.com/office/drawing/2014/chart" uri="{C3380CC4-5D6E-409C-BE32-E72D297353CC}">
                <c16:uniqueId val="{00000001-4DE1-4642-98F4-9D539940054C}"/>
              </c:ext>
            </c:extLst>
          </c:dPt>
          <c:dPt>
            <c:idx val="1"/>
            <c:invertIfNegative val="0"/>
            <c:bubble3D val="0"/>
            <c:extLst>
              <c:ext xmlns:c16="http://schemas.microsoft.com/office/drawing/2014/chart" uri="{C3380CC4-5D6E-409C-BE32-E72D297353CC}">
                <c16:uniqueId val="{00000003-4DE1-4642-98F4-9D539940054C}"/>
              </c:ext>
            </c:extLst>
          </c:dPt>
          <c:dPt>
            <c:idx val="2"/>
            <c:invertIfNegative val="0"/>
            <c:bubble3D val="0"/>
            <c:spPr>
              <a:solidFill>
                <a:srgbClr val="F2B84B"/>
              </a:solidFill>
              <a:effectLst/>
            </c:spPr>
            <c:extLst>
              <c:ext xmlns:c16="http://schemas.microsoft.com/office/drawing/2014/chart" uri="{C3380CC4-5D6E-409C-BE32-E72D297353CC}">
                <c16:uniqueId val="{00000005-4DE1-4642-98F4-9D539940054C}"/>
              </c:ext>
            </c:extLst>
          </c:dPt>
          <c:dPt>
            <c:idx val="3"/>
            <c:invertIfNegative val="0"/>
            <c:bubble3D val="0"/>
            <c:spPr>
              <a:solidFill>
                <a:srgbClr val="0F8B8D"/>
              </a:solidFill>
              <a:effectLst/>
            </c:spPr>
            <c:extLst>
              <c:ext xmlns:c16="http://schemas.microsoft.com/office/drawing/2014/chart" uri="{C3380CC4-5D6E-409C-BE32-E72D297353CC}">
                <c16:uniqueId val="{00000007-4DE1-4642-98F4-9D539940054C}"/>
              </c:ext>
            </c:extLst>
          </c:dPt>
          <c:dPt>
            <c:idx val="4"/>
            <c:invertIfNegative val="0"/>
            <c:bubble3D val="0"/>
            <c:spPr>
              <a:solidFill>
                <a:srgbClr val="0F8B8D"/>
              </a:solidFill>
              <a:effectLst/>
            </c:spPr>
            <c:extLst>
              <c:ext xmlns:c16="http://schemas.microsoft.com/office/drawing/2014/chart" uri="{C3380CC4-5D6E-409C-BE32-E72D297353CC}">
                <c16:uniqueId val="{00000009-4DE1-4642-98F4-9D539940054C}"/>
              </c:ext>
            </c:extLst>
          </c:dPt>
          <c:dPt>
            <c:idx val="5"/>
            <c:invertIfNegative val="0"/>
            <c:bubble3D val="0"/>
            <c:spPr>
              <a:solidFill>
                <a:srgbClr val="0F8B8D"/>
              </a:solidFill>
              <a:effectLst/>
            </c:spPr>
            <c:extLst>
              <c:ext xmlns:c16="http://schemas.microsoft.com/office/drawing/2014/chart" uri="{C3380CC4-5D6E-409C-BE32-E72D297353CC}">
                <c16:uniqueId val="{0000000B-4DE1-4642-98F4-9D539940054C}"/>
              </c:ext>
            </c:extLst>
          </c:dPt>
          <c:dPt>
            <c:idx val="6"/>
            <c:invertIfNegative val="0"/>
            <c:bubble3D val="0"/>
            <c:spPr>
              <a:solidFill>
                <a:srgbClr val="6C8EAD"/>
              </a:solidFill>
              <a:effectLst/>
            </c:spPr>
            <c:extLst>
              <c:ext xmlns:c16="http://schemas.microsoft.com/office/drawing/2014/chart" uri="{C3380CC4-5D6E-409C-BE32-E72D297353CC}">
                <c16:uniqueId val="{0000000D-4DE1-4642-98F4-9D539940054C}"/>
              </c:ext>
            </c:extLst>
          </c:dPt>
          <c:dLbls>
            <c:numFmt formatCode="0.0&quot;%&quot;"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Below 600</c:v>
                </c:pt>
                <c:pt idx="1">
                  <c:v>600-649</c:v>
                </c:pt>
                <c:pt idx="2">
                  <c:v>650-699</c:v>
                </c:pt>
                <c:pt idx="3">
                  <c:v>700-749</c:v>
                </c:pt>
                <c:pt idx="4">
                  <c:v>750-799</c:v>
                </c:pt>
                <c:pt idx="5">
                  <c:v>800+</c:v>
                </c:pt>
                <c:pt idx="6">
                  <c:v>No score</c:v>
                </c:pt>
              </c:strCache>
            </c:strRef>
          </c:cat>
          <c:val>
            <c:numRef>
              <c:f>Sheet1!$B$2:$B$8</c:f>
              <c:numCache>
                <c:formatCode>General</c:formatCode>
                <c:ptCount val="7"/>
                <c:pt idx="0">
                  <c:v>2.0299999999999998</c:v>
                </c:pt>
                <c:pt idx="1">
                  <c:v>3.22</c:v>
                </c:pt>
                <c:pt idx="2">
                  <c:v>32.5</c:v>
                </c:pt>
                <c:pt idx="3">
                  <c:v>54.37</c:v>
                </c:pt>
                <c:pt idx="4">
                  <c:v>77.2</c:v>
                </c:pt>
                <c:pt idx="5">
                  <c:v>85.19</c:v>
                </c:pt>
                <c:pt idx="6">
                  <c:v>53.9</c:v>
                </c:pt>
              </c:numCache>
            </c:numRef>
          </c:val>
          <c:extLst>
            <c:ext xmlns:c16="http://schemas.microsoft.com/office/drawing/2014/chart" uri="{C3380CC4-5D6E-409C-BE32-E72D297353CC}">
              <c16:uniqueId val="{0000000E-4DE1-4642-98F4-9D539940054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US" sz="1400" b="1" i="0" u="none" strike="noStrike">
                <a:solidFill>
                  <a:srgbClr val="1E2B33"/>
                </a:solidFill>
                <a:latin typeface="+mn-lt"/>
              </a:rPr>
              <a:t>Approval rate by job type</a:t>
            </a:r>
          </a:p>
        </c:rich>
      </c:tx>
      <c:overlay val="0"/>
    </c:title>
    <c:autoTitleDeleted val="0"/>
    <c:plotArea>
      <c:layout/>
      <c:barChart>
        <c:barDir val="col"/>
        <c:grouping val="clustered"/>
        <c:varyColors val="0"/>
        <c:ser>
          <c:idx val="0"/>
          <c:order val="0"/>
          <c:tx>
            <c:strRef>
              <c:f>Sheet1!$B$1</c:f>
              <c:strCache>
                <c:ptCount val="1"/>
                <c:pt idx="0">
                  <c:v>Approval rate</c:v>
                </c:pt>
              </c:strCache>
            </c:strRef>
          </c:tx>
          <c:spPr>
            <a:solidFill>
              <a:srgbClr val="0F8B8D"/>
            </a:solidFill>
            <a:effectLst/>
          </c:spPr>
          <c:invertIfNegative val="0"/>
          <c:dPt>
            <c:idx val="0"/>
            <c:invertIfNegative val="0"/>
            <c:bubble3D val="0"/>
            <c:extLst>
              <c:ext xmlns:c16="http://schemas.microsoft.com/office/drawing/2014/chart" uri="{C3380CC4-5D6E-409C-BE32-E72D297353CC}">
                <c16:uniqueId val="{00000001-6FED-4CB2-880C-BDE78C25E4F7}"/>
              </c:ext>
            </c:extLst>
          </c:dPt>
          <c:dPt>
            <c:idx val="1"/>
            <c:invertIfNegative val="0"/>
            <c:bubble3D val="0"/>
            <c:extLst>
              <c:ext xmlns:c16="http://schemas.microsoft.com/office/drawing/2014/chart" uri="{C3380CC4-5D6E-409C-BE32-E72D297353CC}">
                <c16:uniqueId val="{00000003-6FED-4CB2-880C-BDE78C25E4F7}"/>
              </c:ext>
            </c:extLst>
          </c:dPt>
          <c:dPt>
            <c:idx val="2"/>
            <c:invertIfNegative val="0"/>
            <c:bubble3D val="0"/>
            <c:extLst>
              <c:ext xmlns:c16="http://schemas.microsoft.com/office/drawing/2014/chart" uri="{C3380CC4-5D6E-409C-BE32-E72D297353CC}">
                <c16:uniqueId val="{00000005-6FED-4CB2-880C-BDE78C25E4F7}"/>
              </c:ext>
            </c:extLst>
          </c:dPt>
          <c:dPt>
            <c:idx val="3"/>
            <c:invertIfNegative val="0"/>
            <c:bubble3D val="0"/>
            <c:spPr>
              <a:solidFill>
                <a:srgbClr val="DC5442"/>
              </a:solidFill>
              <a:effectLst/>
            </c:spPr>
            <c:extLst>
              <c:ext xmlns:c16="http://schemas.microsoft.com/office/drawing/2014/chart" uri="{C3380CC4-5D6E-409C-BE32-E72D297353CC}">
                <c16:uniqueId val="{00000007-6FED-4CB2-880C-BDE78C25E4F7}"/>
              </c:ext>
            </c:extLst>
          </c:dPt>
          <c:dLbls>
            <c:numFmt formatCode="0.0&quot;%&quot;"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Salaried</c:v>
                </c:pt>
                <c:pt idx="1">
                  <c:v>Business Owner</c:v>
                </c:pt>
                <c:pt idx="2">
                  <c:v>Self-Employed</c:v>
                </c:pt>
                <c:pt idx="3">
                  <c:v>Gig / Contract</c:v>
                </c:pt>
              </c:strCache>
            </c:strRef>
          </c:cat>
          <c:val>
            <c:numRef>
              <c:f>Sheet1!$B$2:$B$5</c:f>
              <c:numCache>
                <c:formatCode>General</c:formatCode>
                <c:ptCount val="4"/>
                <c:pt idx="0">
                  <c:v>58.37</c:v>
                </c:pt>
                <c:pt idx="1">
                  <c:v>51.17</c:v>
                </c:pt>
                <c:pt idx="2">
                  <c:v>50.56</c:v>
                </c:pt>
                <c:pt idx="3">
                  <c:v>34.94</c:v>
                </c:pt>
              </c:numCache>
            </c:numRef>
          </c:val>
          <c:extLst>
            <c:ext xmlns:c16="http://schemas.microsoft.com/office/drawing/2014/chart" uri="{C3380CC4-5D6E-409C-BE32-E72D297353CC}">
              <c16:uniqueId val="{00000008-6FED-4CB2-880C-BDE78C25E4F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US" sz="1400" b="1" i="0" u="none" strike="noStrike">
                <a:solidFill>
                  <a:srgbClr val="1E2B33"/>
                </a:solidFill>
                <a:latin typeface="+mn-lt"/>
              </a:rPr>
              <a:t>Approval rate by FOIR band</a:t>
            </a:r>
          </a:p>
        </c:rich>
      </c:tx>
      <c:overlay val="0"/>
    </c:title>
    <c:autoTitleDeleted val="0"/>
    <c:plotArea>
      <c:layout/>
      <c:barChart>
        <c:barDir val="col"/>
        <c:grouping val="clustered"/>
        <c:varyColors val="0"/>
        <c:ser>
          <c:idx val="0"/>
          <c:order val="0"/>
          <c:tx>
            <c:strRef>
              <c:f>Sheet1!$B$1</c:f>
              <c:strCache>
                <c:ptCount val="1"/>
                <c:pt idx="0">
                  <c:v>Approval rate</c:v>
                </c:pt>
              </c:strCache>
            </c:strRef>
          </c:tx>
          <c:spPr>
            <a:solidFill>
              <a:srgbClr val="0F8B8D"/>
            </a:solidFill>
            <a:effectLst/>
          </c:spPr>
          <c:invertIfNegative val="0"/>
          <c:dPt>
            <c:idx val="0"/>
            <c:invertIfNegative val="0"/>
            <c:bubble3D val="0"/>
            <c:spPr>
              <a:solidFill>
                <a:srgbClr val="0F8B8D"/>
              </a:solidFill>
              <a:effectLst/>
            </c:spPr>
            <c:extLst>
              <c:ext xmlns:c16="http://schemas.microsoft.com/office/drawing/2014/chart" uri="{C3380CC4-5D6E-409C-BE32-E72D297353CC}">
                <c16:uniqueId val="{00000001-CD49-4E8F-9F03-13B41725993F}"/>
              </c:ext>
            </c:extLst>
          </c:dPt>
          <c:dPt>
            <c:idx val="1"/>
            <c:invertIfNegative val="0"/>
            <c:bubble3D val="0"/>
            <c:spPr>
              <a:solidFill>
                <a:srgbClr val="0F8B8D"/>
              </a:solidFill>
              <a:effectLst/>
            </c:spPr>
            <c:extLst>
              <c:ext xmlns:c16="http://schemas.microsoft.com/office/drawing/2014/chart" uri="{C3380CC4-5D6E-409C-BE32-E72D297353CC}">
                <c16:uniqueId val="{00000003-CD49-4E8F-9F03-13B41725993F}"/>
              </c:ext>
            </c:extLst>
          </c:dPt>
          <c:dPt>
            <c:idx val="2"/>
            <c:invertIfNegative val="0"/>
            <c:bubble3D val="0"/>
            <c:spPr>
              <a:solidFill>
                <a:srgbClr val="F2B84B"/>
              </a:solidFill>
              <a:effectLst/>
            </c:spPr>
            <c:extLst>
              <c:ext xmlns:c16="http://schemas.microsoft.com/office/drawing/2014/chart" uri="{C3380CC4-5D6E-409C-BE32-E72D297353CC}">
                <c16:uniqueId val="{00000005-CD49-4E8F-9F03-13B41725993F}"/>
              </c:ext>
            </c:extLst>
          </c:dPt>
          <c:dPt>
            <c:idx val="3"/>
            <c:invertIfNegative val="0"/>
            <c:bubble3D val="0"/>
            <c:spPr>
              <a:solidFill>
                <a:srgbClr val="DC5442"/>
              </a:solidFill>
              <a:effectLst/>
            </c:spPr>
            <c:extLst>
              <c:ext xmlns:c16="http://schemas.microsoft.com/office/drawing/2014/chart" uri="{C3380CC4-5D6E-409C-BE32-E72D297353CC}">
                <c16:uniqueId val="{00000007-CD49-4E8F-9F03-13B41725993F}"/>
              </c:ext>
            </c:extLst>
          </c:dPt>
          <c:dPt>
            <c:idx val="4"/>
            <c:invertIfNegative val="0"/>
            <c:bubble3D val="0"/>
            <c:spPr>
              <a:solidFill>
                <a:srgbClr val="DC5442"/>
              </a:solidFill>
              <a:effectLst/>
            </c:spPr>
            <c:extLst>
              <c:ext xmlns:c16="http://schemas.microsoft.com/office/drawing/2014/chart" uri="{C3380CC4-5D6E-409C-BE32-E72D297353CC}">
                <c16:uniqueId val="{00000009-CD49-4E8F-9F03-13B41725993F}"/>
              </c:ext>
            </c:extLst>
          </c:dPt>
          <c:dLbls>
            <c:numFmt formatCode="0.0&quot;%&quot;"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Below 30%</c:v>
                </c:pt>
                <c:pt idx="1">
                  <c:v>30-40%</c:v>
                </c:pt>
                <c:pt idx="2">
                  <c:v>40-50%</c:v>
                </c:pt>
                <c:pt idx="3">
                  <c:v>50-55%</c:v>
                </c:pt>
                <c:pt idx="4">
                  <c:v>Above 55%</c:v>
                </c:pt>
              </c:strCache>
            </c:strRef>
          </c:cat>
          <c:val>
            <c:numRef>
              <c:f>Sheet1!$B$2:$B$6</c:f>
              <c:numCache>
                <c:formatCode>General</c:formatCode>
                <c:ptCount val="5"/>
                <c:pt idx="0">
                  <c:v>65.489999999999995</c:v>
                </c:pt>
                <c:pt idx="1">
                  <c:v>58.98</c:v>
                </c:pt>
                <c:pt idx="2">
                  <c:v>47.82</c:v>
                </c:pt>
                <c:pt idx="3">
                  <c:v>32.520000000000003</c:v>
                </c:pt>
                <c:pt idx="4">
                  <c:v>15.55</c:v>
                </c:pt>
              </c:numCache>
            </c:numRef>
          </c:val>
          <c:extLst>
            <c:ext xmlns:c16="http://schemas.microsoft.com/office/drawing/2014/chart" uri="{C3380CC4-5D6E-409C-BE32-E72D297353CC}">
              <c16:uniqueId val="{0000000A-CD49-4E8F-9F03-13B41725993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US" sz="1400" b="1" i="0" u="none" strike="noStrike">
                <a:solidFill>
                  <a:srgbClr val="1E2B33"/>
                </a:solidFill>
                <a:latin typeface="+mn-lt"/>
              </a:rPr>
              <a:t>Top 5 clues by strength</a:t>
            </a:r>
          </a:p>
        </c:rich>
      </c:tx>
      <c:overlay val="0"/>
    </c:title>
    <c:autoTitleDeleted val="0"/>
    <c:plotArea>
      <c:layout/>
      <c:barChart>
        <c:barDir val="bar"/>
        <c:grouping val="clustered"/>
        <c:varyColors val="0"/>
        <c:ser>
          <c:idx val="0"/>
          <c:order val="0"/>
          <c:tx>
            <c:strRef>
              <c:f>Sheet1!$B$1</c:f>
              <c:strCache>
                <c:ptCount val="1"/>
                <c:pt idx="0">
                  <c:v>Coefficient</c:v>
                </c:pt>
              </c:strCache>
            </c:strRef>
          </c:tx>
          <c:spPr>
            <a:solidFill>
              <a:srgbClr val="DC5442"/>
            </a:solidFill>
            <a:effectLst/>
          </c:spPr>
          <c:invertIfNegative val="0"/>
          <c:dPt>
            <c:idx val="0"/>
            <c:invertIfNegative val="0"/>
            <c:bubble3D val="0"/>
            <c:extLst>
              <c:ext xmlns:c16="http://schemas.microsoft.com/office/drawing/2014/chart" uri="{C3380CC4-5D6E-409C-BE32-E72D297353CC}">
                <c16:uniqueId val="{00000001-2A8A-45F1-890D-DD6EBC546D5D}"/>
              </c:ext>
            </c:extLst>
          </c:dPt>
          <c:dPt>
            <c:idx val="1"/>
            <c:invertIfNegative val="0"/>
            <c:bubble3D val="0"/>
            <c:spPr>
              <a:solidFill>
                <a:srgbClr val="0F8B8D"/>
              </a:solidFill>
              <a:effectLst/>
            </c:spPr>
            <c:extLst>
              <c:ext xmlns:c16="http://schemas.microsoft.com/office/drawing/2014/chart" uri="{C3380CC4-5D6E-409C-BE32-E72D297353CC}">
                <c16:uniqueId val="{00000003-2A8A-45F1-890D-DD6EBC546D5D}"/>
              </c:ext>
            </c:extLst>
          </c:dPt>
          <c:dPt>
            <c:idx val="2"/>
            <c:invertIfNegative val="0"/>
            <c:bubble3D val="0"/>
            <c:extLst>
              <c:ext xmlns:c16="http://schemas.microsoft.com/office/drawing/2014/chart" uri="{C3380CC4-5D6E-409C-BE32-E72D297353CC}">
                <c16:uniqueId val="{00000005-2A8A-45F1-890D-DD6EBC546D5D}"/>
              </c:ext>
            </c:extLst>
          </c:dPt>
          <c:dPt>
            <c:idx val="3"/>
            <c:invertIfNegative val="0"/>
            <c:bubble3D val="0"/>
            <c:extLst>
              <c:ext xmlns:c16="http://schemas.microsoft.com/office/drawing/2014/chart" uri="{C3380CC4-5D6E-409C-BE32-E72D297353CC}">
                <c16:uniqueId val="{00000007-2A8A-45F1-890D-DD6EBC546D5D}"/>
              </c:ext>
            </c:extLst>
          </c:dPt>
          <c:dPt>
            <c:idx val="4"/>
            <c:invertIfNegative val="0"/>
            <c:bubble3D val="0"/>
            <c:spPr>
              <a:solidFill>
                <a:srgbClr val="0F8B8D"/>
              </a:solidFill>
              <a:effectLst/>
            </c:spPr>
            <c:extLst>
              <c:ext xmlns:c16="http://schemas.microsoft.com/office/drawing/2014/chart" uri="{C3380CC4-5D6E-409C-BE32-E72D297353CC}">
                <c16:uniqueId val="{00000009-2A8A-45F1-890D-DD6EBC546D5D}"/>
              </c:ext>
            </c:extLst>
          </c:dPt>
          <c:dLbls>
            <c:numFmt formatCode="\+0.00;\-0.00"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FOIR</c:v>
                </c:pt>
                <c:pt idx="1">
                  <c:v>Credit score</c:v>
                </c:pt>
                <c:pt idx="2">
                  <c:v>Late payments (24 months)</c:v>
                </c:pt>
                <c:pt idx="3">
                  <c:v>Gig / Contract job</c:v>
                </c:pt>
                <c:pt idx="4">
                  <c:v>Salaried job</c:v>
                </c:pt>
              </c:strCache>
            </c:strRef>
          </c:cat>
          <c:val>
            <c:numRef>
              <c:f>Sheet1!$B$2:$B$6</c:f>
              <c:numCache>
                <c:formatCode>General</c:formatCode>
                <c:ptCount val="5"/>
                <c:pt idx="0">
                  <c:v>1.222</c:v>
                </c:pt>
                <c:pt idx="1">
                  <c:v>-1.0089999999999999</c:v>
                </c:pt>
                <c:pt idx="2">
                  <c:v>0.97799999999999998</c:v>
                </c:pt>
                <c:pt idx="3">
                  <c:v>0.61899999999999999</c:v>
                </c:pt>
                <c:pt idx="4">
                  <c:v>-0.44500000000000001</c:v>
                </c:pt>
              </c:numCache>
            </c:numRef>
          </c:val>
          <c:extLst>
            <c:ext xmlns:c16="http://schemas.microsoft.com/office/drawing/2014/chart" uri="{C3380CC4-5D6E-409C-BE32-E72D297353CC}">
              <c16:uniqueId val="{0000000A-2A8A-45F1-890D-DD6EBC546D5D}"/>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1.6"/>
          <c:min val="-1.6"/>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US" sz="1400" b="1" i="0" u="none" strike="noStrike">
                <a:solidFill>
                  <a:srgbClr val="1E2B33"/>
                </a:solidFill>
                <a:latin typeface="+mn-lt"/>
              </a:rPr>
              <a:t>Average ROC-AUC across 5 rounds of testing (higher is better)</a:t>
            </a:r>
          </a:p>
        </c:rich>
      </c:tx>
      <c:overlay val="0"/>
    </c:title>
    <c:autoTitleDeleted val="0"/>
    <c:plotArea>
      <c:layout/>
      <c:barChart>
        <c:barDir val="col"/>
        <c:grouping val="clustered"/>
        <c:varyColors val="0"/>
        <c:ser>
          <c:idx val="0"/>
          <c:order val="0"/>
          <c:tx>
            <c:strRef>
              <c:f>Sheet1!$B$1</c:f>
              <c:strCache>
                <c:ptCount val="1"/>
                <c:pt idx="0">
                  <c:v>Mean ROC-AUC</c:v>
                </c:pt>
              </c:strCache>
            </c:strRef>
          </c:tx>
          <c:spPr>
            <a:solidFill>
              <a:srgbClr val="0F8B8D"/>
            </a:solidFill>
            <a:effectLst/>
          </c:spPr>
          <c:invertIfNegative val="0"/>
          <c:dPt>
            <c:idx val="0"/>
            <c:invertIfNegative val="0"/>
            <c:bubble3D val="0"/>
            <c:extLst>
              <c:ext xmlns:c16="http://schemas.microsoft.com/office/drawing/2014/chart" uri="{C3380CC4-5D6E-409C-BE32-E72D297353CC}">
                <c16:uniqueId val="{00000001-AC95-4CEC-82C2-F7F56BD8F2E1}"/>
              </c:ext>
            </c:extLst>
          </c:dPt>
          <c:dPt>
            <c:idx val="1"/>
            <c:invertIfNegative val="0"/>
            <c:bubble3D val="0"/>
            <c:spPr>
              <a:solidFill>
                <a:srgbClr val="9AA9B2"/>
              </a:solidFill>
              <a:effectLst/>
            </c:spPr>
            <c:extLst>
              <c:ext xmlns:c16="http://schemas.microsoft.com/office/drawing/2014/chart" uri="{C3380CC4-5D6E-409C-BE32-E72D297353CC}">
                <c16:uniqueId val="{00000003-AC95-4CEC-82C2-F7F56BD8F2E1}"/>
              </c:ext>
            </c:extLst>
          </c:dPt>
          <c:dPt>
            <c:idx val="2"/>
            <c:invertIfNegative val="0"/>
            <c:bubble3D val="0"/>
            <c:spPr>
              <a:solidFill>
                <a:srgbClr val="9AA9B2"/>
              </a:solidFill>
              <a:effectLst/>
            </c:spPr>
            <c:extLst>
              <c:ext xmlns:c16="http://schemas.microsoft.com/office/drawing/2014/chart" uri="{C3380CC4-5D6E-409C-BE32-E72D297353CC}">
                <c16:uniqueId val="{00000005-AC95-4CEC-82C2-F7F56BD8F2E1}"/>
              </c:ext>
            </c:extLst>
          </c:dPt>
          <c:dPt>
            <c:idx val="3"/>
            <c:invertIfNegative val="0"/>
            <c:bubble3D val="0"/>
            <c:spPr>
              <a:solidFill>
                <a:srgbClr val="9AA9B2"/>
              </a:solidFill>
              <a:effectLst/>
            </c:spPr>
            <c:extLst>
              <c:ext xmlns:c16="http://schemas.microsoft.com/office/drawing/2014/chart" uri="{C3380CC4-5D6E-409C-BE32-E72D297353CC}">
                <c16:uniqueId val="{00000007-AC95-4CEC-82C2-F7F56BD8F2E1}"/>
              </c:ext>
            </c:extLst>
          </c:dPt>
          <c:dLbls>
            <c:numFmt formatCode="0.000"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Gradient Boosting</c:v>
                </c:pt>
                <c:pt idx="1">
                  <c:v>Random Forest</c:v>
                </c:pt>
                <c:pt idx="2">
                  <c:v>Logistic Regression</c:v>
                </c:pt>
                <c:pt idx="3">
                  <c:v>Decision Tree</c:v>
                </c:pt>
              </c:strCache>
            </c:strRef>
          </c:cat>
          <c:val>
            <c:numRef>
              <c:f>Sheet1!$B$2:$B$5</c:f>
              <c:numCache>
                <c:formatCode>General</c:formatCode>
                <c:ptCount val="4"/>
                <c:pt idx="0">
                  <c:v>0.88890000000000002</c:v>
                </c:pt>
                <c:pt idx="1">
                  <c:v>0.88</c:v>
                </c:pt>
                <c:pt idx="2">
                  <c:v>0.8679</c:v>
                </c:pt>
                <c:pt idx="3">
                  <c:v>0.71899999999999997</c:v>
                </c:pt>
              </c:numCache>
            </c:numRef>
          </c:val>
          <c:extLst>
            <c:ext xmlns:c16="http://schemas.microsoft.com/office/drawing/2014/chart" uri="{C3380CC4-5D6E-409C-BE32-E72D297353CC}">
              <c16:uniqueId val="{00000008-AC95-4CEC-82C2-F7F56BD8F2E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US" sz="1400" b="1" i="0" u="none" strike="noStrike">
                <a:solidFill>
                  <a:srgbClr val="1E2B33"/>
                </a:solidFill>
                <a:latin typeface="+mn-lt"/>
              </a:rPr>
              <a:t>Top 8 clues by importance</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0F8B8D"/>
            </a:solidFill>
            <a:effectLst/>
          </c:spPr>
          <c:invertIfNegative val="0"/>
          <c:dPt>
            <c:idx val="0"/>
            <c:invertIfNegative val="0"/>
            <c:bubble3D val="0"/>
            <c:spPr>
              <a:solidFill>
                <a:srgbClr val="0F8B8D"/>
              </a:solidFill>
              <a:effectLst/>
            </c:spPr>
            <c:extLst>
              <c:ext xmlns:c16="http://schemas.microsoft.com/office/drawing/2014/chart" uri="{C3380CC4-5D6E-409C-BE32-E72D297353CC}">
                <c16:uniqueId val="{00000001-66A7-4CA5-BFAB-41D4B56FF0C2}"/>
              </c:ext>
            </c:extLst>
          </c:dPt>
          <c:dPt>
            <c:idx val="1"/>
            <c:invertIfNegative val="0"/>
            <c:bubble3D val="0"/>
            <c:spPr>
              <a:solidFill>
                <a:srgbClr val="0F8B8D"/>
              </a:solidFill>
              <a:effectLst/>
            </c:spPr>
            <c:extLst>
              <c:ext xmlns:c16="http://schemas.microsoft.com/office/drawing/2014/chart" uri="{C3380CC4-5D6E-409C-BE32-E72D297353CC}">
                <c16:uniqueId val="{00000003-66A7-4CA5-BFAB-41D4B56FF0C2}"/>
              </c:ext>
            </c:extLst>
          </c:dPt>
          <c:dPt>
            <c:idx val="2"/>
            <c:invertIfNegative val="0"/>
            <c:bubble3D val="0"/>
            <c:spPr>
              <a:solidFill>
                <a:srgbClr val="0F8B8D"/>
              </a:solidFill>
              <a:effectLst/>
            </c:spPr>
            <c:extLst>
              <c:ext xmlns:c16="http://schemas.microsoft.com/office/drawing/2014/chart" uri="{C3380CC4-5D6E-409C-BE32-E72D297353CC}">
                <c16:uniqueId val="{00000005-66A7-4CA5-BFAB-41D4B56FF0C2}"/>
              </c:ext>
            </c:extLst>
          </c:dPt>
          <c:dPt>
            <c:idx val="3"/>
            <c:invertIfNegative val="0"/>
            <c:bubble3D val="0"/>
            <c:spPr>
              <a:solidFill>
                <a:srgbClr val="9AA9B2"/>
              </a:solidFill>
              <a:effectLst/>
            </c:spPr>
            <c:extLst>
              <c:ext xmlns:c16="http://schemas.microsoft.com/office/drawing/2014/chart" uri="{C3380CC4-5D6E-409C-BE32-E72D297353CC}">
                <c16:uniqueId val="{00000007-66A7-4CA5-BFAB-41D4B56FF0C2}"/>
              </c:ext>
            </c:extLst>
          </c:dPt>
          <c:dPt>
            <c:idx val="4"/>
            <c:invertIfNegative val="0"/>
            <c:bubble3D val="0"/>
            <c:spPr>
              <a:solidFill>
                <a:srgbClr val="9AA9B2"/>
              </a:solidFill>
              <a:effectLst/>
            </c:spPr>
            <c:extLst>
              <c:ext xmlns:c16="http://schemas.microsoft.com/office/drawing/2014/chart" uri="{C3380CC4-5D6E-409C-BE32-E72D297353CC}">
                <c16:uniqueId val="{00000009-66A7-4CA5-BFAB-41D4B56FF0C2}"/>
              </c:ext>
            </c:extLst>
          </c:dPt>
          <c:dPt>
            <c:idx val="5"/>
            <c:invertIfNegative val="0"/>
            <c:bubble3D val="0"/>
            <c:spPr>
              <a:solidFill>
                <a:srgbClr val="9AA9B2"/>
              </a:solidFill>
              <a:effectLst/>
            </c:spPr>
            <c:extLst>
              <c:ext xmlns:c16="http://schemas.microsoft.com/office/drawing/2014/chart" uri="{C3380CC4-5D6E-409C-BE32-E72D297353CC}">
                <c16:uniqueId val="{0000000B-66A7-4CA5-BFAB-41D4B56FF0C2}"/>
              </c:ext>
            </c:extLst>
          </c:dPt>
          <c:dPt>
            <c:idx val="6"/>
            <c:invertIfNegative val="0"/>
            <c:bubble3D val="0"/>
            <c:spPr>
              <a:solidFill>
                <a:srgbClr val="9AA9B2"/>
              </a:solidFill>
              <a:effectLst/>
            </c:spPr>
            <c:extLst>
              <c:ext xmlns:c16="http://schemas.microsoft.com/office/drawing/2014/chart" uri="{C3380CC4-5D6E-409C-BE32-E72D297353CC}">
                <c16:uniqueId val="{0000000D-66A7-4CA5-BFAB-41D4B56FF0C2}"/>
              </c:ext>
            </c:extLst>
          </c:dPt>
          <c:dPt>
            <c:idx val="7"/>
            <c:invertIfNegative val="0"/>
            <c:bubble3D val="0"/>
            <c:spPr>
              <a:solidFill>
                <a:srgbClr val="9AA9B2"/>
              </a:solidFill>
              <a:effectLst/>
            </c:spPr>
            <c:extLst>
              <c:ext xmlns:c16="http://schemas.microsoft.com/office/drawing/2014/chart" uri="{C3380CC4-5D6E-409C-BE32-E72D297353CC}">
                <c16:uniqueId val="{0000000F-66A7-4CA5-BFAB-41D4B56FF0C2}"/>
              </c:ext>
            </c:extLst>
          </c:dPt>
          <c:dLbls>
            <c:numFmt formatCode="0.000"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Late payments (24 months)</c:v>
                </c:pt>
                <c:pt idx="1">
                  <c:v>Credit score</c:v>
                </c:pt>
                <c:pt idx="2">
                  <c:v>FOIR</c:v>
                </c:pt>
                <c:pt idx="3">
                  <c:v>Years in current job</c:v>
                </c:pt>
                <c:pt idx="4">
                  <c:v>New-to-credit flag</c:v>
                </c:pt>
                <c:pt idx="5">
                  <c:v>Gig / Contract job</c:v>
                </c:pt>
                <c:pt idx="6">
                  <c:v>Loan-to-income</c:v>
                </c:pt>
                <c:pt idx="7">
                  <c:v>Salaried job</c:v>
                </c:pt>
              </c:strCache>
            </c:strRef>
          </c:cat>
          <c:val>
            <c:numRef>
              <c:f>Sheet1!$B$2:$B$9</c:f>
              <c:numCache>
                <c:formatCode>General</c:formatCode>
                <c:ptCount val="8"/>
                <c:pt idx="0">
                  <c:v>0.30780000000000002</c:v>
                </c:pt>
                <c:pt idx="1">
                  <c:v>0.28789999999999999</c:v>
                </c:pt>
                <c:pt idx="2">
                  <c:v>0.28449999999999998</c:v>
                </c:pt>
                <c:pt idx="3">
                  <c:v>2.8799999999999999E-2</c:v>
                </c:pt>
                <c:pt idx="4">
                  <c:v>2.23E-2</c:v>
                </c:pt>
                <c:pt idx="5">
                  <c:v>1.83E-2</c:v>
                </c:pt>
                <c:pt idx="6">
                  <c:v>1.49E-2</c:v>
                </c:pt>
                <c:pt idx="7">
                  <c:v>1.47E-2</c:v>
                </c:pt>
              </c:numCache>
            </c:numRef>
          </c:val>
          <c:extLst>
            <c:ext xmlns:c16="http://schemas.microsoft.com/office/drawing/2014/chart" uri="{C3380CC4-5D6E-409C-BE32-E72D297353CC}">
              <c16:uniqueId val="{00000010-66A7-4CA5-BFAB-41D4B56FF0C2}"/>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0.38"/>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IN" sz="1400" b="1" i="0" u="none" strike="noStrike">
                <a:solidFill>
                  <a:srgbClr val="1E2B33"/>
                </a:solidFill>
                <a:latin typeface="+mn-lt"/>
              </a:rPr>
              <a:t>Applications automated per month</a:t>
            </a:r>
          </a:p>
        </c:rich>
      </c:tx>
      <c:overlay val="0"/>
    </c:title>
    <c:autoTitleDeleted val="0"/>
    <c:plotArea>
      <c:layout/>
      <c:barChart>
        <c:barDir val="col"/>
        <c:grouping val="clustered"/>
        <c:varyColors val="0"/>
        <c:ser>
          <c:idx val="0"/>
          <c:order val="0"/>
          <c:tx>
            <c:strRef>
              <c:f>Sheet1!$B$1</c:f>
              <c:strCache>
                <c:ptCount val="1"/>
                <c:pt idx="0">
                  <c:v>Applications</c:v>
                </c:pt>
              </c:strCache>
            </c:strRef>
          </c:tx>
          <c:spPr>
            <a:solidFill>
              <a:srgbClr val="0F8B8D"/>
            </a:solidFill>
            <a:effectLst/>
          </c:spPr>
          <c:invertIfNegative val="0"/>
          <c:dPt>
            <c:idx val="0"/>
            <c:invertIfNegative val="0"/>
            <c:bubble3D val="0"/>
            <c:extLst>
              <c:ext xmlns:c16="http://schemas.microsoft.com/office/drawing/2014/chart" uri="{C3380CC4-5D6E-409C-BE32-E72D297353CC}">
                <c16:uniqueId val="{00000001-EFBB-4DAB-A1D8-3BEB97978B8E}"/>
              </c:ext>
            </c:extLst>
          </c:dPt>
          <c:dPt>
            <c:idx val="1"/>
            <c:invertIfNegative val="0"/>
            <c:bubble3D val="0"/>
            <c:spPr>
              <a:solidFill>
                <a:srgbClr val="9AA9B2"/>
              </a:solidFill>
              <a:effectLst/>
            </c:spPr>
            <c:extLst>
              <c:ext xmlns:c16="http://schemas.microsoft.com/office/drawing/2014/chart" uri="{C3380CC4-5D6E-409C-BE32-E72D297353CC}">
                <c16:uniqueId val="{00000003-EFBB-4DAB-A1D8-3BEB97978B8E}"/>
              </c:ext>
            </c:extLst>
          </c:dPt>
          <c:dLbls>
            <c:numFmt formatCode="#,##0"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Gradient Boosting</c:v>
                </c:pt>
                <c:pt idx="1">
                  <c:v>Logistic Regression</c:v>
                </c:pt>
              </c:strCache>
            </c:strRef>
          </c:cat>
          <c:val>
            <c:numRef>
              <c:f>Sheet1!$B$2:$B$3</c:f>
              <c:numCache>
                <c:formatCode>General</c:formatCode>
                <c:ptCount val="2"/>
                <c:pt idx="0">
                  <c:v>1308</c:v>
                </c:pt>
                <c:pt idx="1">
                  <c:v>959</c:v>
                </c:pt>
              </c:numCache>
            </c:numRef>
          </c:val>
          <c:extLst>
            <c:ext xmlns:c16="http://schemas.microsoft.com/office/drawing/2014/chart" uri="{C3380CC4-5D6E-409C-BE32-E72D297353CC}">
              <c16:uniqueId val="{00000004-EFBB-4DAB-A1D8-3BEB97978B8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16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US" sz="1400" b="1" i="0" u="none" strike="noStrike">
                <a:solidFill>
                  <a:srgbClr val="1E2B33"/>
                </a:solidFill>
                <a:latin typeface="+mn-lt"/>
              </a:rPr>
              <a:t>Analyst hours saved per month</a:t>
            </a:r>
          </a:p>
        </c:rich>
      </c:tx>
      <c:overlay val="0"/>
    </c:title>
    <c:autoTitleDeleted val="0"/>
    <c:plotArea>
      <c:layout/>
      <c:barChart>
        <c:barDir val="col"/>
        <c:grouping val="clustered"/>
        <c:varyColors val="0"/>
        <c:ser>
          <c:idx val="0"/>
          <c:order val="0"/>
          <c:tx>
            <c:strRef>
              <c:f>Sheet1!$B$1</c:f>
              <c:strCache>
                <c:ptCount val="1"/>
                <c:pt idx="0">
                  <c:v>Hours</c:v>
                </c:pt>
              </c:strCache>
            </c:strRef>
          </c:tx>
          <c:spPr>
            <a:solidFill>
              <a:srgbClr val="0F8B8D"/>
            </a:solidFill>
            <a:effectLst/>
          </c:spPr>
          <c:invertIfNegative val="0"/>
          <c:dPt>
            <c:idx val="0"/>
            <c:invertIfNegative val="0"/>
            <c:bubble3D val="0"/>
            <c:extLst>
              <c:ext xmlns:c16="http://schemas.microsoft.com/office/drawing/2014/chart" uri="{C3380CC4-5D6E-409C-BE32-E72D297353CC}">
                <c16:uniqueId val="{00000001-3AB1-48B3-80BC-14E4A9E4EF61}"/>
              </c:ext>
            </c:extLst>
          </c:dPt>
          <c:dPt>
            <c:idx val="1"/>
            <c:invertIfNegative val="0"/>
            <c:bubble3D val="0"/>
            <c:spPr>
              <a:solidFill>
                <a:srgbClr val="9AA9B2"/>
              </a:solidFill>
              <a:effectLst/>
            </c:spPr>
            <c:extLst>
              <c:ext xmlns:c16="http://schemas.microsoft.com/office/drawing/2014/chart" uri="{C3380CC4-5D6E-409C-BE32-E72D297353CC}">
                <c16:uniqueId val="{00000003-3AB1-48B3-80BC-14E4A9E4EF61}"/>
              </c:ext>
            </c:extLst>
          </c:dPt>
          <c:dLbls>
            <c:numFmt formatCode="0.0"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Gradient Boosting</c:v>
                </c:pt>
                <c:pt idx="1">
                  <c:v>Logistic Regression</c:v>
                </c:pt>
              </c:strCache>
            </c:strRef>
          </c:cat>
          <c:val>
            <c:numRef>
              <c:f>Sheet1!$B$2:$B$3</c:f>
              <c:numCache>
                <c:formatCode>General</c:formatCode>
                <c:ptCount val="2"/>
                <c:pt idx="0">
                  <c:v>545</c:v>
                </c:pt>
                <c:pt idx="1">
                  <c:v>399.6</c:v>
                </c:pt>
              </c:numCache>
            </c:numRef>
          </c:val>
          <c:extLst>
            <c:ext xmlns:c16="http://schemas.microsoft.com/office/drawing/2014/chart" uri="{C3380CC4-5D6E-409C-BE32-E72D297353CC}">
              <c16:uniqueId val="{00000004-3AB1-48B3-80BC-14E4A9E4EF6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6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1E2B33"/>
                </a:solidFill>
                <a:latin typeface="+mn-lt"/>
              </a:defRPr>
            </a:pPr>
            <a:r>
              <a:rPr lang="en-US" sz="1400" b="1" i="0" u="none" strike="noStrike">
                <a:solidFill>
                  <a:srgbClr val="1E2B33"/>
                </a:solidFill>
                <a:latin typeface="+mn-lt"/>
              </a:rPr>
              <a:t>Model error rate by applicant group</a:t>
            </a:r>
          </a:p>
        </c:rich>
      </c:tx>
      <c:overlay val="0"/>
    </c:title>
    <c:autoTitleDeleted val="0"/>
    <c:plotArea>
      <c:layout/>
      <c:barChart>
        <c:barDir val="col"/>
        <c:grouping val="clustered"/>
        <c:varyColors val="0"/>
        <c:ser>
          <c:idx val="0"/>
          <c:order val="0"/>
          <c:tx>
            <c:strRef>
              <c:f>Sheet1!$B$1</c:f>
              <c:strCache>
                <c:ptCount val="1"/>
                <c:pt idx="0">
                  <c:v>Error rate</c:v>
                </c:pt>
              </c:strCache>
            </c:strRef>
          </c:tx>
          <c:spPr>
            <a:solidFill>
              <a:srgbClr val="9AA9B2"/>
            </a:solidFill>
            <a:effectLst/>
          </c:spPr>
          <c:invertIfNegative val="0"/>
          <c:dPt>
            <c:idx val="0"/>
            <c:invertIfNegative val="0"/>
            <c:bubble3D val="0"/>
            <c:spPr>
              <a:solidFill>
                <a:srgbClr val="9AA9B2"/>
              </a:solidFill>
              <a:effectLst/>
            </c:spPr>
            <c:extLst>
              <c:ext xmlns:c16="http://schemas.microsoft.com/office/drawing/2014/chart" uri="{C3380CC4-5D6E-409C-BE32-E72D297353CC}">
                <c16:uniqueId val="{00000001-63EF-4F4B-84C5-0A87EE43AD98}"/>
              </c:ext>
            </c:extLst>
          </c:dPt>
          <c:dPt>
            <c:idx val="1"/>
            <c:invertIfNegative val="0"/>
            <c:bubble3D val="0"/>
            <c:spPr>
              <a:solidFill>
                <a:srgbClr val="9AA9B2"/>
              </a:solidFill>
              <a:effectLst/>
            </c:spPr>
            <c:extLst>
              <c:ext xmlns:c16="http://schemas.microsoft.com/office/drawing/2014/chart" uri="{C3380CC4-5D6E-409C-BE32-E72D297353CC}">
                <c16:uniqueId val="{00000003-63EF-4F4B-84C5-0A87EE43AD98}"/>
              </c:ext>
            </c:extLst>
          </c:dPt>
          <c:dPt>
            <c:idx val="2"/>
            <c:invertIfNegative val="0"/>
            <c:bubble3D val="0"/>
            <c:spPr>
              <a:solidFill>
                <a:srgbClr val="DC5442"/>
              </a:solidFill>
              <a:effectLst/>
            </c:spPr>
            <c:extLst>
              <c:ext xmlns:c16="http://schemas.microsoft.com/office/drawing/2014/chart" uri="{C3380CC4-5D6E-409C-BE32-E72D297353CC}">
                <c16:uniqueId val="{00000005-63EF-4F4B-84C5-0A87EE43AD98}"/>
              </c:ext>
            </c:extLst>
          </c:dPt>
          <c:dPt>
            <c:idx val="3"/>
            <c:invertIfNegative val="0"/>
            <c:bubble3D val="0"/>
            <c:spPr>
              <a:solidFill>
                <a:srgbClr val="9AA9B2"/>
              </a:solidFill>
              <a:effectLst/>
            </c:spPr>
            <c:extLst>
              <c:ext xmlns:c16="http://schemas.microsoft.com/office/drawing/2014/chart" uri="{C3380CC4-5D6E-409C-BE32-E72D297353CC}">
                <c16:uniqueId val="{00000007-63EF-4F4B-84C5-0A87EE43AD98}"/>
              </c:ext>
            </c:extLst>
          </c:dPt>
          <c:dLbls>
            <c:numFmt formatCode="0.0&quot;%&quot;" sourceLinked="0"/>
            <c:spPr>
              <a:noFill/>
              <a:ln>
                <a:noFill/>
              </a:ln>
              <a:effectLst/>
            </c:spPr>
            <c:txPr>
              <a:bodyPr/>
              <a:lstStyle/>
              <a:p>
                <a:pPr>
                  <a:defRPr sz="1200" b="0" i="0" u="none" strike="noStrike">
                    <a:solidFill>
                      <a:srgbClr val="1E2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 Established</c:v>
                </c:pt>
                <c:pt idx="1">
                  <c:v>1 Lower income</c:v>
                </c:pt>
                <c:pt idx="2">
                  <c:v>2 Higher income</c:v>
                </c:pt>
                <c:pt idx="3">
                  <c:v>3 High FOIR</c:v>
                </c:pt>
              </c:strCache>
            </c:strRef>
          </c:cat>
          <c:val>
            <c:numRef>
              <c:f>Sheet1!$B$2:$B$5</c:f>
              <c:numCache>
                <c:formatCode>General</c:formatCode>
                <c:ptCount val="4"/>
                <c:pt idx="0">
                  <c:v>18.920000000000002</c:v>
                </c:pt>
                <c:pt idx="1">
                  <c:v>20.76</c:v>
                </c:pt>
                <c:pt idx="2">
                  <c:v>24.74</c:v>
                </c:pt>
                <c:pt idx="3">
                  <c:v>13.99</c:v>
                </c:pt>
              </c:numCache>
            </c:numRef>
          </c:val>
          <c:extLst>
            <c:ext xmlns:c16="http://schemas.microsoft.com/office/drawing/2014/chart" uri="{C3380CC4-5D6E-409C-BE32-E72D297353CC}">
              <c16:uniqueId val="{00000008-63EF-4F4B-84C5-0A87EE43AD9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A42"/>
                </a:solidFill>
                <a:latin typeface="+mn-lt"/>
              </a:defRPr>
            </a:pPr>
            <a:endParaRPr lang="en-US"/>
          </a:p>
        </c:txPr>
        <c:crossAx val="2094734552"/>
        <c:crosses val="autoZero"/>
        <c:auto val="1"/>
        <c:lblAlgn val="ctr"/>
        <c:lblOffset val="100"/>
        <c:noMultiLvlLbl val="1"/>
      </c:catAx>
      <c:valAx>
        <c:axId val="2094734552"/>
        <c:scaling>
          <c:orientation val="minMax"/>
          <c:max val="3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530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thank you for being here. Today I'm going to share a project I enjoyed working on: the Credit Pre-Screening Engine, which is all about loan intake optimisation. In simple words, it is a helper that reads a loan application and quickly sorts it into one of three lanes: fast-track approval, human review, or automated decline. The big idea is that the machine takes care of the clear-cut cases, so our credit analysts can spend their time on the cases that really need a human mind. We'll walk through the problem, the data, the models, and finally what I recommend. It will be a friendly, step-by-step story, so please follow along.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The bank's lending team receives a lot of loan applications, and today analysts review them manually. That creates three problems. First, too many files: the workload keeps growing. Second, slow decisions: customers have to wait, and nobody likes waiting for a loan answer. Third, uneven judgement: two reviewers might look at similar applicants and decide differently. So the question for this project is simple and friendly: can a machine do the first sorting, so that people spend their energy on the cases where human judgement really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goal, in one picture. The question we want to answer: how can the bank use machine learning to sort applications into fast-track approval, human review, or automated decline, while keeping wrong automated decisions under control? We set three simple measures of success. One: no more than 5 percent wrong decisions in each automated lane. Two: good, balanced scores such as ROC-AUC, precision, recall, and accuracy. Three: fairness, meaning we check results across different applicant groups. The person who benefits most is the head of lending and credit operations, who has to balance speed, risk, workload, and customer experience.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modelling, I framed the problem with the CBIM canvas. Situation: analysts review every loan application by hand, and applicants differ in income, credit history, job type and repayment load. Complication: that creates heavy workload, slow decisions and uneven judgement. Question: how can a pre-screener sort applications into fast-track approval, human review or automated decline, while keeping wrong automated decisions within a safe limit? The single source of truth is the cleaned dataset, where the decision column holds past outcomes, zero for approved and one for declined. These are past decisions and do not guarantee future repayment. Success means at most 5 percent wrong decisions in each automated lane, plus good ROC-AUC, precision, recall, accuracy and fairness. The main stakeholder is the head of lending and credit operations.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meet the data. We have 12,000 past loan applications, each with 19 pieces of information. The information falls into four friendly groups: details about the person, like age and city; job and income; credit history, such as credit score and late payments; and the loan itself, like the purpose, amount, and monthly EMI. The doughnut shows how the bank decided in the past: about 53 percent approved and 47 percent declined. So the data is nearly balanced between the two outcomes, which is great for learning. One important reminder: these are past decisions, not proof of what would happen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anything, I tidied the data, like washing vegetables before cooking. I found three things. First, 17 incomes were unusually large, above four lakh rupees a month. They needed verification, and they looked like yearly salaries typed into the monthly column, so I divided them by 12. Second, 441 incomes were missing, mostly among Business Owners, 227 of them, and Self-Employed Professionals, 154. I filled them with the typical income of the same job type, which is fairer than using one number for everyone. Third, 1,039 credit scores were missing, and every one of those applicants had zero months of credit history. That means they are new to credit, not bad at credit. So I kept them and added a special flag. In the end, all 12,000 rows were kept.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big clue is credit score. Look at the bars: the higher the score, the higher the approval rate. For scores below 600, only about 2 percent were approved. For 800 and above, about 85 percent were approved. This tells us the bank has a strong, unwritten habit of rarely approving very low scores. Notice the grey-blue bar at the end, 'No score'. Those applicants were approved about 54 percent of the time, so the bank does not automatically reject someone just because a score is missing. I should be careful, though: this shows a habit in the past, not a formal rule.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job type and those 'no score' applicants. On the left, Salaried applicants are approved most often, about 58 percent, while Gig and Contract workers are approved only about 35 percent. That difference may reflect how the bank has treated different kinds of income in the past, and we should not assume job type alone causes the decision. On the right is an important point: applicants with no credit score were approved 53.9 percent of the time, slightly higher than the 52.85 percent for those with a score. They are simply new to credit. So the bank should not treat a missing score as a warning sign.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columns are useful, but we can create smarter clues from them. I built three. The first is FOIR, short for Fixed Obligation to Income Ratio. It answers: out of every rupee of monthly income, how much already goes to loan EMIs, including the new one? A FOIR of 0.40 means 40 percent. The second is loan-to-income: how big the loan is compared with a full year of income. The third is a simple new-to-credit flag, which is 1 when there is no credit score. These three clues help the model understand repayment burden, loan size, and new customers in a fair 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my favourite. It shows approval rate against FOIR, which is the share of income going to loan payments. The pattern is beautifully clear: the more income is committed to EMIs, the lower the approval rate. It starts around 65 percent for the lowest group and falls to about 16 percent above 55 percent FOIR. The drop gets sharper after 40 percent. So I suggest 40 percent FOIR as a checkpoint to test. If FOIR is higher, the application gets extra affordability checks. It is not an automatic rejection, and the limit must still be validated against real repayment outcomes.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build our first model, called Logistic Regression. It's a simple, easy-to-explain method, so it makes a good baseline. We used 9,600 applications to teach it and kept 2,400 aside to test it. The result: about 79 percent accuracy, with 79 percent precision and 75 percent recall for the declined class. The coloured boxes show what happened. Green boxes are correct. The red box, 225 applications, are good applicants wrongly predicted as declined. That is the risky kind of mistake if we auto-reject. The yellow box, 277, are declines the model missed. This is why the model should assist analysts, not replace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model paying attention to? This chart shows the five strongest clues. Red bars push towards decline: a high FOIR, recent late payments, and Gig or Contract work. Green bars push towards approval: a higher credit score, and Salaried employment. FOIR is the strongest of all. These match the story we saw earlier in the data, which is reassuring. One careful note: these are patterns the model learned from past decisions. They do not prove that a job type causes a decision, so we should be thoughtful about how we use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0.90 rule give us? In the test set, 365 applications were automatically declined. If the bank receives about 3,000 applications a month, and a manual review takes about 25 minutes, that means roughly 456 applications are handled automatically each month, saving around 190 analyst hours. That is real time returned to the team. Please remember these are estimates built on historical test data and on my assumptions about volume and review time. They are a promising start, not a promise, and they need validation before real use.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Fairness matters a lot in lending, so I did a quick check by gender. In the past data, male applicants were approved 54.1 percent of the time and female applicants 50.4 percent. We also see that women in this data have a lower median income and a higher share in Gig or Contract work, which helps explain part of the gap. At our 0.90 threshold, the model auto-declines 15.0 percent of men and 15.6 percent of women, which is quite close. But close is not the same as proven fair. Even if we remove gender from the model, other details like income and job type can act as stand-ins. So fairness must be monitored continuously, with human oversight.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interim briefing after Part 1. With Logistic Regression, I recommend an auto-decline threshold of 0.90. It sends 15.21 percent of test applications to automatic decline, with only 4.66 percent wrongly declined, which is inside our 5 percent limit. At 3,000 applications a month, that could free about 190 analyst hours a month. The main weakness I want Part 2 to address is fairness. Past approval rates differ by gender, and removing gender does not remove stand-ins like income and job type. More validation is needed before automatic declines are used in real lending decisions.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Part 2, I rebuilt the baseline as a scikit-learn pipeline. A pipeline puts all the steps into one reusable workflow. Missing numbers and categories are filled in, numbers are scaled, categories are one-hot encoded, and then Logistic Regression makes the prediction. The pipeline reached about 79 percent accuracy, with 82 percent recall for approved applications and 75 percent for declined ones. Before deployment, we should still check it for data leakage, fairness and lending risk.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we do better than the simple baseline? I compared four models using five-fold cross-validation, which means testing each model five times on different slices of the training data so the result is not a lucky one. Gradient Boosting scored highest with about 0.889 ROC-AUC, followed closely by Random Forest and Logistic Regression. The Decision Tree was the weakest. On the untouched test set, Gradient Boosting reached 80.3 percent accuracy, 81.5 percent precision, and 75.2 percent recall. The improvement over Logistic Regression is real but modest, about 0.02 ROC-AUC. So in lending we must balance accuracy with explainability and fairness.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peek inside the winning model. The three most important clues are late payments in the last 24 months, credit score, and FOIR. Together they carry roughly 88 percent of the importance, and this agrees with what the simple model told us earlier, so the story is consistent. There is one thing to be careful about. For Gradient Boosting, importance tells us how useful a clue is to the model, but not whether it pushes towards approval or decline. Logistic Regression is easier to explain in that sense. So the final choice must balance performance, explainability, fairness, and regulatory needs.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heart of the design. Instead of one cut-off, we use two. The model gives each application an approval chance. If it is below 0.17, the application goes to the automated decline lane. If it is 0.89 or higher, it goes to fast-track approval. Everything in between goes to a human analyst. On our 2,400 test applications, that is 587 in automated decline, 1,354 for human review, and 459 in fast-track. So about 44 percent are decided automatically. Both automated lanes keep their wrong-decision rates under 5 percent, 4.94 and 4.58, but they are close to the limit, which is why human oversight and further testing are essential.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payoff, using the same assumptions: 3,000 applications a month and 25 minutes per manual review. With Gradient Boosting and its two thresholds, around 1,308 applications a month can be handled automatically, saving about 545 analyst hours. The Logistic Regression version would automate about 959 applications and save about 400 hours. The difference is roughly 349 more applications and 145 more hours every month in favour of Gradient Boosting. That is like giving the team back several weeks of work each year. Both models stayed within the 5 percent limits on the test sample.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my recommendation: to use Gradient Boosting with an auto-decline threshold of 0.17 and a fast-track threshold of 0.89. About 24.5 percent of applications would be auto-declined, 56.4 percent would go to analysts, and 19.1 percent would be fast-tracked. That means roughly 545 analyst hours saved a month. But I want to be honest about the risks. Please keep humans in the loop for borderline or unusual cases, keep watching fairness, run a shadow pilot before turning automation on, and re-check the thresholds, because I chose them on test data and real life changes over time. Next, a quick look at where the model still struggles.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bonus, I asked: where does the model struggle? Using K-Means clustering, I grouped applicants into four natural segments based on income, credit score, FOIR, years in the current job, and age. Then I checked the model's error rate in each group. Group 2, the higher-income group, has the highest error rate at about 25 percent, even though its median monthly income is around one lakh fifteen thousand rupees. So higher income does not mean easier prediction. My suggestion is that analysts review this group first, verify income details, and assess repayment capacity before any final decision.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so much for listening. I'd be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sp>
        <p:nvSpPr>
          <p:cNvPr id="3" name="Text 1"/>
          <p:cNvSpPr>
            <a:spLocks noGrp="1"/>
          </p:cNvSpPr>
          <p:nvPr>
            <p:ph type="title" idx="101" hasCustomPrompt="1"/>
          </p:nvPr>
        </p:nvSpPr>
        <p:spPr>
          <a:xfrm>
            <a:off x="731520" y="1783080"/>
            <a:ext cx="6675120" cy="1920240"/>
          </a:xfrm>
          <a:prstGeom prst="rect">
            <a:avLst/>
          </a:prstGeom>
          <a:noFill/>
          <a:ln/>
        </p:spPr>
        <p:txBody>
          <a:bodyPr wrap="square" rtlCol="0"/>
          <a:lstStyle>
            <a:lvl1pPr marL="0" indent="0" algn="l">
              <a:buNone/>
              <a:defRPr lang="en-US" sz="5200" b="1" dirty="0">
                <a:solidFill>
                  <a:schemeClr val="bg1"/>
                </a:solidFill>
              </a:defRPr>
            </a:lvl1pPr>
          </a:lstStyle>
          <a:p>
            <a:pPr marL="0" indent="0" algn="l">
              <a:buNone/>
            </a:pPr>
            <a:endParaRPr lang="en-US" sz="5200" dirty="0"/>
          </a:p>
        </p:txBody>
      </p:sp>
      <p:sp>
        <p:nvSpPr>
          <p:cNvPr id="4" name="Text 1"/>
          <p:cNvSpPr>
            <a:spLocks noGrp="1"/>
          </p:cNvSpPr>
          <p:nvPr>
            <p:ph type="body" idx="102" hasCustomPrompt="1"/>
          </p:nvPr>
        </p:nvSpPr>
        <p:spPr>
          <a:xfrm>
            <a:off x="731520" y="3840480"/>
            <a:ext cx="6035040" cy="1005840"/>
          </a:xfrm>
          <a:prstGeom prst="rect">
            <a:avLst/>
          </a:prstGeom>
          <a:noFill/>
          <a:ln/>
        </p:spPr>
        <p:txBody>
          <a:bodyPr wrap="square" rtlCol="0"/>
          <a:lstStyle>
            <a:lvl1pPr marL="0" indent="0" algn="l">
              <a:buNone/>
              <a:defRPr lang="en-US" sz="2200" dirty="0">
                <a:solidFill>
                  <a:schemeClr val="bg2"/>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2"/>
          </a:solidFill>
          <a:ln/>
        </p:spPr>
        <p:txBody>
          <a:bodyPr/>
          <a:lstStyle/>
          <a:p>
            <a:endParaRPr lang="en-IN"/>
          </a:p>
        </p:txBody>
      </p:sp>
      <p:sp>
        <p:nvSpPr>
          <p:cNvPr id="3" name="Text 1"/>
          <p:cNvSpPr/>
          <p:nvPr/>
        </p:nvSpPr>
        <p:spPr>
          <a:xfrm>
            <a:off x="548640" y="6419088"/>
            <a:ext cx="5486400" cy="274320"/>
          </a:xfrm>
          <a:prstGeom prst="rect">
            <a:avLst/>
          </a:prstGeom>
          <a:noFill/>
          <a:ln/>
        </p:spPr>
        <p:txBody>
          <a:bodyPr wrap="square" lIns="0" tIns="0" rIns="0" bIns="0" rtlCol="0" anchor="ctr"/>
          <a:lstStyle/>
          <a:p>
            <a:pPr marL="0" indent="0">
              <a:buNone/>
            </a:pPr>
            <a:r>
              <a:rPr lang="en-US" sz="1100" dirty="0">
                <a:solidFill>
                  <a:srgbClr val="55656F"/>
                </a:solidFill>
              </a:rPr>
              <a:t>Credit Pre-Screening Engine</a:t>
            </a:r>
            <a:endParaRPr lang="en-US" sz="1100" dirty="0"/>
          </a:p>
        </p:txBody>
      </p:sp>
      <p:sp>
        <p:nvSpPr>
          <p:cNvPr id="4" name="Text 2"/>
          <p:cNvSpPr>
            <a:spLocks noGrp="1"/>
          </p:cNvSpPr>
          <p:nvPr>
            <p:ph type="title" idx="102" hasCustomPrompt="1"/>
          </p:nvPr>
        </p:nvSpPr>
        <p:spPr>
          <a:xfrm>
            <a:off x="548640" y="320040"/>
            <a:ext cx="11091672" cy="82296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chart" Target="../charts/chart9.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24.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25880"/>
            <a:ext cx="5486400" cy="320040"/>
          </a:xfrm>
          <a:prstGeom prst="rect">
            <a:avLst/>
          </a:prstGeom>
          <a:noFill/>
          <a:ln/>
        </p:spPr>
        <p:txBody>
          <a:bodyPr wrap="square" lIns="0" tIns="0" rIns="0" bIns="0" rtlCol="0" anchor="t"/>
          <a:lstStyle/>
          <a:p>
            <a:pPr marL="0" indent="0">
              <a:buNone/>
            </a:pPr>
            <a:r>
              <a:rPr lang="en-US" sz="1400" b="1" kern="0" spc="400" dirty="0">
                <a:solidFill>
                  <a:schemeClr val="accent3"/>
                </a:solidFill>
              </a:rPr>
              <a:t>LOAN INTAKE OPTIMISATION</a:t>
            </a:r>
            <a:endParaRPr lang="en-US" sz="1400" dirty="0"/>
          </a:p>
        </p:txBody>
      </p:sp>
      <p:sp>
        <p:nvSpPr>
          <p:cNvPr id="3" name="Text 1"/>
          <p:cNvSpPr>
            <a:spLocks noGrp="1"/>
          </p:cNvSpPr>
          <p:nvPr>
            <p:ph type="title" idx="101" hasCustomPrompt="1"/>
          </p:nvPr>
        </p:nvSpPr>
        <p:spPr>
          <a:xfrm>
            <a:off x="731520" y="1783080"/>
            <a:ext cx="6675120" cy="1920240"/>
          </a:xfrm>
          <a:prstGeom prst="rect">
            <a:avLst/>
          </a:prstGeom>
          <a:noFill/>
          <a:ln/>
        </p:spPr>
        <p:txBody>
          <a:bodyPr wrap="square" lIns="0" tIns="0" rIns="0" bIns="0" rtlCol="0" anchor="t"/>
          <a:lstStyle/>
          <a:p>
            <a:pPr marL="0" indent="0" algn="l">
              <a:buNone/>
            </a:pPr>
            <a:r>
              <a:rPr lang="en-US" sz="5200" b="1" dirty="0">
                <a:solidFill>
                  <a:schemeClr val="bg1"/>
                </a:solidFill>
              </a:rPr>
              <a:t>Credit Pre-Screening</a:t>
            </a:r>
            <a:endParaRPr lang="en-US" sz="5200" dirty="0"/>
          </a:p>
          <a:p>
            <a:pPr marL="0" indent="0" algn="l">
              <a:buNone/>
            </a:pPr>
            <a:r>
              <a:rPr lang="en-US" sz="5200" b="1" dirty="0">
                <a:solidFill>
                  <a:schemeClr val="bg1"/>
                </a:solidFill>
              </a:rPr>
              <a:t>Engine</a:t>
            </a:r>
            <a:endParaRPr lang="en-US" sz="5200" dirty="0"/>
          </a:p>
        </p:txBody>
      </p:sp>
      <p:sp>
        <p:nvSpPr>
          <p:cNvPr id="4" name="Text 1"/>
          <p:cNvSpPr>
            <a:spLocks noGrp="1"/>
          </p:cNvSpPr>
          <p:nvPr>
            <p:ph type="body" idx="102" hasCustomPrompt="1"/>
          </p:nvPr>
        </p:nvSpPr>
        <p:spPr>
          <a:xfrm>
            <a:off x="731520" y="3840480"/>
            <a:ext cx="6035040" cy="1005840"/>
          </a:xfrm>
          <a:prstGeom prst="rect">
            <a:avLst/>
          </a:prstGeom>
          <a:noFill/>
          <a:ln/>
        </p:spPr>
        <p:txBody>
          <a:bodyPr wrap="square" lIns="0" tIns="0" rIns="0" bIns="0" rtlCol="0" anchor="t"/>
          <a:lstStyle/>
          <a:p>
            <a:pPr marL="0" indent="0" algn="l">
              <a:buNone/>
            </a:pPr>
            <a:r>
              <a:rPr lang="en-US" sz="2200" dirty="0">
                <a:solidFill>
                  <a:schemeClr val="bg2"/>
                </a:solidFill>
              </a:rPr>
              <a:t>Loan intake optimisation: deciding faster, with people still in charge</a:t>
            </a:r>
            <a:endParaRPr lang="en-US" sz="2200" dirty="0"/>
          </a:p>
        </p:txBody>
      </p:sp>
      <p:sp>
        <p:nvSpPr>
          <p:cNvPr id="5" name="Text 3"/>
          <p:cNvSpPr txBox="1"/>
          <p:nvPr/>
        </p:nvSpPr>
        <p:spPr>
          <a:xfrm>
            <a:off x="731520" y="5669280"/>
            <a:ext cx="6217920" cy="365760"/>
          </a:xfrm>
          <a:prstGeom prst="rect">
            <a:avLst/>
          </a:prstGeom>
          <a:noFill/>
          <a:ln/>
        </p:spPr>
        <p:txBody>
          <a:bodyPr wrap="square" lIns="0" tIns="0" rIns="0" bIns="0" rtlCol="0" anchor="t"/>
          <a:lstStyle/>
          <a:p>
            <a:pPr marL="0" indent="0">
              <a:buNone/>
            </a:pPr>
            <a:r>
              <a:rPr lang="en-US" sz="1600" dirty="0">
                <a:solidFill>
                  <a:schemeClr val="bg1"/>
                </a:solidFill>
              </a:rPr>
              <a:t>Keerthipriya  |  MUC02 · Path 3 · Batch 1</a:t>
            </a:r>
            <a:endParaRPr lang="en-US" sz="1600" dirty="0"/>
          </a:p>
        </p:txBody>
      </p:sp>
      <p:sp>
        <p:nvSpPr>
          <p:cNvPr id="6" name="Text 4"/>
          <p:cNvSpPr txBox="1"/>
          <p:nvPr/>
        </p:nvSpPr>
        <p:spPr>
          <a:xfrm>
            <a:off x="7589520" y="1325880"/>
            <a:ext cx="4023360" cy="365760"/>
          </a:xfrm>
          <a:prstGeom prst="rect">
            <a:avLst/>
          </a:prstGeom>
          <a:noFill/>
          <a:ln/>
        </p:spPr>
        <p:txBody>
          <a:bodyPr wrap="square" lIns="0" tIns="0" rIns="0" bIns="0" rtlCol="0" anchor="t"/>
          <a:lstStyle/>
          <a:p>
            <a:pPr marL="0" indent="0">
              <a:buNone/>
            </a:pPr>
            <a:r>
              <a:rPr lang="en-US" sz="1600" dirty="0">
                <a:solidFill>
                  <a:schemeClr val="bg2"/>
                </a:solidFill>
              </a:rPr>
              <a:t>Every application lands in one of three lanes</a:t>
            </a:r>
            <a:endParaRPr lang="en-US" sz="1600" dirty="0"/>
          </a:p>
        </p:txBody>
      </p:sp>
      <p:sp>
        <p:nvSpPr>
          <p:cNvPr id="7" name="Lane pill 1"/>
          <p:cNvSpPr/>
          <p:nvPr/>
        </p:nvSpPr>
        <p:spPr>
          <a:xfrm>
            <a:off x="7589520" y="1874520"/>
            <a:ext cx="4050792" cy="1143000"/>
          </a:xfrm>
          <a:prstGeom prst="roundRect">
            <a:avLst>
              <a:gd name="adj" fmla="val 16000"/>
            </a:avLst>
          </a:prstGeom>
          <a:solidFill>
            <a:schemeClr val="accent4"/>
          </a:solidFill>
          <a:ln/>
        </p:spPr>
        <p:txBody>
          <a:bodyPr/>
          <a:lstStyle/>
          <a:p>
            <a:endParaRPr lang="en-IN"/>
          </a:p>
        </p:txBody>
      </p:sp>
      <p:sp>
        <p:nvSpPr>
          <p:cNvPr id="8" name="Lane icon circle"/>
          <p:cNvSpPr/>
          <p:nvPr/>
        </p:nvSpPr>
        <p:spPr>
          <a:xfrm>
            <a:off x="7818120" y="2057400"/>
            <a:ext cx="777240" cy="777240"/>
          </a:xfrm>
          <a:prstGeom prst="ellipse">
            <a:avLst/>
          </a:prstGeom>
          <a:solidFill>
            <a:schemeClr val="bg1"/>
          </a:solidFill>
          <a:ln/>
        </p:spPr>
        <p:txBody>
          <a:bodyPr/>
          <a:lstStyle/>
          <a:p>
            <a:endParaRPr lang="en-IN"/>
          </a:p>
        </p:txBody>
      </p:sp>
      <p:pic>
        <p:nvPicPr>
          <p:cNvPr id="9" name="Image 0" descr="Fast-track approval icon"/>
          <p:cNvPicPr>
            <a:picLocks noChangeAspect="1"/>
          </p:cNvPicPr>
          <p:nvPr/>
        </p:nvPicPr>
        <p:blipFill>
          <a:blip r:embed="rId3"/>
          <a:stretch>
            <a:fillRect/>
          </a:stretch>
        </p:blipFill>
        <p:spPr>
          <a:xfrm>
            <a:off x="8019288" y="2258568"/>
            <a:ext cx="374904" cy="374904"/>
          </a:xfrm>
          <a:prstGeom prst="rect">
            <a:avLst/>
          </a:prstGeom>
        </p:spPr>
      </p:pic>
      <p:sp>
        <p:nvSpPr>
          <p:cNvPr id="10" name="Text 7"/>
          <p:cNvSpPr txBox="1"/>
          <p:nvPr/>
        </p:nvSpPr>
        <p:spPr>
          <a:xfrm>
            <a:off x="8778240" y="1874520"/>
            <a:ext cx="2743200" cy="1143000"/>
          </a:xfrm>
          <a:prstGeom prst="rect">
            <a:avLst/>
          </a:prstGeom>
          <a:noFill/>
          <a:ln/>
        </p:spPr>
        <p:txBody>
          <a:bodyPr wrap="square" lIns="0" tIns="0" rIns="0" bIns="0" rtlCol="0" anchor="ctr"/>
          <a:lstStyle/>
          <a:p>
            <a:pPr marL="0" indent="0">
              <a:buNone/>
            </a:pPr>
            <a:r>
              <a:rPr lang="en-US" sz="2200" b="1" dirty="0">
                <a:solidFill>
                  <a:schemeClr val="bg1"/>
                </a:solidFill>
              </a:rPr>
              <a:t>Fast-track approval</a:t>
            </a:r>
            <a:endParaRPr lang="en-US" sz="2200" dirty="0"/>
          </a:p>
        </p:txBody>
      </p:sp>
      <p:sp>
        <p:nvSpPr>
          <p:cNvPr id="11" name="Lane pill 2"/>
          <p:cNvSpPr/>
          <p:nvPr/>
        </p:nvSpPr>
        <p:spPr>
          <a:xfrm>
            <a:off x="7589520" y="3246120"/>
            <a:ext cx="4050792" cy="1143000"/>
          </a:xfrm>
          <a:prstGeom prst="roundRect">
            <a:avLst>
              <a:gd name="adj" fmla="val 16000"/>
            </a:avLst>
          </a:prstGeom>
          <a:solidFill>
            <a:schemeClr val="accent3"/>
          </a:solidFill>
          <a:ln/>
        </p:spPr>
        <p:txBody>
          <a:bodyPr/>
          <a:lstStyle/>
          <a:p>
            <a:endParaRPr lang="en-IN"/>
          </a:p>
        </p:txBody>
      </p:sp>
      <p:sp>
        <p:nvSpPr>
          <p:cNvPr id="12" name="Lane icon circle"/>
          <p:cNvSpPr/>
          <p:nvPr/>
        </p:nvSpPr>
        <p:spPr>
          <a:xfrm>
            <a:off x="7818120" y="3429000"/>
            <a:ext cx="777240" cy="777240"/>
          </a:xfrm>
          <a:prstGeom prst="ellipse">
            <a:avLst/>
          </a:prstGeom>
          <a:solidFill>
            <a:schemeClr val="bg1"/>
          </a:solidFill>
          <a:ln/>
        </p:spPr>
        <p:txBody>
          <a:bodyPr/>
          <a:lstStyle/>
          <a:p>
            <a:endParaRPr lang="en-IN"/>
          </a:p>
        </p:txBody>
      </p:sp>
      <p:pic>
        <p:nvPicPr>
          <p:cNvPr id="13" name="Image 1" descr="Human review icon"/>
          <p:cNvPicPr>
            <a:picLocks noChangeAspect="1"/>
          </p:cNvPicPr>
          <p:nvPr/>
        </p:nvPicPr>
        <p:blipFill>
          <a:blip r:embed="rId4"/>
          <a:stretch>
            <a:fillRect/>
          </a:stretch>
        </p:blipFill>
        <p:spPr>
          <a:xfrm>
            <a:off x="8019288" y="3630168"/>
            <a:ext cx="374904" cy="374904"/>
          </a:xfrm>
          <a:prstGeom prst="rect">
            <a:avLst/>
          </a:prstGeom>
        </p:spPr>
      </p:pic>
      <p:sp>
        <p:nvSpPr>
          <p:cNvPr id="14" name="Text 10"/>
          <p:cNvSpPr txBox="1"/>
          <p:nvPr/>
        </p:nvSpPr>
        <p:spPr>
          <a:xfrm>
            <a:off x="8778240" y="3246120"/>
            <a:ext cx="2743200" cy="1143000"/>
          </a:xfrm>
          <a:prstGeom prst="rect">
            <a:avLst/>
          </a:prstGeom>
          <a:noFill/>
          <a:ln/>
        </p:spPr>
        <p:txBody>
          <a:bodyPr wrap="square" lIns="0" tIns="0" rIns="0" bIns="0" rtlCol="0" anchor="ctr"/>
          <a:lstStyle/>
          <a:p>
            <a:pPr marL="0" indent="0">
              <a:buNone/>
            </a:pPr>
            <a:r>
              <a:rPr lang="en-US" sz="2200" b="1" dirty="0">
                <a:solidFill>
                  <a:schemeClr val="tx1"/>
                </a:solidFill>
              </a:rPr>
              <a:t>Human review</a:t>
            </a:r>
            <a:endParaRPr lang="en-US" sz="2200" dirty="0"/>
          </a:p>
        </p:txBody>
      </p:sp>
      <p:sp>
        <p:nvSpPr>
          <p:cNvPr id="15" name="Lane pill 3"/>
          <p:cNvSpPr/>
          <p:nvPr/>
        </p:nvSpPr>
        <p:spPr>
          <a:xfrm>
            <a:off x="7589520" y="4617720"/>
            <a:ext cx="4050792" cy="1143000"/>
          </a:xfrm>
          <a:prstGeom prst="roundRect">
            <a:avLst>
              <a:gd name="adj" fmla="val 16000"/>
            </a:avLst>
          </a:prstGeom>
          <a:solidFill>
            <a:schemeClr val="accent2"/>
          </a:solidFill>
          <a:ln/>
        </p:spPr>
        <p:txBody>
          <a:bodyPr/>
          <a:lstStyle/>
          <a:p>
            <a:endParaRPr lang="en-IN"/>
          </a:p>
        </p:txBody>
      </p:sp>
      <p:sp>
        <p:nvSpPr>
          <p:cNvPr id="16" name="Lane icon circle"/>
          <p:cNvSpPr/>
          <p:nvPr/>
        </p:nvSpPr>
        <p:spPr>
          <a:xfrm>
            <a:off x="7818120" y="4800600"/>
            <a:ext cx="777240" cy="777240"/>
          </a:xfrm>
          <a:prstGeom prst="ellipse">
            <a:avLst/>
          </a:prstGeom>
          <a:solidFill>
            <a:schemeClr val="bg1"/>
          </a:solidFill>
          <a:ln/>
        </p:spPr>
        <p:txBody>
          <a:bodyPr/>
          <a:lstStyle/>
          <a:p>
            <a:endParaRPr lang="en-IN"/>
          </a:p>
        </p:txBody>
      </p:sp>
      <p:pic>
        <p:nvPicPr>
          <p:cNvPr id="17" name="Image 2" descr="Automated decline icon"/>
          <p:cNvPicPr>
            <a:picLocks noChangeAspect="1"/>
          </p:cNvPicPr>
          <p:nvPr/>
        </p:nvPicPr>
        <p:blipFill>
          <a:blip r:embed="rId5"/>
          <a:stretch>
            <a:fillRect/>
          </a:stretch>
        </p:blipFill>
        <p:spPr>
          <a:xfrm>
            <a:off x="8019288" y="5001768"/>
            <a:ext cx="374904" cy="374904"/>
          </a:xfrm>
          <a:prstGeom prst="rect">
            <a:avLst/>
          </a:prstGeom>
        </p:spPr>
      </p:pic>
      <p:sp>
        <p:nvSpPr>
          <p:cNvPr id="18" name="Text 13"/>
          <p:cNvSpPr txBox="1"/>
          <p:nvPr/>
        </p:nvSpPr>
        <p:spPr>
          <a:xfrm>
            <a:off x="8778240" y="4617720"/>
            <a:ext cx="2743200" cy="1143000"/>
          </a:xfrm>
          <a:prstGeom prst="rect">
            <a:avLst/>
          </a:prstGeom>
          <a:noFill/>
          <a:ln/>
        </p:spPr>
        <p:txBody>
          <a:bodyPr wrap="square" lIns="0" tIns="0" rIns="0" bIns="0" rtlCol="0" anchor="ctr"/>
          <a:lstStyle/>
          <a:p>
            <a:pPr marL="0" indent="0">
              <a:buNone/>
            </a:pPr>
            <a:r>
              <a:rPr lang="en-US" sz="2200" b="1" dirty="0">
                <a:solidFill>
                  <a:schemeClr val="bg1"/>
                </a:solidFill>
              </a:rPr>
              <a:t>Automated decline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Problem Statement</a:t>
            </a:r>
          </a:p>
          <a:p>
            <a:pPr marL="0" indent="0" algn="l">
              <a:buNone/>
            </a:pPr>
            <a:r>
              <a:rPr lang="en-US" sz="1600" b="0" dirty="0">
                <a:solidFill>
                  <a:schemeClr val="accent1"/>
                </a:solidFill>
              </a:rPr>
              <a:t>Why we need a pre-screener</a:t>
            </a:r>
          </a:p>
        </p:txBody>
      </p:sp>
      <p:sp>
        <p:nvSpPr>
          <p:cNvPr id="3" name="Problem card 1"/>
          <p:cNvSpPr/>
          <p:nvPr/>
        </p:nvSpPr>
        <p:spPr>
          <a:xfrm>
            <a:off x="548640" y="1508760"/>
            <a:ext cx="3474720" cy="3154680"/>
          </a:xfrm>
          <a:prstGeom prst="roundRect">
            <a:avLst>
              <a:gd name="adj" fmla="val 405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4" name="Icon circle"/>
          <p:cNvSpPr/>
          <p:nvPr/>
        </p:nvSpPr>
        <p:spPr>
          <a:xfrm>
            <a:off x="822960" y="1783080"/>
            <a:ext cx="868680" cy="868680"/>
          </a:xfrm>
          <a:prstGeom prst="ellipse">
            <a:avLst/>
          </a:prstGeom>
          <a:solidFill>
            <a:schemeClr val="accent1"/>
          </a:solidFill>
          <a:ln/>
        </p:spPr>
        <p:txBody>
          <a:bodyPr/>
          <a:lstStyle/>
          <a:p>
            <a:endParaRPr lang="en-IN"/>
          </a:p>
        </p:txBody>
      </p:sp>
      <p:pic>
        <p:nvPicPr>
          <p:cNvPr id="5" name="Image 0" descr="FileAlt icon"/>
          <p:cNvPicPr>
            <a:picLocks noChangeAspect="1"/>
          </p:cNvPicPr>
          <p:nvPr/>
        </p:nvPicPr>
        <p:blipFill>
          <a:blip r:embed="rId3"/>
          <a:stretch>
            <a:fillRect/>
          </a:stretch>
        </p:blipFill>
        <p:spPr>
          <a:xfrm>
            <a:off x="1057504" y="2017624"/>
            <a:ext cx="399593" cy="399593"/>
          </a:xfrm>
          <a:prstGeom prst="rect">
            <a:avLst/>
          </a:prstGeom>
        </p:spPr>
      </p:pic>
      <p:sp>
        <p:nvSpPr>
          <p:cNvPr id="6" name="Text 3"/>
          <p:cNvSpPr txBox="1"/>
          <p:nvPr/>
        </p:nvSpPr>
        <p:spPr>
          <a:xfrm>
            <a:off x="822960" y="2834640"/>
            <a:ext cx="2926080" cy="457200"/>
          </a:xfrm>
          <a:prstGeom prst="rect">
            <a:avLst/>
          </a:prstGeom>
          <a:noFill/>
          <a:ln/>
        </p:spPr>
        <p:txBody>
          <a:bodyPr wrap="square" lIns="0" tIns="0" rIns="0" bIns="0" rtlCol="0" anchor="t"/>
          <a:lstStyle/>
          <a:p>
            <a:pPr marL="0" indent="0">
              <a:buNone/>
            </a:pPr>
            <a:r>
              <a:rPr lang="en-US" sz="2400" b="1" dirty="0">
                <a:solidFill>
                  <a:schemeClr val="tx2"/>
                </a:solidFill>
              </a:rPr>
              <a:t>Too many files</a:t>
            </a:r>
            <a:endParaRPr lang="en-US" sz="2400" dirty="0"/>
          </a:p>
        </p:txBody>
      </p:sp>
      <p:sp>
        <p:nvSpPr>
          <p:cNvPr id="7" name="Text 4"/>
          <p:cNvSpPr txBox="1"/>
          <p:nvPr/>
        </p:nvSpPr>
        <p:spPr>
          <a:xfrm>
            <a:off x="822960" y="3383280"/>
            <a:ext cx="2926080" cy="1143000"/>
          </a:xfrm>
          <a:prstGeom prst="rect">
            <a:avLst/>
          </a:prstGeom>
          <a:noFill/>
          <a:ln/>
        </p:spPr>
        <p:txBody>
          <a:bodyPr wrap="square" lIns="0" tIns="0" rIns="0" bIns="0" rtlCol="0" anchor="t"/>
          <a:lstStyle/>
          <a:p>
            <a:pPr marL="0" indent="0">
              <a:buNone/>
            </a:pPr>
            <a:r>
              <a:rPr lang="en-US" sz="1600" dirty="0">
                <a:solidFill>
                  <a:schemeClr val="tx1"/>
                </a:solidFill>
              </a:rPr>
              <a:t>Analysts read every single application by hand, so the workload keeps piling up.</a:t>
            </a:r>
            <a:endParaRPr lang="en-US" sz="1600" dirty="0"/>
          </a:p>
        </p:txBody>
      </p:sp>
      <p:sp>
        <p:nvSpPr>
          <p:cNvPr id="8" name="Problem card 2"/>
          <p:cNvSpPr/>
          <p:nvPr/>
        </p:nvSpPr>
        <p:spPr>
          <a:xfrm>
            <a:off x="4357116" y="1508760"/>
            <a:ext cx="3474720" cy="3154680"/>
          </a:xfrm>
          <a:prstGeom prst="roundRect">
            <a:avLst>
              <a:gd name="adj" fmla="val 405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9" name="Icon circle"/>
          <p:cNvSpPr/>
          <p:nvPr/>
        </p:nvSpPr>
        <p:spPr>
          <a:xfrm>
            <a:off x="4631436" y="1783080"/>
            <a:ext cx="868680" cy="868680"/>
          </a:xfrm>
          <a:prstGeom prst="ellipse">
            <a:avLst/>
          </a:prstGeom>
          <a:solidFill>
            <a:schemeClr val="accent3"/>
          </a:solidFill>
          <a:ln/>
        </p:spPr>
        <p:txBody>
          <a:bodyPr/>
          <a:lstStyle/>
          <a:p>
            <a:endParaRPr lang="en-IN"/>
          </a:p>
        </p:txBody>
      </p:sp>
      <p:pic>
        <p:nvPicPr>
          <p:cNvPr id="10" name="Image 1" descr="HourglassHalf icon"/>
          <p:cNvPicPr>
            <a:picLocks noChangeAspect="1"/>
          </p:cNvPicPr>
          <p:nvPr/>
        </p:nvPicPr>
        <p:blipFill>
          <a:blip r:embed="rId4"/>
          <a:stretch>
            <a:fillRect/>
          </a:stretch>
        </p:blipFill>
        <p:spPr>
          <a:xfrm>
            <a:off x="4865980" y="2017624"/>
            <a:ext cx="399593" cy="399593"/>
          </a:xfrm>
          <a:prstGeom prst="rect">
            <a:avLst/>
          </a:prstGeom>
        </p:spPr>
      </p:pic>
      <p:sp>
        <p:nvSpPr>
          <p:cNvPr id="11" name="Text 7"/>
          <p:cNvSpPr txBox="1"/>
          <p:nvPr/>
        </p:nvSpPr>
        <p:spPr>
          <a:xfrm>
            <a:off x="4631436" y="2834640"/>
            <a:ext cx="2926080" cy="457200"/>
          </a:xfrm>
          <a:prstGeom prst="rect">
            <a:avLst/>
          </a:prstGeom>
          <a:noFill/>
          <a:ln/>
        </p:spPr>
        <p:txBody>
          <a:bodyPr wrap="square" lIns="0" tIns="0" rIns="0" bIns="0" rtlCol="0" anchor="t"/>
          <a:lstStyle/>
          <a:p>
            <a:pPr marL="0" indent="0">
              <a:buNone/>
            </a:pPr>
            <a:r>
              <a:rPr lang="en-US" sz="2400" b="1" dirty="0">
                <a:solidFill>
                  <a:schemeClr val="tx2"/>
                </a:solidFill>
              </a:rPr>
              <a:t>Slow decisions</a:t>
            </a:r>
            <a:endParaRPr lang="en-US" sz="2400" dirty="0"/>
          </a:p>
        </p:txBody>
      </p:sp>
      <p:sp>
        <p:nvSpPr>
          <p:cNvPr id="12" name="Text 8"/>
          <p:cNvSpPr txBox="1"/>
          <p:nvPr/>
        </p:nvSpPr>
        <p:spPr>
          <a:xfrm>
            <a:off x="4631436" y="3383280"/>
            <a:ext cx="2926080" cy="1143000"/>
          </a:xfrm>
          <a:prstGeom prst="rect">
            <a:avLst/>
          </a:prstGeom>
          <a:noFill/>
          <a:ln/>
        </p:spPr>
        <p:txBody>
          <a:bodyPr wrap="square" lIns="0" tIns="0" rIns="0" bIns="0" rtlCol="0" anchor="t"/>
          <a:lstStyle/>
          <a:p>
            <a:pPr marL="0" indent="0">
              <a:buNone/>
            </a:pPr>
            <a:r>
              <a:rPr lang="en-US" sz="1600" dirty="0">
                <a:solidFill>
                  <a:schemeClr val="tx1"/>
                </a:solidFill>
              </a:rPr>
              <a:t>Applicants wait longer than they should, which hurts their experience.</a:t>
            </a:r>
            <a:endParaRPr lang="en-US" sz="1600" dirty="0"/>
          </a:p>
        </p:txBody>
      </p:sp>
      <p:sp>
        <p:nvSpPr>
          <p:cNvPr id="13" name="Problem card 3"/>
          <p:cNvSpPr/>
          <p:nvPr/>
        </p:nvSpPr>
        <p:spPr>
          <a:xfrm>
            <a:off x="8165592" y="1508760"/>
            <a:ext cx="3474720" cy="3154680"/>
          </a:xfrm>
          <a:prstGeom prst="roundRect">
            <a:avLst>
              <a:gd name="adj" fmla="val 405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4" name="Icon circle"/>
          <p:cNvSpPr/>
          <p:nvPr/>
        </p:nvSpPr>
        <p:spPr>
          <a:xfrm>
            <a:off x="8439912" y="1783080"/>
            <a:ext cx="868680" cy="868680"/>
          </a:xfrm>
          <a:prstGeom prst="ellipse">
            <a:avLst/>
          </a:prstGeom>
          <a:solidFill>
            <a:schemeClr val="accent2"/>
          </a:solidFill>
          <a:ln/>
        </p:spPr>
        <p:txBody>
          <a:bodyPr/>
          <a:lstStyle/>
          <a:p>
            <a:endParaRPr lang="en-IN"/>
          </a:p>
        </p:txBody>
      </p:sp>
      <p:pic>
        <p:nvPicPr>
          <p:cNvPr id="15" name="Image 2" descr="BalanceScale icon"/>
          <p:cNvPicPr>
            <a:picLocks noChangeAspect="1"/>
          </p:cNvPicPr>
          <p:nvPr/>
        </p:nvPicPr>
        <p:blipFill>
          <a:blip r:embed="rId5"/>
          <a:stretch>
            <a:fillRect/>
          </a:stretch>
        </p:blipFill>
        <p:spPr>
          <a:xfrm>
            <a:off x="8674456" y="2017624"/>
            <a:ext cx="399593" cy="399593"/>
          </a:xfrm>
          <a:prstGeom prst="rect">
            <a:avLst/>
          </a:prstGeom>
        </p:spPr>
      </p:pic>
      <p:sp>
        <p:nvSpPr>
          <p:cNvPr id="16" name="Text 11"/>
          <p:cNvSpPr txBox="1"/>
          <p:nvPr/>
        </p:nvSpPr>
        <p:spPr>
          <a:xfrm>
            <a:off x="8439912" y="2834640"/>
            <a:ext cx="2926080" cy="457200"/>
          </a:xfrm>
          <a:prstGeom prst="rect">
            <a:avLst/>
          </a:prstGeom>
          <a:noFill/>
          <a:ln/>
        </p:spPr>
        <p:txBody>
          <a:bodyPr wrap="square" lIns="0" tIns="0" rIns="0" bIns="0" rtlCol="0" anchor="t"/>
          <a:lstStyle/>
          <a:p>
            <a:pPr marL="0" indent="0">
              <a:buNone/>
            </a:pPr>
            <a:r>
              <a:rPr lang="en-US" sz="2400" b="1" dirty="0">
                <a:solidFill>
                  <a:schemeClr val="tx2"/>
                </a:solidFill>
              </a:rPr>
              <a:t>Uneven judgement</a:t>
            </a:r>
            <a:endParaRPr lang="en-US" sz="2400" dirty="0"/>
          </a:p>
        </p:txBody>
      </p:sp>
      <p:sp>
        <p:nvSpPr>
          <p:cNvPr id="17" name="Text 12"/>
          <p:cNvSpPr txBox="1"/>
          <p:nvPr/>
        </p:nvSpPr>
        <p:spPr>
          <a:xfrm>
            <a:off x="8439912" y="3383280"/>
            <a:ext cx="2926080" cy="1143000"/>
          </a:xfrm>
          <a:prstGeom prst="rect">
            <a:avLst/>
          </a:prstGeom>
          <a:noFill/>
          <a:ln/>
        </p:spPr>
        <p:txBody>
          <a:bodyPr wrap="square" lIns="0" tIns="0" rIns="0" bIns="0" rtlCol="0" anchor="t"/>
          <a:lstStyle/>
          <a:p>
            <a:pPr marL="0" indent="0">
              <a:buNone/>
            </a:pPr>
            <a:r>
              <a:rPr lang="en-US" sz="1600" dirty="0">
                <a:solidFill>
                  <a:schemeClr val="tx1"/>
                </a:solidFill>
              </a:rPr>
              <a:t>Different reviewers can reach different answers for similar applicants.</a:t>
            </a:r>
            <a:endParaRPr lang="en-US" sz="1600" dirty="0"/>
          </a:p>
        </p:txBody>
      </p:sp>
      <p:sp>
        <p:nvSpPr>
          <p:cNvPr id="18" name="Question banner"/>
          <p:cNvSpPr/>
          <p:nvPr/>
        </p:nvSpPr>
        <p:spPr>
          <a:xfrm>
            <a:off x="548640" y="4937760"/>
            <a:ext cx="11091672" cy="1188720"/>
          </a:xfrm>
          <a:prstGeom prst="roundRect">
            <a:avLst>
              <a:gd name="adj" fmla="val 10769"/>
            </a:avLst>
          </a:prstGeom>
          <a:solidFill>
            <a:schemeClr val="tx2"/>
          </a:solidFill>
          <a:ln/>
          <a:effectLst>
            <a:outerShdw blurRad="101600" dist="25400" dir="5400000" algn="bl" rotWithShape="0">
              <a:srgbClr val="0B3B3F">
                <a:alpha val="12000"/>
              </a:srgbClr>
            </a:outerShdw>
          </a:effectLst>
        </p:spPr>
        <p:txBody>
          <a:bodyPr/>
          <a:lstStyle/>
          <a:p>
            <a:endParaRPr lang="en-IN"/>
          </a:p>
        </p:txBody>
      </p:sp>
      <p:sp>
        <p:nvSpPr>
          <p:cNvPr id="19" name="Text 14"/>
          <p:cNvSpPr txBox="1"/>
          <p:nvPr/>
        </p:nvSpPr>
        <p:spPr>
          <a:xfrm>
            <a:off x="868680" y="4937760"/>
            <a:ext cx="10424160" cy="1188720"/>
          </a:xfrm>
          <a:prstGeom prst="rect">
            <a:avLst/>
          </a:prstGeom>
          <a:noFill/>
          <a:ln/>
        </p:spPr>
        <p:txBody>
          <a:bodyPr wrap="square" lIns="0" tIns="0" rIns="0" bIns="0" rtlCol="0" anchor="ctr"/>
          <a:lstStyle/>
          <a:p>
            <a:pPr marL="0" indent="0">
              <a:buNone/>
            </a:pPr>
            <a:r>
              <a:rPr lang="en-US" sz="2200" b="1" dirty="0">
                <a:solidFill>
                  <a:schemeClr val="bg1"/>
                </a:solidFill>
              </a:rPr>
              <a:t>So we asked: can a machine sort the easy cases first, so people can focus where their judgement matters most?</a:t>
            </a:r>
            <a:endParaRPr lang="en-US" sz="22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What we want to achieve</a:t>
            </a:r>
          </a:p>
          <a:p>
            <a:pPr marL="0" indent="0" algn="l">
              <a:buNone/>
            </a:pPr>
            <a:r>
              <a:rPr lang="en-US" sz="1600" b="0" dirty="0">
                <a:solidFill>
                  <a:schemeClr val="accent1"/>
                </a:solidFill>
              </a:rPr>
              <a:t>Success measures and who it is for</a:t>
            </a:r>
          </a:p>
        </p:txBody>
      </p:sp>
      <p:sp>
        <p:nvSpPr>
          <p:cNvPr id="3" name="Question card"/>
          <p:cNvSpPr/>
          <p:nvPr/>
        </p:nvSpPr>
        <p:spPr>
          <a:xfrm>
            <a:off x="548640" y="1508760"/>
            <a:ext cx="5120640"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4" name="Icon circle"/>
          <p:cNvSpPr/>
          <p:nvPr/>
        </p:nvSpPr>
        <p:spPr>
          <a:xfrm>
            <a:off x="868680" y="1783080"/>
            <a:ext cx="777240" cy="777240"/>
          </a:xfrm>
          <a:prstGeom prst="ellipse">
            <a:avLst/>
          </a:prstGeom>
          <a:solidFill>
            <a:schemeClr val="accent1"/>
          </a:solidFill>
          <a:ln/>
        </p:spPr>
        <p:txBody>
          <a:bodyPr/>
          <a:lstStyle/>
          <a:p>
            <a:endParaRPr lang="en-IN"/>
          </a:p>
        </p:txBody>
      </p:sp>
      <p:pic>
        <p:nvPicPr>
          <p:cNvPr id="5" name="Image 0" descr="Bullseye icon"/>
          <p:cNvPicPr>
            <a:picLocks noChangeAspect="1"/>
          </p:cNvPicPr>
          <p:nvPr/>
        </p:nvPicPr>
        <p:blipFill>
          <a:blip r:embed="rId3"/>
          <a:stretch>
            <a:fillRect/>
          </a:stretch>
        </p:blipFill>
        <p:spPr>
          <a:xfrm>
            <a:off x="1078535" y="1992935"/>
            <a:ext cx="357530" cy="357530"/>
          </a:xfrm>
          <a:prstGeom prst="rect">
            <a:avLst/>
          </a:prstGeom>
        </p:spPr>
      </p:pic>
      <p:sp>
        <p:nvSpPr>
          <p:cNvPr id="6" name="Text 3"/>
          <p:cNvSpPr txBox="1"/>
          <p:nvPr/>
        </p:nvSpPr>
        <p:spPr>
          <a:xfrm>
            <a:off x="1828800" y="1783080"/>
            <a:ext cx="3657600" cy="777240"/>
          </a:xfrm>
          <a:prstGeom prst="rect">
            <a:avLst/>
          </a:prstGeom>
          <a:noFill/>
          <a:ln/>
        </p:spPr>
        <p:txBody>
          <a:bodyPr wrap="square" lIns="0" tIns="0" rIns="0" bIns="0" rtlCol="0" anchor="ctr"/>
          <a:lstStyle/>
          <a:p>
            <a:pPr marL="0" indent="0">
              <a:buNone/>
            </a:pPr>
            <a:r>
              <a:rPr lang="en-US" sz="2400" b="1" dirty="0">
                <a:solidFill>
                  <a:schemeClr val="tx2"/>
                </a:solidFill>
              </a:rPr>
              <a:t>Our question</a:t>
            </a:r>
            <a:endParaRPr lang="en-US" sz="2400" dirty="0"/>
          </a:p>
        </p:txBody>
      </p:sp>
      <p:sp>
        <p:nvSpPr>
          <p:cNvPr id="7" name="Text 4"/>
          <p:cNvSpPr txBox="1"/>
          <p:nvPr/>
        </p:nvSpPr>
        <p:spPr>
          <a:xfrm>
            <a:off x="868680" y="2788920"/>
            <a:ext cx="4526280" cy="2011680"/>
          </a:xfrm>
          <a:prstGeom prst="rect">
            <a:avLst/>
          </a:prstGeom>
          <a:noFill/>
          <a:ln/>
        </p:spPr>
        <p:txBody>
          <a:bodyPr wrap="square" lIns="0" tIns="0" rIns="0" bIns="0" rtlCol="0" anchor="t"/>
          <a:lstStyle/>
          <a:p>
            <a:pPr marL="0" indent="0">
              <a:buNone/>
            </a:pPr>
            <a:r>
              <a:rPr lang="en-US" sz="1800" dirty="0">
                <a:solidFill>
                  <a:schemeClr val="tx1"/>
                </a:solidFill>
              </a:rPr>
              <a:t>How can a pre-screener sort applications into fast-track approval, human review or automated decline, while keeping wrong automated decisions within a safe limit?</a:t>
            </a:r>
            <a:endParaRPr lang="en-US" sz="1800" dirty="0"/>
          </a:p>
        </p:txBody>
      </p:sp>
      <p:sp>
        <p:nvSpPr>
          <p:cNvPr id="8" name="Text 5"/>
          <p:cNvSpPr txBox="1"/>
          <p:nvPr/>
        </p:nvSpPr>
        <p:spPr>
          <a:xfrm>
            <a:off x="868680" y="4480560"/>
            <a:ext cx="4480560" cy="274320"/>
          </a:xfrm>
          <a:prstGeom prst="rect">
            <a:avLst/>
          </a:prstGeom>
          <a:noFill/>
          <a:ln/>
        </p:spPr>
        <p:txBody>
          <a:bodyPr wrap="square" lIns="0" tIns="0" rIns="0" bIns="0" rtlCol="0" anchor="t"/>
          <a:lstStyle/>
          <a:p>
            <a:pPr marL="0" indent="0">
              <a:buNone/>
            </a:pPr>
            <a:r>
              <a:rPr lang="en-US" sz="1400" b="1" dirty="0">
                <a:solidFill>
                  <a:schemeClr val="accent1"/>
                </a:solidFill>
              </a:rPr>
              <a:t>Who it is for</a:t>
            </a:r>
            <a:endParaRPr lang="en-US" sz="1400" dirty="0"/>
          </a:p>
        </p:txBody>
      </p:sp>
      <p:sp>
        <p:nvSpPr>
          <p:cNvPr id="9" name="Text 6"/>
          <p:cNvSpPr txBox="1"/>
          <p:nvPr/>
        </p:nvSpPr>
        <p:spPr>
          <a:xfrm>
            <a:off x="868680" y="4800600"/>
            <a:ext cx="4480560" cy="640080"/>
          </a:xfrm>
          <a:prstGeom prst="rect">
            <a:avLst/>
          </a:prstGeom>
          <a:noFill/>
          <a:ln/>
        </p:spPr>
        <p:txBody>
          <a:bodyPr wrap="square" lIns="0" tIns="0" rIns="0" bIns="0" rtlCol="0" anchor="t"/>
          <a:lstStyle/>
          <a:p>
            <a:pPr marL="0" indent="0">
              <a:buNone/>
            </a:pPr>
            <a:r>
              <a:rPr lang="en-US" sz="1800" dirty="0">
                <a:solidFill>
                  <a:schemeClr val="tx1"/>
                </a:solidFill>
              </a:rPr>
              <a:t>The head of lending and credit operations</a:t>
            </a:r>
            <a:endParaRPr lang="en-US" sz="1800" dirty="0"/>
          </a:p>
        </p:txBody>
      </p:sp>
      <p:sp>
        <p:nvSpPr>
          <p:cNvPr id="10" name="Goal card 1"/>
          <p:cNvSpPr/>
          <p:nvPr/>
        </p:nvSpPr>
        <p:spPr>
          <a:xfrm>
            <a:off x="6035040" y="1508760"/>
            <a:ext cx="5605272" cy="1280160"/>
          </a:xfrm>
          <a:prstGeom prst="roundRect">
            <a:avLst>
              <a:gd name="adj" fmla="val 1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1" name="Icon circle"/>
          <p:cNvSpPr/>
          <p:nvPr/>
        </p:nvSpPr>
        <p:spPr>
          <a:xfrm>
            <a:off x="6309360" y="1737360"/>
            <a:ext cx="822960" cy="822960"/>
          </a:xfrm>
          <a:prstGeom prst="ellipse">
            <a:avLst/>
          </a:prstGeom>
          <a:solidFill>
            <a:schemeClr val="accent2"/>
          </a:solidFill>
          <a:ln/>
        </p:spPr>
        <p:txBody>
          <a:bodyPr/>
          <a:lstStyle/>
          <a:p>
            <a:endParaRPr lang="en-IN"/>
          </a:p>
        </p:txBody>
      </p:sp>
      <p:pic>
        <p:nvPicPr>
          <p:cNvPr id="12" name="Image 1" descr="ShieldAlt icon"/>
          <p:cNvPicPr>
            <a:picLocks noChangeAspect="1"/>
          </p:cNvPicPr>
          <p:nvPr/>
        </p:nvPicPr>
        <p:blipFill>
          <a:blip r:embed="rId4"/>
          <a:stretch>
            <a:fillRect/>
          </a:stretch>
        </p:blipFill>
        <p:spPr>
          <a:xfrm>
            <a:off x="6531559" y="1959559"/>
            <a:ext cx="378562" cy="378562"/>
          </a:xfrm>
          <a:prstGeom prst="rect">
            <a:avLst/>
          </a:prstGeom>
        </p:spPr>
      </p:pic>
      <p:sp>
        <p:nvSpPr>
          <p:cNvPr id="13" name="Text 9"/>
          <p:cNvSpPr txBox="1"/>
          <p:nvPr/>
        </p:nvSpPr>
        <p:spPr>
          <a:xfrm>
            <a:off x="7360920" y="1737360"/>
            <a:ext cx="4114800" cy="411480"/>
          </a:xfrm>
          <a:prstGeom prst="rect">
            <a:avLst/>
          </a:prstGeom>
          <a:noFill/>
          <a:ln/>
        </p:spPr>
        <p:txBody>
          <a:bodyPr wrap="square" lIns="0" tIns="0" rIns="0" bIns="0" rtlCol="0" anchor="t"/>
          <a:lstStyle/>
          <a:p>
            <a:pPr marL="0" indent="0">
              <a:buNone/>
            </a:pPr>
            <a:r>
              <a:rPr lang="en-US" sz="2200" b="1" dirty="0">
                <a:solidFill>
                  <a:schemeClr val="tx2"/>
                </a:solidFill>
              </a:rPr>
              <a:t>At most 5% wrong</a:t>
            </a:r>
            <a:endParaRPr lang="en-US" sz="2200" dirty="0"/>
          </a:p>
        </p:txBody>
      </p:sp>
      <p:sp>
        <p:nvSpPr>
          <p:cNvPr id="14" name="Text 10"/>
          <p:cNvSpPr txBox="1"/>
          <p:nvPr/>
        </p:nvSpPr>
        <p:spPr>
          <a:xfrm>
            <a:off x="7360920" y="2194560"/>
            <a:ext cx="4114800" cy="457200"/>
          </a:xfrm>
          <a:prstGeom prst="rect">
            <a:avLst/>
          </a:prstGeom>
          <a:noFill/>
          <a:ln/>
        </p:spPr>
        <p:txBody>
          <a:bodyPr wrap="square" lIns="0" tIns="0" rIns="0" bIns="0" rtlCol="0" anchor="t"/>
          <a:lstStyle/>
          <a:p>
            <a:pPr marL="0" indent="0">
              <a:buNone/>
            </a:pPr>
            <a:r>
              <a:rPr lang="en-US" sz="1600" dirty="0">
                <a:solidFill>
                  <a:schemeClr val="tx1"/>
                </a:solidFill>
              </a:rPr>
              <a:t>in each automated lane (approve and decline)</a:t>
            </a:r>
            <a:endParaRPr lang="en-US" sz="1600" dirty="0"/>
          </a:p>
        </p:txBody>
      </p:sp>
      <p:sp>
        <p:nvSpPr>
          <p:cNvPr id="15" name="Goal card 2"/>
          <p:cNvSpPr/>
          <p:nvPr/>
        </p:nvSpPr>
        <p:spPr>
          <a:xfrm>
            <a:off x="6035040" y="3131820"/>
            <a:ext cx="5605272" cy="1280160"/>
          </a:xfrm>
          <a:prstGeom prst="roundRect">
            <a:avLst>
              <a:gd name="adj" fmla="val 1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6" name="Icon circle"/>
          <p:cNvSpPr/>
          <p:nvPr/>
        </p:nvSpPr>
        <p:spPr>
          <a:xfrm>
            <a:off x="6309360" y="3360420"/>
            <a:ext cx="822960" cy="822960"/>
          </a:xfrm>
          <a:prstGeom prst="ellipse">
            <a:avLst/>
          </a:prstGeom>
          <a:solidFill>
            <a:schemeClr val="accent1"/>
          </a:solidFill>
          <a:ln/>
        </p:spPr>
        <p:txBody>
          <a:bodyPr/>
          <a:lstStyle/>
          <a:p>
            <a:endParaRPr lang="en-IN"/>
          </a:p>
        </p:txBody>
      </p:sp>
      <p:pic>
        <p:nvPicPr>
          <p:cNvPr id="17" name="Image 2" descr="ChartLine icon"/>
          <p:cNvPicPr>
            <a:picLocks noChangeAspect="1"/>
          </p:cNvPicPr>
          <p:nvPr/>
        </p:nvPicPr>
        <p:blipFill>
          <a:blip r:embed="rId5"/>
          <a:stretch>
            <a:fillRect/>
          </a:stretch>
        </p:blipFill>
        <p:spPr>
          <a:xfrm>
            <a:off x="6531559" y="3582619"/>
            <a:ext cx="378562" cy="378562"/>
          </a:xfrm>
          <a:prstGeom prst="rect">
            <a:avLst/>
          </a:prstGeom>
        </p:spPr>
      </p:pic>
      <p:sp>
        <p:nvSpPr>
          <p:cNvPr id="18" name="Text 13"/>
          <p:cNvSpPr txBox="1"/>
          <p:nvPr/>
        </p:nvSpPr>
        <p:spPr>
          <a:xfrm>
            <a:off x="7360920" y="3360420"/>
            <a:ext cx="4114800" cy="411480"/>
          </a:xfrm>
          <a:prstGeom prst="rect">
            <a:avLst/>
          </a:prstGeom>
          <a:noFill/>
          <a:ln/>
        </p:spPr>
        <p:txBody>
          <a:bodyPr wrap="square" lIns="0" tIns="0" rIns="0" bIns="0" rtlCol="0" anchor="t"/>
          <a:lstStyle/>
          <a:p>
            <a:pPr marL="0" indent="0">
              <a:buNone/>
            </a:pPr>
            <a:r>
              <a:rPr lang="en-US" sz="2200" b="1" dirty="0">
                <a:solidFill>
                  <a:schemeClr val="tx2"/>
                </a:solidFill>
              </a:rPr>
              <a:t>Strong, balanced scores</a:t>
            </a:r>
            <a:endParaRPr lang="en-US" sz="2200" dirty="0"/>
          </a:p>
        </p:txBody>
      </p:sp>
      <p:sp>
        <p:nvSpPr>
          <p:cNvPr id="19" name="Text 14"/>
          <p:cNvSpPr txBox="1"/>
          <p:nvPr/>
        </p:nvSpPr>
        <p:spPr>
          <a:xfrm>
            <a:off x="7360920" y="3817620"/>
            <a:ext cx="4114800" cy="457200"/>
          </a:xfrm>
          <a:prstGeom prst="rect">
            <a:avLst/>
          </a:prstGeom>
          <a:noFill/>
          <a:ln/>
        </p:spPr>
        <p:txBody>
          <a:bodyPr wrap="square" lIns="0" tIns="0" rIns="0" bIns="0" rtlCol="0" anchor="t"/>
          <a:lstStyle/>
          <a:p>
            <a:pPr marL="0" indent="0">
              <a:buNone/>
            </a:pPr>
            <a:r>
              <a:rPr lang="en-US" sz="1600" dirty="0">
                <a:solidFill>
                  <a:schemeClr val="tx1"/>
                </a:solidFill>
              </a:rPr>
              <a:t>ROC-AUC, precision, recall and accuracy</a:t>
            </a:r>
            <a:endParaRPr lang="en-US" sz="1600" dirty="0"/>
          </a:p>
        </p:txBody>
      </p:sp>
      <p:sp>
        <p:nvSpPr>
          <p:cNvPr id="20" name="Goal card 3"/>
          <p:cNvSpPr/>
          <p:nvPr/>
        </p:nvSpPr>
        <p:spPr>
          <a:xfrm>
            <a:off x="6035040" y="4754880"/>
            <a:ext cx="5605272" cy="1280160"/>
          </a:xfrm>
          <a:prstGeom prst="roundRect">
            <a:avLst>
              <a:gd name="adj" fmla="val 1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1" name="Icon circle"/>
          <p:cNvSpPr/>
          <p:nvPr/>
        </p:nvSpPr>
        <p:spPr>
          <a:xfrm>
            <a:off x="6309360" y="4983480"/>
            <a:ext cx="822960" cy="822960"/>
          </a:xfrm>
          <a:prstGeom prst="ellipse">
            <a:avLst/>
          </a:prstGeom>
          <a:solidFill>
            <a:schemeClr val="accent5"/>
          </a:solidFill>
          <a:ln/>
        </p:spPr>
        <p:txBody>
          <a:bodyPr/>
          <a:lstStyle/>
          <a:p>
            <a:endParaRPr lang="en-IN"/>
          </a:p>
        </p:txBody>
      </p:sp>
      <p:pic>
        <p:nvPicPr>
          <p:cNvPr id="22" name="Image 3" descr="Users icon"/>
          <p:cNvPicPr>
            <a:picLocks noChangeAspect="1"/>
          </p:cNvPicPr>
          <p:nvPr/>
        </p:nvPicPr>
        <p:blipFill>
          <a:blip r:embed="rId6"/>
          <a:stretch>
            <a:fillRect/>
          </a:stretch>
        </p:blipFill>
        <p:spPr>
          <a:xfrm>
            <a:off x="6531559" y="5205679"/>
            <a:ext cx="378562" cy="378562"/>
          </a:xfrm>
          <a:prstGeom prst="rect">
            <a:avLst/>
          </a:prstGeom>
        </p:spPr>
      </p:pic>
      <p:sp>
        <p:nvSpPr>
          <p:cNvPr id="23" name="Text 17"/>
          <p:cNvSpPr txBox="1"/>
          <p:nvPr/>
        </p:nvSpPr>
        <p:spPr>
          <a:xfrm>
            <a:off x="7360920" y="4983480"/>
            <a:ext cx="4114800" cy="411480"/>
          </a:xfrm>
          <a:prstGeom prst="rect">
            <a:avLst/>
          </a:prstGeom>
          <a:noFill/>
          <a:ln/>
        </p:spPr>
        <p:txBody>
          <a:bodyPr wrap="square" lIns="0" tIns="0" rIns="0" bIns="0" rtlCol="0" anchor="t"/>
          <a:lstStyle/>
          <a:p>
            <a:pPr marL="0" indent="0">
              <a:buNone/>
            </a:pPr>
            <a:r>
              <a:rPr lang="en-US" sz="2200" b="1" dirty="0">
                <a:solidFill>
                  <a:schemeClr val="tx2"/>
                </a:solidFill>
              </a:rPr>
              <a:t>Fair to every group</a:t>
            </a:r>
            <a:endParaRPr lang="en-US" sz="2200" dirty="0"/>
          </a:p>
        </p:txBody>
      </p:sp>
      <p:sp>
        <p:nvSpPr>
          <p:cNvPr id="24" name="Text 18"/>
          <p:cNvSpPr txBox="1"/>
          <p:nvPr/>
        </p:nvSpPr>
        <p:spPr>
          <a:xfrm>
            <a:off x="7360920" y="5440680"/>
            <a:ext cx="4114800" cy="457200"/>
          </a:xfrm>
          <a:prstGeom prst="rect">
            <a:avLst/>
          </a:prstGeom>
          <a:noFill/>
          <a:ln/>
        </p:spPr>
        <p:txBody>
          <a:bodyPr wrap="square" lIns="0" tIns="0" rIns="0" bIns="0" rtlCol="0" anchor="t"/>
          <a:lstStyle/>
          <a:p>
            <a:pPr marL="0" indent="0">
              <a:buNone/>
            </a:pPr>
            <a:r>
              <a:rPr lang="en-US" sz="1600" dirty="0">
                <a:solidFill>
                  <a:schemeClr val="tx1"/>
                </a:solidFill>
              </a:rPr>
              <a:t>results are checked across applicant groups</a:t>
            </a:r>
            <a:endParaRPr lang="en-US" sz="16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CBIM Problem Canvas</a:t>
            </a:r>
          </a:p>
          <a:p>
            <a:pPr marL="0" indent="0" algn="l">
              <a:buNone/>
            </a:pPr>
            <a:r>
              <a:rPr lang="en-US" sz="1600" b="0" dirty="0">
                <a:solidFill>
                  <a:schemeClr val="accent1"/>
                </a:solidFill>
              </a:rPr>
              <a:t>How we framed the problem</a:t>
            </a:r>
          </a:p>
        </p:txBody>
      </p:sp>
      <p:sp>
        <p:nvSpPr>
          <p:cNvPr id="101" name="Canvas card 1"/>
          <p:cNvSpPr/>
          <p:nvPr/>
        </p:nvSpPr>
        <p:spPr>
          <a:xfrm>
            <a:off x="548640" y="1508760"/>
            <a:ext cx="3474720" cy="2194560"/>
          </a:xfrm>
          <a:prstGeom prst="roundRect">
            <a:avLst>
              <a:gd name="adj" fmla="val 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02" name="Canvas accent 1"/>
          <p:cNvSpPr/>
          <p:nvPr/>
        </p:nvSpPr>
        <p:spPr>
          <a:xfrm>
            <a:off x="548640" y="1691640"/>
            <a:ext cx="64008" cy="411480"/>
          </a:xfrm>
          <a:prstGeom prst="rect">
            <a:avLst/>
          </a:prstGeom>
          <a:solidFill>
            <a:schemeClr val="accent1"/>
          </a:solidFill>
          <a:ln/>
        </p:spPr>
        <p:txBody>
          <a:bodyPr/>
          <a:lstStyle/>
          <a:p>
            <a:endParaRPr lang="en-IN"/>
          </a:p>
        </p:txBody>
      </p:sp>
      <p:sp>
        <p:nvSpPr>
          <p:cNvPr id="103" name="Canvas label 1"/>
          <p:cNvSpPr txBox="1"/>
          <p:nvPr/>
        </p:nvSpPr>
        <p:spPr>
          <a:xfrm>
            <a:off x="822960" y="1691640"/>
            <a:ext cx="2926080" cy="411480"/>
          </a:xfrm>
          <a:prstGeom prst="roundRect">
            <a:avLst/>
          </a:prstGeom>
          <a:noFill/>
          <a:ln/>
        </p:spPr>
        <p:txBody>
          <a:bodyPr wrap="square" lIns="0" tIns="0" rIns="0" bIns="0" rtlCol="0" anchor="ctr"/>
          <a:lstStyle/>
          <a:p>
            <a:pPr marL="0" indent="0">
              <a:buNone/>
            </a:pPr>
            <a:r>
              <a:rPr lang="en-US" sz="2000" b="1" dirty="0">
                <a:solidFill>
                  <a:schemeClr val="accent1"/>
                </a:solidFill>
              </a:rPr>
              <a:t>Situation</a:t>
            </a:r>
          </a:p>
        </p:txBody>
      </p:sp>
      <p:sp>
        <p:nvSpPr>
          <p:cNvPr id="104" name="Canvas text 1"/>
          <p:cNvSpPr txBox="1"/>
          <p:nvPr/>
        </p:nvSpPr>
        <p:spPr>
          <a:xfrm>
            <a:off x="822960" y="2240280"/>
            <a:ext cx="2926080" cy="1325880"/>
          </a:xfrm>
          <a:prstGeom prst="roundRect">
            <a:avLst/>
          </a:prstGeom>
          <a:noFill/>
          <a:ln/>
        </p:spPr>
        <p:txBody>
          <a:bodyPr wrap="square" lIns="0" tIns="0" rIns="0" bIns="0" rtlCol="0" anchor="t"/>
          <a:lstStyle/>
          <a:p>
            <a:pPr marL="0" indent="0">
              <a:buNone/>
            </a:pPr>
            <a:r>
              <a:rPr lang="en-US" sz="1500" b="0" dirty="0">
                <a:solidFill>
                  <a:schemeClr val="tx1"/>
                </a:solidFill>
              </a:rPr>
              <a:t>Analysts manually review loan applications that differ in income, credit history, job type and repayment load.</a:t>
            </a:r>
          </a:p>
        </p:txBody>
      </p:sp>
      <p:sp>
        <p:nvSpPr>
          <p:cNvPr id="105" name="Canvas card 2"/>
          <p:cNvSpPr/>
          <p:nvPr/>
        </p:nvSpPr>
        <p:spPr>
          <a:xfrm>
            <a:off x="4357116" y="1508760"/>
            <a:ext cx="3474720" cy="2194560"/>
          </a:xfrm>
          <a:prstGeom prst="roundRect">
            <a:avLst>
              <a:gd name="adj" fmla="val 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06" name="Canvas accent 2"/>
          <p:cNvSpPr/>
          <p:nvPr/>
        </p:nvSpPr>
        <p:spPr>
          <a:xfrm>
            <a:off x="4357116" y="1691640"/>
            <a:ext cx="64008" cy="411480"/>
          </a:xfrm>
          <a:prstGeom prst="rect">
            <a:avLst/>
          </a:prstGeom>
          <a:solidFill>
            <a:schemeClr val="accent1"/>
          </a:solidFill>
          <a:ln/>
        </p:spPr>
        <p:txBody>
          <a:bodyPr/>
          <a:lstStyle/>
          <a:p>
            <a:endParaRPr lang="en-IN"/>
          </a:p>
        </p:txBody>
      </p:sp>
      <p:sp>
        <p:nvSpPr>
          <p:cNvPr id="107" name="Canvas label 2"/>
          <p:cNvSpPr txBox="1"/>
          <p:nvPr/>
        </p:nvSpPr>
        <p:spPr>
          <a:xfrm>
            <a:off x="4631436" y="1691640"/>
            <a:ext cx="2926080" cy="411480"/>
          </a:xfrm>
          <a:prstGeom prst="roundRect">
            <a:avLst/>
          </a:prstGeom>
          <a:noFill/>
          <a:ln/>
        </p:spPr>
        <p:txBody>
          <a:bodyPr wrap="square" lIns="0" tIns="0" rIns="0" bIns="0" rtlCol="0" anchor="ctr"/>
          <a:lstStyle/>
          <a:p>
            <a:pPr marL="0" indent="0">
              <a:buNone/>
            </a:pPr>
            <a:r>
              <a:rPr lang="en-US" sz="2000" b="1" dirty="0">
                <a:solidFill>
                  <a:schemeClr val="accent1"/>
                </a:solidFill>
              </a:rPr>
              <a:t>Complication</a:t>
            </a:r>
          </a:p>
        </p:txBody>
      </p:sp>
      <p:sp>
        <p:nvSpPr>
          <p:cNvPr id="108" name="Canvas text 2"/>
          <p:cNvSpPr txBox="1"/>
          <p:nvPr/>
        </p:nvSpPr>
        <p:spPr>
          <a:xfrm>
            <a:off x="4631436" y="2240280"/>
            <a:ext cx="2926080" cy="1325880"/>
          </a:xfrm>
          <a:prstGeom prst="roundRect">
            <a:avLst/>
          </a:prstGeom>
          <a:noFill/>
          <a:ln/>
        </p:spPr>
        <p:txBody>
          <a:bodyPr wrap="square" lIns="0" tIns="0" rIns="0" bIns="0" rtlCol="0" anchor="t"/>
          <a:lstStyle/>
          <a:p>
            <a:pPr marL="0" indent="0">
              <a:buNone/>
            </a:pPr>
            <a:r>
              <a:rPr lang="en-US" sz="1500" b="0" dirty="0">
                <a:solidFill>
                  <a:schemeClr val="tx1"/>
                </a:solidFill>
              </a:rPr>
              <a:t>Reviewing every file piles up work, delays decisions, hurts customer experience and makes judgements uneven.</a:t>
            </a:r>
          </a:p>
        </p:txBody>
      </p:sp>
      <p:sp>
        <p:nvSpPr>
          <p:cNvPr id="109" name="Canvas card 3"/>
          <p:cNvSpPr/>
          <p:nvPr/>
        </p:nvSpPr>
        <p:spPr>
          <a:xfrm>
            <a:off x="8165592" y="1508760"/>
            <a:ext cx="3474720" cy="2194560"/>
          </a:xfrm>
          <a:prstGeom prst="roundRect">
            <a:avLst>
              <a:gd name="adj" fmla="val 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10" name="Canvas accent 3"/>
          <p:cNvSpPr/>
          <p:nvPr/>
        </p:nvSpPr>
        <p:spPr>
          <a:xfrm>
            <a:off x="8165592" y="1691640"/>
            <a:ext cx="64008" cy="411480"/>
          </a:xfrm>
          <a:prstGeom prst="rect">
            <a:avLst/>
          </a:prstGeom>
          <a:solidFill>
            <a:schemeClr val="accent1"/>
          </a:solidFill>
          <a:ln/>
        </p:spPr>
        <p:txBody>
          <a:bodyPr/>
          <a:lstStyle/>
          <a:p>
            <a:endParaRPr lang="en-IN"/>
          </a:p>
        </p:txBody>
      </p:sp>
      <p:sp>
        <p:nvSpPr>
          <p:cNvPr id="111" name="Canvas label 3"/>
          <p:cNvSpPr txBox="1"/>
          <p:nvPr/>
        </p:nvSpPr>
        <p:spPr>
          <a:xfrm>
            <a:off x="8439912" y="1691640"/>
            <a:ext cx="2926080" cy="411480"/>
          </a:xfrm>
          <a:prstGeom prst="roundRect">
            <a:avLst/>
          </a:prstGeom>
          <a:noFill/>
          <a:ln/>
        </p:spPr>
        <p:txBody>
          <a:bodyPr wrap="square" lIns="0" tIns="0" rIns="0" bIns="0" rtlCol="0" anchor="ctr"/>
          <a:lstStyle/>
          <a:p>
            <a:pPr marL="0" indent="0">
              <a:buNone/>
            </a:pPr>
            <a:r>
              <a:rPr lang="en-US" sz="2000" b="1" dirty="0">
                <a:solidFill>
                  <a:schemeClr val="accent1"/>
                </a:solidFill>
              </a:rPr>
              <a:t>Question</a:t>
            </a:r>
          </a:p>
        </p:txBody>
      </p:sp>
      <p:sp>
        <p:nvSpPr>
          <p:cNvPr id="112" name="Canvas text 3"/>
          <p:cNvSpPr txBox="1"/>
          <p:nvPr/>
        </p:nvSpPr>
        <p:spPr>
          <a:xfrm>
            <a:off x="8439912" y="2240280"/>
            <a:ext cx="2926080" cy="1325880"/>
          </a:xfrm>
          <a:prstGeom prst="roundRect">
            <a:avLst/>
          </a:prstGeom>
          <a:noFill/>
          <a:ln/>
        </p:spPr>
        <p:txBody>
          <a:bodyPr wrap="square" lIns="0" tIns="0" rIns="0" bIns="0" rtlCol="0" anchor="t"/>
          <a:lstStyle/>
          <a:p>
            <a:pPr marL="0" indent="0">
              <a:buNone/>
            </a:pPr>
            <a:r>
              <a:rPr lang="en-US" sz="1500" b="0" dirty="0">
                <a:solidFill>
                  <a:schemeClr val="tx1"/>
                </a:solidFill>
              </a:rPr>
              <a:t>How can a pre-screener send applications to fast-track, human review or automated decline, with wrong automated decisions kept in check?</a:t>
            </a:r>
          </a:p>
        </p:txBody>
      </p:sp>
      <p:sp>
        <p:nvSpPr>
          <p:cNvPr id="113" name="Canvas card 4"/>
          <p:cNvSpPr/>
          <p:nvPr/>
        </p:nvSpPr>
        <p:spPr>
          <a:xfrm>
            <a:off x="548640" y="3886200"/>
            <a:ext cx="3474720" cy="2194560"/>
          </a:xfrm>
          <a:prstGeom prst="roundRect">
            <a:avLst>
              <a:gd name="adj" fmla="val 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14" name="Canvas accent 4"/>
          <p:cNvSpPr/>
          <p:nvPr/>
        </p:nvSpPr>
        <p:spPr>
          <a:xfrm>
            <a:off x="548640" y="4069080"/>
            <a:ext cx="64008" cy="411480"/>
          </a:xfrm>
          <a:prstGeom prst="rect">
            <a:avLst/>
          </a:prstGeom>
          <a:solidFill>
            <a:schemeClr val="accent1"/>
          </a:solidFill>
          <a:ln/>
        </p:spPr>
        <p:txBody>
          <a:bodyPr/>
          <a:lstStyle/>
          <a:p>
            <a:endParaRPr lang="en-IN"/>
          </a:p>
        </p:txBody>
      </p:sp>
      <p:sp>
        <p:nvSpPr>
          <p:cNvPr id="115" name="Canvas label 4"/>
          <p:cNvSpPr txBox="1"/>
          <p:nvPr/>
        </p:nvSpPr>
        <p:spPr>
          <a:xfrm>
            <a:off x="822960" y="4069080"/>
            <a:ext cx="2926080" cy="411480"/>
          </a:xfrm>
          <a:prstGeom prst="roundRect">
            <a:avLst/>
          </a:prstGeom>
          <a:noFill/>
          <a:ln/>
        </p:spPr>
        <p:txBody>
          <a:bodyPr wrap="square" lIns="0" tIns="0" rIns="0" bIns="0" rtlCol="0" anchor="ctr"/>
          <a:lstStyle/>
          <a:p>
            <a:pPr marL="0" indent="0">
              <a:buNone/>
            </a:pPr>
            <a:r>
              <a:rPr lang="en-US" sz="2000" b="1" dirty="0">
                <a:solidFill>
                  <a:schemeClr val="accent1"/>
                </a:solidFill>
              </a:rPr>
              <a:t>SSOT</a:t>
            </a:r>
          </a:p>
        </p:txBody>
      </p:sp>
      <p:sp>
        <p:nvSpPr>
          <p:cNvPr id="116" name="Canvas text 4"/>
          <p:cNvSpPr txBox="1"/>
          <p:nvPr/>
        </p:nvSpPr>
        <p:spPr>
          <a:xfrm>
            <a:off x="822960" y="4617720"/>
            <a:ext cx="2926080" cy="1325880"/>
          </a:xfrm>
          <a:prstGeom prst="roundRect">
            <a:avLst/>
          </a:prstGeom>
          <a:noFill/>
          <a:ln/>
        </p:spPr>
        <p:txBody>
          <a:bodyPr wrap="square" lIns="0" tIns="0" rIns="0" bIns="0" rtlCol="0" anchor="t"/>
          <a:lstStyle/>
          <a:p>
            <a:pPr marL="0" indent="0">
              <a:buNone/>
            </a:pPr>
            <a:r>
              <a:rPr lang="en-US" sz="1500" b="0" dirty="0">
                <a:solidFill>
                  <a:schemeClr val="tx1"/>
                </a:solidFill>
              </a:rPr>
              <a:t>Single source of truth: the cleaned dataset (df_clean). Its decision column holds past outcomes (0 = Approved, 1 = Declined).</a:t>
            </a:r>
          </a:p>
        </p:txBody>
      </p:sp>
      <p:sp>
        <p:nvSpPr>
          <p:cNvPr id="117" name="Canvas card 5"/>
          <p:cNvSpPr/>
          <p:nvPr/>
        </p:nvSpPr>
        <p:spPr>
          <a:xfrm>
            <a:off x="4357116" y="3886200"/>
            <a:ext cx="3474720" cy="2194560"/>
          </a:xfrm>
          <a:prstGeom prst="roundRect">
            <a:avLst>
              <a:gd name="adj" fmla="val 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18" name="Canvas accent 5"/>
          <p:cNvSpPr/>
          <p:nvPr/>
        </p:nvSpPr>
        <p:spPr>
          <a:xfrm>
            <a:off x="4357116" y="4069080"/>
            <a:ext cx="64008" cy="411480"/>
          </a:xfrm>
          <a:prstGeom prst="rect">
            <a:avLst/>
          </a:prstGeom>
          <a:solidFill>
            <a:schemeClr val="accent1"/>
          </a:solidFill>
          <a:ln/>
        </p:spPr>
        <p:txBody>
          <a:bodyPr/>
          <a:lstStyle/>
          <a:p>
            <a:endParaRPr lang="en-IN"/>
          </a:p>
        </p:txBody>
      </p:sp>
      <p:sp>
        <p:nvSpPr>
          <p:cNvPr id="119" name="Canvas label 5"/>
          <p:cNvSpPr txBox="1"/>
          <p:nvPr/>
        </p:nvSpPr>
        <p:spPr>
          <a:xfrm>
            <a:off x="4631436" y="4069080"/>
            <a:ext cx="2926080" cy="411480"/>
          </a:xfrm>
          <a:prstGeom prst="roundRect">
            <a:avLst/>
          </a:prstGeom>
          <a:noFill/>
          <a:ln/>
        </p:spPr>
        <p:txBody>
          <a:bodyPr wrap="square" lIns="0" tIns="0" rIns="0" bIns="0" rtlCol="0" anchor="ctr"/>
          <a:lstStyle/>
          <a:p>
            <a:pPr marL="0" indent="0">
              <a:buNone/>
            </a:pPr>
            <a:r>
              <a:rPr lang="en-US" sz="2000" b="1" dirty="0">
                <a:solidFill>
                  <a:schemeClr val="accent1"/>
                </a:solidFill>
              </a:rPr>
              <a:t>Success</a:t>
            </a:r>
          </a:p>
        </p:txBody>
      </p:sp>
      <p:sp>
        <p:nvSpPr>
          <p:cNvPr id="120" name="Canvas text 5"/>
          <p:cNvSpPr txBox="1"/>
          <p:nvPr/>
        </p:nvSpPr>
        <p:spPr>
          <a:xfrm>
            <a:off x="4631436" y="4617720"/>
            <a:ext cx="2926080" cy="1325880"/>
          </a:xfrm>
          <a:prstGeom prst="roundRect">
            <a:avLst/>
          </a:prstGeom>
          <a:noFill/>
          <a:ln/>
        </p:spPr>
        <p:txBody>
          <a:bodyPr wrap="square" lIns="0" tIns="0" rIns="0" bIns="0" rtlCol="0" anchor="t"/>
          <a:lstStyle/>
          <a:p>
            <a:pPr marL="0" indent="0">
              <a:buNone/>
            </a:pPr>
            <a:r>
              <a:rPr lang="en-US" sz="1500" b="0" dirty="0">
                <a:solidFill>
                  <a:schemeClr val="tx1"/>
                </a:solidFill>
              </a:rPr>
              <a:t>At most 5% wrong in each automated lane, plus ROC-AUC, precision, recall, accuracy and fairness across groups.</a:t>
            </a:r>
          </a:p>
        </p:txBody>
      </p:sp>
      <p:sp>
        <p:nvSpPr>
          <p:cNvPr id="121" name="Canvas card 6"/>
          <p:cNvSpPr/>
          <p:nvPr/>
        </p:nvSpPr>
        <p:spPr>
          <a:xfrm>
            <a:off x="8165592" y="3886200"/>
            <a:ext cx="3474720" cy="2194560"/>
          </a:xfrm>
          <a:prstGeom prst="roundRect">
            <a:avLst>
              <a:gd name="adj" fmla="val 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22" name="Canvas accent 6"/>
          <p:cNvSpPr/>
          <p:nvPr/>
        </p:nvSpPr>
        <p:spPr>
          <a:xfrm>
            <a:off x="8165592" y="4069080"/>
            <a:ext cx="64008" cy="411480"/>
          </a:xfrm>
          <a:prstGeom prst="rect">
            <a:avLst/>
          </a:prstGeom>
          <a:solidFill>
            <a:schemeClr val="accent1"/>
          </a:solidFill>
          <a:ln/>
        </p:spPr>
        <p:txBody>
          <a:bodyPr/>
          <a:lstStyle/>
          <a:p>
            <a:endParaRPr lang="en-IN"/>
          </a:p>
        </p:txBody>
      </p:sp>
      <p:sp>
        <p:nvSpPr>
          <p:cNvPr id="123" name="Canvas label 6"/>
          <p:cNvSpPr txBox="1"/>
          <p:nvPr/>
        </p:nvSpPr>
        <p:spPr>
          <a:xfrm>
            <a:off x="8439912" y="4069080"/>
            <a:ext cx="2926080" cy="411480"/>
          </a:xfrm>
          <a:prstGeom prst="roundRect">
            <a:avLst/>
          </a:prstGeom>
          <a:noFill/>
          <a:ln/>
        </p:spPr>
        <p:txBody>
          <a:bodyPr wrap="square" lIns="0" tIns="0" rIns="0" bIns="0" rtlCol="0" anchor="ctr"/>
          <a:lstStyle/>
          <a:p>
            <a:pPr marL="0" indent="0">
              <a:buNone/>
            </a:pPr>
            <a:r>
              <a:rPr lang="en-US" sz="2000" b="1" dirty="0">
                <a:solidFill>
                  <a:schemeClr val="accent1"/>
                </a:solidFill>
              </a:rPr>
              <a:t>Stakeholder</a:t>
            </a:r>
          </a:p>
        </p:txBody>
      </p:sp>
      <p:sp>
        <p:nvSpPr>
          <p:cNvPr id="124" name="Canvas text 6"/>
          <p:cNvSpPr txBox="1"/>
          <p:nvPr/>
        </p:nvSpPr>
        <p:spPr>
          <a:xfrm>
            <a:off x="8439912" y="4617720"/>
            <a:ext cx="2926080" cy="1325880"/>
          </a:xfrm>
          <a:prstGeom prst="roundRect">
            <a:avLst/>
          </a:prstGeom>
          <a:noFill/>
          <a:ln/>
        </p:spPr>
        <p:txBody>
          <a:bodyPr wrap="square" lIns="0" tIns="0" rIns="0" bIns="0" rtlCol="0" anchor="t"/>
          <a:lstStyle/>
          <a:p>
            <a:pPr marL="0" indent="0">
              <a:buNone/>
            </a:pPr>
            <a:r>
              <a:rPr lang="en-US" sz="1500" b="0" dirty="0">
                <a:solidFill>
                  <a:schemeClr val="tx1"/>
                </a:solidFill>
              </a:rPr>
              <a:t>Head of lending and credit operations, balancing speed, workload, risk and customer experience. Also analysts, applicants and compliance.</a:t>
            </a:r>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5.1  Load, inspect and clean</a:t>
            </a:r>
          </a:p>
          <a:p>
            <a:pPr marL="0" indent="0" algn="l">
              <a:buNone/>
            </a:pPr>
            <a:r>
              <a:rPr lang="en-US" sz="1600" b="0" dirty="0">
                <a:solidFill>
                  <a:schemeClr val="accent1"/>
                </a:solidFill>
              </a:rPr>
              <a:t>Meet the data</a:t>
            </a:r>
          </a:p>
        </p:txBody>
      </p:sp>
      <p:sp>
        <p:nvSpPr>
          <p:cNvPr id="3" name="Chart card"/>
          <p:cNvSpPr/>
          <p:nvPr/>
        </p:nvSpPr>
        <p:spPr>
          <a:xfrm>
            <a:off x="548640" y="1508760"/>
            <a:ext cx="4480560" cy="4526280"/>
          </a:xfrm>
          <a:prstGeom prst="roundRect">
            <a:avLst>
              <a:gd name="adj" fmla="val 2857"/>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685800" y="1645920"/>
          <a:ext cx="420624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 card 1"/>
          <p:cNvSpPr/>
          <p:nvPr/>
        </p:nvSpPr>
        <p:spPr>
          <a:xfrm>
            <a:off x="5303520" y="1508760"/>
            <a:ext cx="1965960" cy="1691640"/>
          </a:xfrm>
          <a:prstGeom prst="roundRect">
            <a:avLst>
              <a:gd name="adj" fmla="val 756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6" name="Text 3"/>
          <p:cNvSpPr txBox="1"/>
          <p:nvPr/>
        </p:nvSpPr>
        <p:spPr>
          <a:xfrm>
            <a:off x="5440680" y="1691640"/>
            <a:ext cx="1691640" cy="731520"/>
          </a:xfrm>
          <a:prstGeom prst="rect">
            <a:avLst/>
          </a:prstGeom>
          <a:noFill/>
          <a:ln/>
        </p:spPr>
        <p:txBody>
          <a:bodyPr wrap="square" lIns="0" tIns="0" rIns="0" bIns="0" rtlCol="0" anchor="ctr"/>
          <a:lstStyle/>
          <a:p>
            <a:pPr marL="0" indent="0" algn="ctr">
              <a:buNone/>
            </a:pPr>
            <a:r>
              <a:rPr lang="en-US" sz="3600" b="1" dirty="0">
                <a:solidFill>
                  <a:schemeClr val="accent1"/>
                </a:solidFill>
              </a:rPr>
              <a:t>12,000</a:t>
            </a:r>
            <a:endParaRPr lang="en-US" sz="3600" dirty="0"/>
          </a:p>
        </p:txBody>
      </p:sp>
      <p:sp>
        <p:nvSpPr>
          <p:cNvPr id="7" name="Text 4"/>
          <p:cNvSpPr txBox="1"/>
          <p:nvPr/>
        </p:nvSpPr>
        <p:spPr>
          <a:xfrm>
            <a:off x="5440680" y="2468880"/>
            <a:ext cx="1691640" cy="548640"/>
          </a:xfrm>
          <a:prstGeom prst="rect">
            <a:avLst/>
          </a:prstGeom>
          <a:noFill/>
          <a:ln/>
        </p:spPr>
        <p:txBody>
          <a:bodyPr wrap="square" lIns="0" tIns="0" rIns="0" bIns="0" rtlCol="0" anchor="t"/>
          <a:lstStyle/>
          <a:p>
            <a:pPr marL="0" indent="0" algn="ctr">
              <a:buNone/>
            </a:pPr>
            <a:r>
              <a:rPr lang="en-US" sz="1500" dirty="0">
                <a:solidFill>
                  <a:schemeClr val="tx1"/>
                </a:solidFill>
              </a:rPr>
              <a:t>loan applications</a:t>
            </a:r>
            <a:endParaRPr lang="en-US" sz="1500" dirty="0"/>
          </a:p>
        </p:txBody>
      </p:sp>
      <p:sp>
        <p:nvSpPr>
          <p:cNvPr id="8" name="Stat card 2"/>
          <p:cNvSpPr/>
          <p:nvPr/>
        </p:nvSpPr>
        <p:spPr>
          <a:xfrm>
            <a:off x="7488936" y="1508760"/>
            <a:ext cx="1965960" cy="1691640"/>
          </a:xfrm>
          <a:prstGeom prst="roundRect">
            <a:avLst>
              <a:gd name="adj" fmla="val 756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9" name="Text 6"/>
          <p:cNvSpPr txBox="1"/>
          <p:nvPr/>
        </p:nvSpPr>
        <p:spPr>
          <a:xfrm>
            <a:off x="7626096" y="1691640"/>
            <a:ext cx="1691640" cy="731520"/>
          </a:xfrm>
          <a:prstGeom prst="rect">
            <a:avLst/>
          </a:prstGeom>
          <a:noFill/>
          <a:ln/>
        </p:spPr>
        <p:txBody>
          <a:bodyPr wrap="square" lIns="0" tIns="0" rIns="0" bIns="0" rtlCol="0" anchor="ctr"/>
          <a:lstStyle/>
          <a:p>
            <a:pPr marL="0" indent="0" algn="ctr">
              <a:buNone/>
            </a:pPr>
            <a:r>
              <a:rPr lang="en-US" sz="3600" b="1" dirty="0">
                <a:solidFill>
                  <a:schemeClr val="accent1"/>
                </a:solidFill>
              </a:rPr>
              <a:t>19</a:t>
            </a:r>
            <a:endParaRPr lang="en-US" sz="3600" dirty="0"/>
          </a:p>
        </p:txBody>
      </p:sp>
      <p:sp>
        <p:nvSpPr>
          <p:cNvPr id="10" name="Text 7"/>
          <p:cNvSpPr txBox="1"/>
          <p:nvPr/>
        </p:nvSpPr>
        <p:spPr>
          <a:xfrm>
            <a:off x="7626096" y="2468880"/>
            <a:ext cx="1691640" cy="548640"/>
          </a:xfrm>
          <a:prstGeom prst="rect">
            <a:avLst/>
          </a:prstGeom>
          <a:noFill/>
          <a:ln/>
        </p:spPr>
        <p:txBody>
          <a:bodyPr wrap="square" lIns="0" tIns="0" rIns="0" bIns="0" rtlCol="0" anchor="t"/>
          <a:lstStyle/>
          <a:p>
            <a:pPr marL="0" indent="0" algn="ctr">
              <a:buNone/>
            </a:pPr>
            <a:r>
              <a:rPr lang="en-US" sz="1500" dirty="0">
                <a:solidFill>
                  <a:schemeClr val="tx1"/>
                </a:solidFill>
              </a:rPr>
              <a:t>columns of details</a:t>
            </a:r>
            <a:endParaRPr lang="en-US" sz="1500" dirty="0"/>
          </a:p>
        </p:txBody>
      </p:sp>
      <p:sp>
        <p:nvSpPr>
          <p:cNvPr id="11" name="Stat card 3"/>
          <p:cNvSpPr/>
          <p:nvPr/>
        </p:nvSpPr>
        <p:spPr>
          <a:xfrm>
            <a:off x="9674352" y="1508760"/>
            <a:ext cx="1965960" cy="1691640"/>
          </a:xfrm>
          <a:prstGeom prst="roundRect">
            <a:avLst>
              <a:gd name="adj" fmla="val 756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2" name="Text 9"/>
          <p:cNvSpPr txBox="1"/>
          <p:nvPr/>
        </p:nvSpPr>
        <p:spPr>
          <a:xfrm>
            <a:off x="9811512" y="1691640"/>
            <a:ext cx="1691640" cy="731520"/>
          </a:xfrm>
          <a:prstGeom prst="rect">
            <a:avLst/>
          </a:prstGeom>
          <a:noFill/>
          <a:ln/>
        </p:spPr>
        <p:txBody>
          <a:bodyPr wrap="square" lIns="0" tIns="0" rIns="0" bIns="0" rtlCol="0" anchor="ctr"/>
          <a:lstStyle/>
          <a:p>
            <a:pPr marL="0" indent="0" algn="ctr">
              <a:buNone/>
            </a:pPr>
            <a:r>
              <a:rPr lang="en-US" sz="3600" b="1" dirty="0">
                <a:solidFill>
                  <a:schemeClr val="accent1"/>
                </a:solidFill>
              </a:rPr>
              <a:t>52.94%</a:t>
            </a:r>
            <a:endParaRPr lang="en-US" sz="3600" dirty="0"/>
          </a:p>
        </p:txBody>
      </p:sp>
      <p:sp>
        <p:nvSpPr>
          <p:cNvPr id="13" name="Text 10"/>
          <p:cNvSpPr txBox="1"/>
          <p:nvPr/>
        </p:nvSpPr>
        <p:spPr>
          <a:xfrm>
            <a:off x="9811512" y="2468880"/>
            <a:ext cx="1691640" cy="548640"/>
          </a:xfrm>
          <a:prstGeom prst="rect">
            <a:avLst/>
          </a:prstGeom>
          <a:noFill/>
          <a:ln/>
        </p:spPr>
        <p:txBody>
          <a:bodyPr wrap="square" lIns="0" tIns="0" rIns="0" bIns="0" rtlCol="0" anchor="t"/>
          <a:lstStyle/>
          <a:p>
            <a:pPr marL="0" indent="0" algn="ctr">
              <a:buNone/>
            </a:pPr>
            <a:r>
              <a:rPr lang="en-US" sz="1500" dirty="0">
                <a:solidFill>
                  <a:schemeClr val="tx1"/>
                </a:solidFill>
              </a:rPr>
              <a:t>were approved</a:t>
            </a:r>
            <a:endParaRPr lang="en-US" sz="1500" dirty="0"/>
          </a:p>
        </p:txBody>
      </p:sp>
      <p:sp>
        <p:nvSpPr>
          <p:cNvPr id="14" name="Columns card"/>
          <p:cNvSpPr/>
          <p:nvPr/>
        </p:nvSpPr>
        <p:spPr>
          <a:xfrm>
            <a:off x="5303520" y="3474720"/>
            <a:ext cx="6336792" cy="2560320"/>
          </a:xfrm>
          <a:prstGeom prst="roundRect">
            <a:avLst>
              <a:gd name="adj" fmla="val 5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5" name="Text 12"/>
          <p:cNvSpPr txBox="1"/>
          <p:nvPr/>
        </p:nvSpPr>
        <p:spPr>
          <a:xfrm>
            <a:off x="5577840" y="3657600"/>
            <a:ext cx="5760720" cy="365760"/>
          </a:xfrm>
          <a:prstGeom prst="rect">
            <a:avLst/>
          </a:prstGeom>
          <a:noFill/>
          <a:ln/>
        </p:spPr>
        <p:txBody>
          <a:bodyPr wrap="square" lIns="0" tIns="0" rIns="0" bIns="0" rtlCol="0" anchor="t"/>
          <a:lstStyle/>
          <a:p>
            <a:pPr marL="0" indent="0">
              <a:buNone/>
            </a:pPr>
            <a:r>
              <a:rPr lang="en-US" sz="1800" b="1" dirty="0">
                <a:solidFill>
                  <a:schemeClr val="tx2"/>
                </a:solidFill>
              </a:rPr>
              <a:t>What each application tells us</a:t>
            </a:r>
            <a:endParaRPr lang="en-US" sz="1800" dirty="0"/>
          </a:p>
        </p:txBody>
      </p:sp>
      <p:sp>
        <p:nvSpPr>
          <p:cNvPr id="16" name="Chip 1"/>
          <p:cNvSpPr/>
          <p:nvPr/>
        </p:nvSpPr>
        <p:spPr>
          <a:xfrm>
            <a:off x="5577840" y="4206240"/>
            <a:ext cx="2743200" cy="777240"/>
          </a:xfrm>
          <a:prstGeom prst="roundRect">
            <a:avLst>
              <a:gd name="adj" fmla="val 11765"/>
            </a:avLst>
          </a:prstGeom>
          <a:solidFill>
            <a:schemeClr val="bg2"/>
          </a:solidFill>
          <a:ln/>
        </p:spPr>
        <p:txBody>
          <a:bodyPr/>
          <a:lstStyle/>
          <a:p>
            <a:endParaRPr lang="en-IN"/>
          </a:p>
        </p:txBody>
      </p:sp>
      <p:sp>
        <p:nvSpPr>
          <p:cNvPr id="17" name="Text 14"/>
          <p:cNvSpPr txBox="1"/>
          <p:nvPr/>
        </p:nvSpPr>
        <p:spPr>
          <a:xfrm>
            <a:off x="5715000" y="4206240"/>
            <a:ext cx="2514600" cy="777240"/>
          </a:xfrm>
          <a:prstGeom prst="rect">
            <a:avLst/>
          </a:prstGeom>
          <a:noFill/>
          <a:ln/>
        </p:spPr>
        <p:txBody>
          <a:bodyPr wrap="square" lIns="0" tIns="0" rIns="0" bIns="0" rtlCol="0" anchor="ctr"/>
          <a:lstStyle/>
          <a:p>
            <a:pPr marL="0" indent="0">
              <a:buNone/>
            </a:pPr>
            <a:r>
              <a:rPr lang="en-US" sz="1400" b="1" dirty="0">
                <a:solidFill>
                  <a:schemeClr val="tx2"/>
                </a:solidFill>
              </a:rPr>
              <a:t>About the person</a:t>
            </a:r>
            <a:endParaRPr lang="en-US" sz="1400" dirty="0"/>
          </a:p>
          <a:p>
            <a:pPr marL="0" indent="0">
              <a:buNone/>
            </a:pPr>
            <a:r>
              <a:rPr lang="en-US" sz="1400" dirty="0">
                <a:solidFill>
                  <a:schemeClr val="tx1"/>
                </a:solidFill>
              </a:rPr>
              <a:t>age, gender, city</a:t>
            </a:r>
            <a:endParaRPr lang="en-US" sz="1400" dirty="0"/>
          </a:p>
        </p:txBody>
      </p:sp>
      <p:sp>
        <p:nvSpPr>
          <p:cNvPr id="18" name="Chip 2"/>
          <p:cNvSpPr/>
          <p:nvPr/>
        </p:nvSpPr>
        <p:spPr>
          <a:xfrm>
            <a:off x="8503920" y="4206240"/>
            <a:ext cx="2743200" cy="777240"/>
          </a:xfrm>
          <a:prstGeom prst="roundRect">
            <a:avLst>
              <a:gd name="adj" fmla="val 11765"/>
            </a:avLst>
          </a:prstGeom>
          <a:solidFill>
            <a:schemeClr val="bg2"/>
          </a:solidFill>
          <a:ln/>
        </p:spPr>
        <p:txBody>
          <a:bodyPr/>
          <a:lstStyle/>
          <a:p>
            <a:endParaRPr lang="en-IN"/>
          </a:p>
        </p:txBody>
      </p:sp>
      <p:sp>
        <p:nvSpPr>
          <p:cNvPr id="19" name="Text 16"/>
          <p:cNvSpPr txBox="1"/>
          <p:nvPr/>
        </p:nvSpPr>
        <p:spPr>
          <a:xfrm>
            <a:off x="8641080" y="4206240"/>
            <a:ext cx="2514600" cy="777240"/>
          </a:xfrm>
          <a:prstGeom prst="rect">
            <a:avLst/>
          </a:prstGeom>
          <a:noFill/>
          <a:ln/>
        </p:spPr>
        <p:txBody>
          <a:bodyPr wrap="square" lIns="0" tIns="0" rIns="0" bIns="0" rtlCol="0" anchor="ctr"/>
          <a:lstStyle/>
          <a:p>
            <a:pPr marL="0" indent="0">
              <a:buNone/>
            </a:pPr>
            <a:r>
              <a:rPr lang="en-US" sz="1400" b="1" dirty="0">
                <a:solidFill>
                  <a:schemeClr val="tx2"/>
                </a:solidFill>
              </a:rPr>
              <a:t>Job and income</a:t>
            </a:r>
            <a:endParaRPr lang="en-US" sz="1400" dirty="0"/>
          </a:p>
          <a:p>
            <a:pPr marL="0" indent="0">
              <a:buNone/>
            </a:pPr>
            <a:r>
              <a:rPr lang="en-US" sz="1400" dirty="0">
                <a:solidFill>
                  <a:schemeClr val="tx1"/>
                </a:solidFill>
              </a:rPr>
              <a:t>job type, monthly income</a:t>
            </a:r>
            <a:endParaRPr lang="en-US" sz="1400" dirty="0"/>
          </a:p>
        </p:txBody>
      </p:sp>
      <p:sp>
        <p:nvSpPr>
          <p:cNvPr id="20" name="Chip 3"/>
          <p:cNvSpPr/>
          <p:nvPr/>
        </p:nvSpPr>
        <p:spPr>
          <a:xfrm>
            <a:off x="5577840" y="5120640"/>
            <a:ext cx="2743200" cy="777240"/>
          </a:xfrm>
          <a:prstGeom prst="roundRect">
            <a:avLst>
              <a:gd name="adj" fmla="val 11765"/>
            </a:avLst>
          </a:prstGeom>
          <a:solidFill>
            <a:schemeClr val="bg2"/>
          </a:solidFill>
          <a:ln/>
        </p:spPr>
        <p:txBody>
          <a:bodyPr/>
          <a:lstStyle/>
          <a:p>
            <a:endParaRPr lang="en-IN"/>
          </a:p>
        </p:txBody>
      </p:sp>
      <p:sp>
        <p:nvSpPr>
          <p:cNvPr id="21" name="Text 18"/>
          <p:cNvSpPr txBox="1"/>
          <p:nvPr/>
        </p:nvSpPr>
        <p:spPr>
          <a:xfrm>
            <a:off x="5715000" y="5120640"/>
            <a:ext cx="2514600" cy="777240"/>
          </a:xfrm>
          <a:prstGeom prst="rect">
            <a:avLst/>
          </a:prstGeom>
          <a:noFill/>
          <a:ln/>
        </p:spPr>
        <p:txBody>
          <a:bodyPr wrap="square" lIns="0" tIns="0" rIns="0" bIns="0" rtlCol="0" anchor="ctr"/>
          <a:lstStyle/>
          <a:p>
            <a:pPr marL="0" indent="0">
              <a:buNone/>
            </a:pPr>
            <a:r>
              <a:rPr lang="en-US" sz="1400" b="1" dirty="0">
                <a:solidFill>
                  <a:schemeClr val="tx2"/>
                </a:solidFill>
              </a:rPr>
              <a:t>Credit history</a:t>
            </a:r>
            <a:endParaRPr lang="en-US" sz="1400" dirty="0"/>
          </a:p>
          <a:p>
            <a:pPr marL="0" indent="0">
              <a:buNone/>
            </a:pPr>
            <a:r>
              <a:rPr lang="en-US" sz="1400" dirty="0">
                <a:solidFill>
                  <a:schemeClr val="tx1"/>
                </a:solidFill>
              </a:rPr>
              <a:t>score, loans, late payments</a:t>
            </a:r>
            <a:endParaRPr lang="en-US" sz="1400" dirty="0"/>
          </a:p>
        </p:txBody>
      </p:sp>
      <p:sp>
        <p:nvSpPr>
          <p:cNvPr id="22" name="Chip 4"/>
          <p:cNvSpPr/>
          <p:nvPr/>
        </p:nvSpPr>
        <p:spPr>
          <a:xfrm>
            <a:off x="8503920" y="5120640"/>
            <a:ext cx="2743200" cy="777240"/>
          </a:xfrm>
          <a:prstGeom prst="roundRect">
            <a:avLst>
              <a:gd name="adj" fmla="val 11765"/>
            </a:avLst>
          </a:prstGeom>
          <a:solidFill>
            <a:schemeClr val="bg2"/>
          </a:solidFill>
          <a:ln/>
        </p:spPr>
        <p:txBody>
          <a:bodyPr/>
          <a:lstStyle/>
          <a:p>
            <a:endParaRPr lang="en-IN"/>
          </a:p>
        </p:txBody>
      </p:sp>
      <p:sp>
        <p:nvSpPr>
          <p:cNvPr id="23" name="Text 20"/>
          <p:cNvSpPr txBox="1"/>
          <p:nvPr/>
        </p:nvSpPr>
        <p:spPr>
          <a:xfrm>
            <a:off x="8641080" y="5120640"/>
            <a:ext cx="2514600" cy="777240"/>
          </a:xfrm>
          <a:prstGeom prst="rect">
            <a:avLst/>
          </a:prstGeom>
          <a:noFill/>
          <a:ln/>
        </p:spPr>
        <p:txBody>
          <a:bodyPr wrap="square" lIns="0" tIns="0" rIns="0" bIns="0" rtlCol="0" anchor="ctr"/>
          <a:lstStyle/>
          <a:p>
            <a:pPr marL="0" indent="0">
              <a:buNone/>
            </a:pPr>
            <a:r>
              <a:rPr lang="en-US" sz="1400" b="1" dirty="0">
                <a:solidFill>
                  <a:schemeClr val="tx2"/>
                </a:solidFill>
              </a:rPr>
              <a:t>The loan</a:t>
            </a:r>
            <a:endParaRPr lang="en-US" sz="1400" dirty="0"/>
          </a:p>
          <a:p>
            <a:pPr marL="0" indent="0">
              <a:buNone/>
            </a:pPr>
            <a:r>
              <a:rPr lang="en-US" sz="1400" dirty="0">
                <a:solidFill>
                  <a:schemeClr val="tx1"/>
                </a:solidFill>
              </a:rPr>
              <a:t>purpose, amount, EMI</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5.1  Load, inspect and clean</a:t>
            </a:r>
          </a:p>
          <a:p>
            <a:pPr marL="0" indent="0" algn="l">
              <a:buNone/>
            </a:pPr>
            <a:r>
              <a:rPr lang="en-US" sz="1600" b="0" dirty="0">
                <a:solidFill>
                  <a:schemeClr val="accent1"/>
                </a:solidFill>
              </a:rPr>
              <a:t>Tidying up the data</a:t>
            </a:r>
          </a:p>
        </p:txBody>
      </p:sp>
      <p:sp>
        <p:nvSpPr>
          <p:cNvPr id="3" name="Fix card 1"/>
          <p:cNvSpPr/>
          <p:nvPr/>
        </p:nvSpPr>
        <p:spPr>
          <a:xfrm>
            <a:off x="548640" y="1508760"/>
            <a:ext cx="3474720" cy="3429000"/>
          </a:xfrm>
          <a:prstGeom prst="roundRect">
            <a:avLst>
              <a:gd name="adj" fmla="val 3733"/>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4" name="Text 2"/>
          <p:cNvSpPr txBox="1"/>
          <p:nvPr/>
        </p:nvSpPr>
        <p:spPr>
          <a:xfrm>
            <a:off x="822960" y="1737360"/>
            <a:ext cx="2926080" cy="914400"/>
          </a:xfrm>
          <a:prstGeom prst="rect">
            <a:avLst/>
          </a:prstGeom>
          <a:noFill/>
          <a:ln/>
        </p:spPr>
        <p:txBody>
          <a:bodyPr wrap="square" lIns="0" tIns="0" rIns="0" bIns="0" rtlCol="0" anchor="ctr"/>
          <a:lstStyle/>
          <a:p>
            <a:pPr marL="0" indent="0">
              <a:buNone/>
            </a:pPr>
            <a:r>
              <a:rPr lang="en-US" sz="5400" b="1" dirty="0">
                <a:solidFill>
                  <a:schemeClr val="accent2"/>
                </a:solidFill>
              </a:rPr>
              <a:t>17</a:t>
            </a:r>
            <a:endParaRPr lang="en-US" sz="5400" dirty="0"/>
          </a:p>
        </p:txBody>
      </p:sp>
      <p:sp>
        <p:nvSpPr>
          <p:cNvPr id="5" name="Text 3"/>
          <p:cNvSpPr txBox="1"/>
          <p:nvPr/>
        </p:nvSpPr>
        <p:spPr>
          <a:xfrm>
            <a:off x="822960" y="2743200"/>
            <a:ext cx="2926080" cy="457200"/>
          </a:xfrm>
          <a:prstGeom prst="rect">
            <a:avLst/>
          </a:prstGeom>
          <a:noFill/>
          <a:ln/>
        </p:spPr>
        <p:txBody>
          <a:bodyPr wrap="square" lIns="0" tIns="0" rIns="0" bIns="0" rtlCol="0" anchor="t"/>
          <a:lstStyle/>
          <a:p>
            <a:pPr marL="0" indent="0">
              <a:buNone/>
            </a:pPr>
            <a:r>
              <a:rPr lang="en-US" sz="2000" b="1" dirty="0">
                <a:solidFill>
                  <a:schemeClr val="tx2"/>
                </a:solidFill>
              </a:rPr>
              <a:t>Oversized incomes</a:t>
            </a:r>
            <a:endParaRPr lang="en-US" sz="2000" dirty="0"/>
          </a:p>
        </p:txBody>
      </p:sp>
      <p:sp>
        <p:nvSpPr>
          <p:cNvPr id="6" name="Text 4"/>
          <p:cNvSpPr txBox="1"/>
          <p:nvPr/>
        </p:nvSpPr>
        <p:spPr>
          <a:xfrm>
            <a:off x="822960" y="3246120"/>
            <a:ext cx="2926080" cy="1554480"/>
          </a:xfrm>
          <a:prstGeom prst="rect">
            <a:avLst/>
          </a:prstGeom>
          <a:noFill/>
          <a:ln/>
        </p:spPr>
        <p:txBody>
          <a:bodyPr wrap="square" lIns="0" tIns="0" rIns="0" bIns="0" rtlCol="0" anchor="t"/>
          <a:lstStyle/>
          <a:p>
            <a:pPr marL="0" indent="0">
              <a:buNone/>
            </a:pPr>
            <a:r>
              <a:rPr lang="en-US" sz="1600" dirty="0">
                <a:solidFill>
                  <a:schemeClr val="tx1"/>
                </a:solidFill>
              </a:rPr>
              <a:t>Monthly incomes above ₹4,00,000 needed verification. They looked like yearly amounts, so we divided them by 12.</a:t>
            </a:r>
            <a:endParaRPr lang="en-US" sz="1600" dirty="0"/>
          </a:p>
        </p:txBody>
      </p:sp>
      <p:sp>
        <p:nvSpPr>
          <p:cNvPr id="7" name="Fix card 2"/>
          <p:cNvSpPr/>
          <p:nvPr/>
        </p:nvSpPr>
        <p:spPr>
          <a:xfrm>
            <a:off x="4357116" y="1508760"/>
            <a:ext cx="3474720" cy="3429000"/>
          </a:xfrm>
          <a:prstGeom prst="roundRect">
            <a:avLst>
              <a:gd name="adj" fmla="val 3733"/>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8" name="Text 6"/>
          <p:cNvSpPr txBox="1"/>
          <p:nvPr/>
        </p:nvSpPr>
        <p:spPr>
          <a:xfrm>
            <a:off x="4631436" y="1737360"/>
            <a:ext cx="2926080" cy="914400"/>
          </a:xfrm>
          <a:prstGeom prst="rect">
            <a:avLst/>
          </a:prstGeom>
          <a:noFill/>
          <a:ln/>
        </p:spPr>
        <p:txBody>
          <a:bodyPr wrap="square" lIns="0" tIns="0" rIns="0" bIns="0" rtlCol="0" anchor="ctr"/>
          <a:lstStyle/>
          <a:p>
            <a:pPr marL="0" indent="0">
              <a:buNone/>
            </a:pPr>
            <a:r>
              <a:rPr lang="en-US" sz="5400" b="1" dirty="0">
                <a:solidFill>
                  <a:schemeClr val="accent3"/>
                </a:solidFill>
              </a:rPr>
              <a:t>441</a:t>
            </a:r>
            <a:endParaRPr lang="en-US" sz="5400" dirty="0"/>
          </a:p>
        </p:txBody>
      </p:sp>
      <p:sp>
        <p:nvSpPr>
          <p:cNvPr id="9" name="Text 7"/>
          <p:cNvSpPr txBox="1"/>
          <p:nvPr/>
        </p:nvSpPr>
        <p:spPr>
          <a:xfrm>
            <a:off x="4631436" y="2743200"/>
            <a:ext cx="2926080" cy="457200"/>
          </a:xfrm>
          <a:prstGeom prst="rect">
            <a:avLst/>
          </a:prstGeom>
          <a:noFill/>
          <a:ln/>
        </p:spPr>
        <p:txBody>
          <a:bodyPr wrap="square" lIns="0" tIns="0" rIns="0" bIns="0" rtlCol="0" anchor="t"/>
          <a:lstStyle/>
          <a:p>
            <a:pPr marL="0" indent="0">
              <a:buNone/>
            </a:pPr>
            <a:r>
              <a:rPr lang="en-US" sz="2000" b="1" dirty="0">
                <a:solidFill>
                  <a:schemeClr val="tx2"/>
                </a:solidFill>
              </a:rPr>
              <a:t>Missing incomes</a:t>
            </a:r>
            <a:endParaRPr lang="en-US" sz="2000" dirty="0"/>
          </a:p>
        </p:txBody>
      </p:sp>
      <p:sp>
        <p:nvSpPr>
          <p:cNvPr id="10" name="Text 8"/>
          <p:cNvSpPr txBox="1"/>
          <p:nvPr/>
        </p:nvSpPr>
        <p:spPr>
          <a:xfrm>
            <a:off x="4631436" y="3246120"/>
            <a:ext cx="2926080" cy="1554480"/>
          </a:xfrm>
          <a:prstGeom prst="rect">
            <a:avLst/>
          </a:prstGeom>
          <a:noFill/>
          <a:ln/>
        </p:spPr>
        <p:txBody>
          <a:bodyPr wrap="square" lIns="0" tIns="0" rIns="0" bIns="0" rtlCol="0" anchor="t"/>
          <a:lstStyle/>
          <a:p>
            <a:pPr marL="0" indent="0">
              <a:buNone/>
            </a:pPr>
            <a:r>
              <a:rPr lang="en-US" sz="1600" dirty="0">
                <a:solidFill>
                  <a:schemeClr val="tx1"/>
                </a:solidFill>
              </a:rPr>
              <a:t>Mostly Business Owners (227) and Self-Employed Professionals (154). Filled with the typical income of the same job type.</a:t>
            </a:r>
            <a:endParaRPr lang="en-US" sz="1600" dirty="0"/>
          </a:p>
        </p:txBody>
      </p:sp>
      <p:sp>
        <p:nvSpPr>
          <p:cNvPr id="11" name="Fix card 3"/>
          <p:cNvSpPr/>
          <p:nvPr/>
        </p:nvSpPr>
        <p:spPr>
          <a:xfrm>
            <a:off x="8165592" y="1508760"/>
            <a:ext cx="3474720" cy="3429000"/>
          </a:xfrm>
          <a:prstGeom prst="roundRect">
            <a:avLst>
              <a:gd name="adj" fmla="val 3733"/>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2" name="Text 10"/>
          <p:cNvSpPr txBox="1"/>
          <p:nvPr/>
        </p:nvSpPr>
        <p:spPr>
          <a:xfrm>
            <a:off x="8439912" y="1737360"/>
            <a:ext cx="2926080" cy="914400"/>
          </a:xfrm>
          <a:prstGeom prst="rect">
            <a:avLst/>
          </a:prstGeom>
          <a:noFill/>
          <a:ln/>
        </p:spPr>
        <p:txBody>
          <a:bodyPr wrap="square" lIns="0" tIns="0" rIns="0" bIns="0" rtlCol="0" anchor="ctr"/>
          <a:lstStyle/>
          <a:p>
            <a:pPr marL="0" indent="0">
              <a:buNone/>
            </a:pPr>
            <a:r>
              <a:rPr lang="en-US" sz="5400" b="1" dirty="0">
                <a:solidFill>
                  <a:schemeClr val="accent5"/>
                </a:solidFill>
              </a:rPr>
              <a:t>1,039</a:t>
            </a:r>
            <a:endParaRPr lang="en-US" sz="5400" dirty="0"/>
          </a:p>
        </p:txBody>
      </p:sp>
      <p:sp>
        <p:nvSpPr>
          <p:cNvPr id="13" name="Text 11"/>
          <p:cNvSpPr txBox="1"/>
          <p:nvPr/>
        </p:nvSpPr>
        <p:spPr>
          <a:xfrm>
            <a:off x="8439912" y="2743200"/>
            <a:ext cx="2926080" cy="457200"/>
          </a:xfrm>
          <a:prstGeom prst="rect">
            <a:avLst/>
          </a:prstGeom>
          <a:noFill/>
          <a:ln/>
        </p:spPr>
        <p:txBody>
          <a:bodyPr wrap="square" lIns="0" tIns="0" rIns="0" bIns="0" rtlCol="0" anchor="t"/>
          <a:lstStyle/>
          <a:p>
            <a:pPr marL="0" indent="0">
              <a:buNone/>
            </a:pPr>
            <a:r>
              <a:rPr lang="en-US" sz="2000" b="1" dirty="0">
                <a:solidFill>
                  <a:schemeClr val="tx2"/>
                </a:solidFill>
              </a:rPr>
              <a:t>Missing credit scores</a:t>
            </a:r>
            <a:endParaRPr lang="en-US" sz="2000" dirty="0"/>
          </a:p>
        </p:txBody>
      </p:sp>
      <p:sp>
        <p:nvSpPr>
          <p:cNvPr id="14" name="Text 12"/>
          <p:cNvSpPr txBox="1"/>
          <p:nvPr/>
        </p:nvSpPr>
        <p:spPr>
          <a:xfrm>
            <a:off x="8439912" y="3246120"/>
            <a:ext cx="2926080" cy="1554480"/>
          </a:xfrm>
          <a:prstGeom prst="rect">
            <a:avLst/>
          </a:prstGeom>
          <a:noFill/>
          <a:ln/>
        </p:spPr>
        <p:txBody>
          <a:bodyPr wrap="square" lIns="0" tIns="0" rIns="0" bIns="0" rtlCol="0" anchor="t"/>
          <a:lstStyle/>
          <a:p>
            <a:pPr marL="0" indent="0">
              <a:buNone/>
            </a:pPr>
            <a:r>
              <a:rPr lang="en-US" sz="1600" dirty="0">
                <a:solidFill>
                  <a:schemeClr val="tx1"/>
                </a:solidFill>
              </a:rPr>
              <a:t>All of them have 0 months of credit history. They are new to credit, so we kept them and added a flag.</a:t>
            </a:r>
            <a:endParaRPr lang="en-US" sz="1600" dirty="0"/>
          </a:p>
        </p:txBody>
      </p:sp>
      <p:sp>
        <p:nvSpPr>
          <p:cNvPr id="15" name="Icon circle"/>
          <p:cNvSpPr/>
          <p:nvPr/>
        </p:nvSpPr>
        <p:spPr>
          <a:xfrm>
            <a:off x="548640" y="5257800"/>
            <a:ext cx="731520" cy="731520"/>
          </a:xfrm>
          <a:prstGeom prst="ellipse">
            <a:avLst/>
          </a:prstGeom>
          <a:solidFill>
            <a:schemeClr val="accent1"/>
          </a:solidFill>
          <a:ln/>
        </p:spPr>
        <p:txBody>
          <a:bodyPr/>
          <a:lstStyle/>
          <a:p>
            <a:endParaRPr lang="en-IN"/>
          </a:p>
        </p:txBody>
      </p:sp>
      <p:pic>
        <p:nvPicPr>
          <p:cNvPr id="16" name="Image 0" descr="Broom icon"/>
          <p:cNvPicPr>
            <a:picLocks noChangeAspect="1"/>
          </p:cNvPicPr>
          <p:nvPr/>
        </p:nvPicPr>
        <p:blipFill>
          <a:blip r:embed="rId3"/>
          <a:stretch>
            <a:fillRect/>
          </a:stretch>
        </p:blipFill>
        <p:spPr>
          <a:xfrm>
            <a:off x="746150" y="5455310"/>
            <a:ext cx="336499" cy="336499"/>
          </a:xfrm>
          <a:prstGeom prst="rect">
            <a:avLst/>
          </a:prstGeom>
        </p:spPr>
      </p:pic>
      <p:sp>
        <p:nvSpPr>
          <p:cNvPr id="17" name="Text 14"/>
          <p:cNvSpPr txBox="1"/>
          <p:nvPr/>
        </p:nvSpPr>
        <p:spPr>
          <a:xfrm>
            <a:off x="1508760" y="5257800"/>
            <a:ext cx="10058400" cy="731520"/>
          </a:xfrm>
          <a:prstGeom prst="rect">
            <a:avLst/>
          </a:prstGeom>
          <a:noFill/>
          <a:ln/>
        </p:spPr>
        <p:txBody>
          <a:bodyPr wrap="square" lIns="0" tIns="0" rIns="0" bIns="0" rtlCol="0" anchor="ctr"/>
          <a:lstStyle/>
          <a:p>
            <a:pPr marL="0" indent="0">
              <a:buNone/>
            </a:pPr>
            <a:r>
              <a:rPr lang="en-US" sz="2200" b="1" dirty="0">
                <a:solidFill>
                  <a:schemeClr val="tx2"/>
                </a:solidFill>
              </a:rPr>
              <a:t>Result: all 12,000 rows kept, and no missing incomes left</a:t>
            </a:r>
            <a:endParaRPr lang="en-US" sz="22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5.2  What drives approval today?</a:t>
            </a:r>
          </a:p>
          <a:p>
            <a:pPr marL="0" indent="0" algn="l">
              <a:buNone/>
            </a:pPr>
            <a:r>
              <a:rPr lang="en-US" sz="1600" b="0" dirty="0">
                <a:solidFill>
                  <a:schemeClr val="accent1"/>
                </a:solidFill>
              </a:rPr>
              <a:t>Credit score matters a lot</a:t>
            </a:r>
          </a:p>
        </p:txBody>
      </p:sp>
      <p:sp>
        <p:nvSpPr>
          <p:cNvPr id="3" name="Chart card"/>
          <p:cNvSpPr/>
          <p:nvPr/>
        </p:nvSpPr>
        <p:spPr>
          <a:xfrm>
            <a:off x="548640" y="1508760"/>
            <a:ext cx="7315200"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731520" y="1645920"/>
          <a:ext cx="694944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 low"/>
          <p:cNvSpPr/>
          <p:nvPr/>
        </p:nvSpPr>
        <p:spPr>
          <a:xfrm>
            <a:off x="8138160" y="1508760"/>
            <a:ext cx="3502152" cy="2103120"/>
          </a:xfrm>
          <a:prstGeom prst="roundRect">
            <a:avLst>
              <a:gd name="adj" fmla="val 6087"/>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6" name="Text 3"/>
          <p:cNvSpPr txBox="1"/>
          <p:nvPr/>
        </p:nvSpPr>
        <p:spPr>
          <a:xfrm>
            <a:off x="8366760" y="1691640"/>
            <a:ext cx="3017520" cy="868680"/>
          </a:xfrm>
          <a:prstGeom prst="rect">
            <a:avLst/>
          </a:prstGeom>
          <a:noFill/>
          <a:ln/>
        </p:spPr>
        <p:txBody>
          <a:bodyPr wrap="square" lIns="0" tIns="0" rIns="0" bIns="0" rtlCol="0" anchor="ctr"/>
          <a:lstStyle/>
          <a:p>
            <a:pPr marL="0" indent="0">
              <a:buNone/>
            </a:pPr>
            <a:r>
              <a:rPr lang="en-US" sz="4800" b="1" dirty="0">
                <a:solidFill>
                  <a:schemeClr val="accent2"/>
                </a:solidFill>
              </a:rPr>
              <a:t>2.03%</a:t>
            </a:r>
            <a:endParaRPr lang="en-US" sz="4800" dirty="0"/>
          </a:p>
        </p:txBody>
      </p:sp>
      <p:sp>
        <p:nvSpPr>
          <p:cNvPr id="7" name="Text 4"/>
          <p:cNvSpPr txBox="1"/>
          <p:nvPr/>
        </p:nvSpPr>
        <p:spPr>
          <a:xfrm>
            <a:off x="8366760" y="2606040"/>
            <a:ext cx="3017520" cy="822960"/>
          </a:xfrm>
          <a:prstGeom prst="rect">
            <a:avLst/>
          </a:prstGeom>
          <a:noFill/>
          <a:ln/>
        </p:spPr>
        <p:txBody>
          <a:bodyPr wrap="square" lIns="0" tIns="0" rIns="0" bIns="0" rtlCol="0" anchor="t"/>
          <a:lstStyle/>
          <a:p>
            <a:pPr marL="0" indent="0">
              <a:buNone/>
            </a:pPr>
            <a:r>
              <a:rPr lang="en-US" sz="1600" dirty="0">
                <a:solidFill>
                  <a:schemeClr val="tx1"/>
                </a:solidFill>
              </a:rPr>
              <a:t>approved when the score is below 600</a:t>
            </a:r>
            <a:endParaRPr lang="en-US" sz="1600" dirty="0"/>
          </a:p>
        </p:txBody>
      </p:sp>
      <p:sp>
        <p:nvSpPr>
          <p:cNvPr id="8" name="Stat high"/>
          <p:cNvSpPr/>
          <p:nvPr/>
        </p:nvSpPr>
        <p:spPr>
          <a:xfrm>
            <a:off x="8138160" y="3931920"/>
            <a:ext cx="3502152" cy="2103120"/>
          </a:xfrm>
          <a:prstGeom prst="roundRect">
            <a:avLst>
              <a:gd name="adj" fmla="val 6087"/>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9" name="Text 6"/>
          <p:cNvSpPr txBox="1"/>
          <p:nvPr/>
        </p:nvSpPr>
        <p:spPr>
          <a:xfrm>
            <a:off x="8366760" y="4114800"/>
            <a:ext cx="3017520" cy="868680"/>
          </a:xfrm>
          <a:prstGeom prst="rect">
            <a:avLst/>
          </a:prstGeom>
          <a:noFill/>
          <a:ln/>
        </p:spPr>
        <p:txBody>
          <a:bodyPr wrap="square" lIns="0" tIns="0" rIns="0" bIns="0" rtlCol="0" anchor="ctr"/>
          <a:lstStyle/>
          <a:p>
            <a:pPr marL="0" indent="0">
              <a:buNone/>
            </a:pPr>
            <a:r>
              <a:rPr lang="en-US" sz="4800" b="1" dirty="0">
                <a:solidFill>
                  <a:schemeClr val="accent4"/>
                </a:solidFill>
              </a:rPr>
              <a:t>85.19%</a:t>
            </a:r>
            <a:endParaRPr lang="en-US" sz="4800" dirty="0"/>
          </a:p>
        </p:txBody>
      </p:sp>
      <p:sp>
        <p:nvSpPr>
          <p:cNvPr id="10" name="Text 7"/>
          <p:cNvSpPr txBox="1"/>
          <p:nvPr/>
        </p:nvSpPr>
        <p:spPr>
          <a:xfrm>
            <a:off x="8366760" y="5029200"/>
            <a:ext cx="3017520" cy="822960"/>
          </a:xfrm>
          <a:prstGeom prst="rect">
            <a:avLst/>
          </a:prstGeom>
          <a:noFill/>
          <a:ln/>
        </p:spPr>
        <p:txBody>
          <a:bodyPr wrap="square" lIns="0" tIns="0" rIns="0" bIns="0" rtlCol="0" anchor="t"/>
          <a:lstStyle/>
          <a:p>
            <a:pPr marL="0" indent="0">
              <a:buNone/>
            </a:pPr>
            <a:r>
              <a:rPr lang="en-US" sz="1600" dirty="0">
                <a:solidFill>
                  <a:schemeClr val="tx1"/>
                </a:solidFill>
              </a:rPr>
              <a:t>approved when the score is 800 or more</a:t>
            </a:r>
            <a:endParaRPr lang="en-US" sz="16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5.2  What drives approval today?</a:t>
            </a:r>
          </a:p>
          <a:p>
            <a:pPr marL="0" indent="0" algn="l">
              <a:buNone/>
            </a:pPr>
            <a:r>
              <a:rPr lang="en-US" sz="1600" b="0" dirty="0">
                <a:solidFill>
                  <a:schemeClr val="accent1"/>
                </a:solidFill>
              </a:rPr>
              <a:t>Job type and “no score” applicants</a:t>
            </a:r>
          </a:p>
        </p:txBody>
      </p:sp>
      <p:sp>
        <p:nvSpPr>
          <p:cNvPr id="3" name="Chart card"/>
          <p:cNvSpPr/>
          <p:nvPr/>
        </p:nvSpPr>
        <p:spPr>
          <a:xfrm>
            <a:off x="548640" y="1508760"/>
            <a:ext cx="5943600"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731520" y="1645920"/>
          <a:ext cx="557784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NTC card"/>
          <p:cNvSpPr/>
          <p:nvPr/>
        </p:nvSpPr>
        <p:spPr>
          <a:xfrm>
            <a:off x="6766560" y="1508760"/>
            <a:ext cx="4873752"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6" name="Text 3"/>
          <p:cNvSpPr txBox="1"/>
          <p:nvPr/>
        </p:nvSpPr>
        <p:spPr>
          <a:xfrm>
            <a:off x="7040880" y="1737360"/>
            <a:ext cx="4389120" cy="457200"/>
          </a:xfrm>
          <a:prstGeom prst="rect">
            <a:avLst/>
          </a:prstGeom>
          <a:noFill/>
          <a:ln/>
        </p:spPr>
        <p:txBody>
          <a:bodyPr wrap="square" lIns="0" tIns="0" rIns="0" bIns="0" rtlCol="0" anchor="t"/>
          <a:lstStyle/>
          <a:p>
            <a:pPr marL="0" indent="0">
              <a:buNone/>
            </a:pPr>
            <a:r>
              <a:rPr lang="en-US" sz="2200" b="1" dirty="0">
                <a:solidFill>
                  <a:schemeClr val="tx2"/>
                </a:solidFill>
              </a:rPr>
              <a:t>No score is not a bad score</a:t>
            </a:r>
            <a:endParaRPr lang="en-US" sz="2200" dirty="0"/>
          </a:p>
        </p:txBody>
      </p:sp>
      <p:sp>
        <p:nvSpPr>
          <p:cNvPr id="7" name="Text 4"/>
          <p:cNvSpPr txBox="1"/>
          <p:nvPr/>
        </p:nvSpPr>
        <p:spPr>
          <a:xfrm>
            <a:off x="7040880" y="2468880"/>
            <a:ext cx="2103120" cy="731520"/>
          </a:xfrm>
          <a:prstGeom prst="rect">
            <a:avLst/>
          </a:prstGeom>
          <a:noFill/>
          <a:ln/>
        </p:spPr>
        <p:txBody>
          <a:bodyPr wrap="square" lIns="0" tIns="0" rIns="0" bIns="0" rtlCol="0" anchor="ctr"/>
          <a:lstStyle/>
          <a:p>
            <a:pPr marL="0" indent="0">
              <a:buNone/>
            </a:pPr>
            <a:r>
              <a:rPr lang="en-US" sz="4000" b="1" dirty="0">
                <a:solidFill>
                  <a:schemeClr val="accent5"/>
                </a:solidFill>
              </a:rPr>
              <a:t>53.90%</a:t>
            </a:r>
            <a:endParaRPr lang="en-US" sz="4000" dirty="0"/>
          </a:p>
        </p:txBody>
      </p:sp>
      <p:sp>
        <p:nvSpPr>
          <p:cNvPr id="8" name="Text 5"/>
          <p:cNvSpPr txBox="1"/>
          <p:nvPr/>
        </p:nvSpPr>
        <p:spPr>
          <a:xfrm>
            <a:off x="7040880" y="3200400"/>
            <a:ext cx="2103120" cy="640080"/>
          </a:xfrm>
          <a:prstGeom prst="rect">
            <a:avLst/>
          </a:prstGeom>
          <a:noFill/>
          <a:ln/>
        </p:spPr>
        <p:txBody>
          <a:bodyPr wrap="square" lIns="0" tIns="0" rIns="0" bIns="0" rtlCol="0" anchor="t"/>
          <a:lstStyle/>
          <a:p>
            <a:pPr marL="0" indent="0">
              <a:buNone/>
            </a:pPr>
            <a:r>
              <a:rPr lang="en-US" sz="1500" dirty="0">
                <a:solidFill>
                  <a:schemeClr val="tx1"/>
                </a:solidFill>
              </a:rPr>
              <a:t>approved, with no score</a:t>
            </a:r>
            <a:endParaRPr lang="en-US" sz="1500" dirty="0"/>
          </a:p>
        </p:txBody>
      </p:sp>
      <p:sp>
        <p:nvSpPr>
          <p:cNvPr id="9" name="Text 6"/>
          <p:cNvSpPr txBox="1"/>
          <p:nvPr/>
        </p:nvSpPr>
        <p:spPr>
          <a:xfrm>
            <a:off x="9326880" y="2468880"/>
            <a:ext cx="2103120" cy="731520"/>
          </a:xfrm>
          <a:prstGeom prst="rect">
            <a:avLst/>
          </a:prstGeom>
          <a:noFill/>
          <a:ln/>
        </p:spPr>
        <p:txBody>
          <a:bodyPr wrap="square" lIns="0" tIns="0" rIns="0" bIns="0" rtlCol="0" anchor="ctr"/>
          <a:lstStyle/>
          <a:p>
            <a:pPr marL="0" indent="0">
              <a:buNone/>
            </a:pPr>
            <a:r>
              <a:rPr lang="en-US" sz="4000" b="1" dirty="0">
                <a:solidFill>
                  <a:schemeClr val="accent1"/>
                </a:solidFill>
              </a:rPr>
              <a:t>52.85%</a:t>
            </a:r>
            <a:endParaRPr lang="en-US" sz="4000" dirty="0"/>
          </a:p>
        </p:txBody>
      </p:sp>
      <p:sp>
        <p:nvSpPr>
          <p:cNvPr id="10" name="Text 7"/>
          <p:cNvSpPr txBox="1"/>
          <p:nvPr/>
        </p:nvSpPr>
        <p:spPr>
          <a:xfrm>
            <a:off x="9326880" y="3200400"/>
            <a:ext cx="2103120" cy="640080"/>
          </a:xfrm>
          <a:prstGeom prst="rect">
            <a:avLst/>
          </a:prstGeom>
          <a:noFill/>
          <a:ln/>
        </p:spPr>
        <p:txBody>
          <a:bodyPr wrap="square" lIns="0" tIns="0" rIns="0" bIns="0" rtlCol="0" anchor="t"/>
          <a:lstStyle/>
          <a:p>
            <a:pPr marL="0" indent="0">
              <a:buNone/>
            </a:pPr>
            <a:r>
              <a:rPr lang="en-US" sz="1500" dirty="0">
                <a:solidFill>
                  <a:schemeClr val="tx1"/>
                </a:solidFill>
              </a:rPr>
              <a:t>approved, with a score</a:t>
            </a:r>
            <a:endParaRPr lang="en-US" sz="1500" dirty="0"/>
          </a:p>
        </p:txBody>
      </p:sp>
      <p:sp>
        <p:nvSpPr>
          <p:cNvPr id="11" name="Text 8"/>
          <p:cNvSpPr txBox="1"/>
          <p:nvPr/>
        </p:nvSpPr>
        <p:spPr>
          <a:xfrm>
            <a:off x="7040880" y="4160520"/>
            <a:ext cx="4389120" cy="1645920"/>
          </a:xfrm>
          <a:prstGeom prst="rect">
            <a:avLst/>
          </a:prstGeom>
          <a:noFill/>
          <a:ln/>
        </p:spPr>
        <p:txBody>
          <a:bodyPr wrap="square" lIns="0" tIns="0" rIns="0" bIns="0" rtlCol="0" anchor="t"/>
          <a:lstStyle/>
          <a:p>
            <a:pPr marL="0" indent="0">
              <a:buNone/>
            </a:pPr>
            <a:r>
              <a:rPr lang="en-US" sz="1600" dirty="0">
                <a:solidFill>
                  <a:schemeClr val="tx1"/>
                </a:solidFill>
              </a:rPr>
              <a:t>These applicants have 0 months of credit history, so they are new to credit. We should not treat them as high risk just because a score is missing.</a:t>
            </a:r>
            <a:endParaRPr lang="en-US" sz="16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5.3  Engineer the affordability feature</a:t>
            </a:r>
          </a:p>
          <a:p>
            <a:pPr marL="0" indent="0" algn="l">
              <a:buNone/>
            </a:pPr>
            <a:r>
              <a:rPr lang="en-US" sz="1600" b="0" dirty="0">
                <a:solidFill>
                  <a:schemeClr val="accent1"/>
                </a:solidFill>
              </a:rPr>
              <a:t>Three helpful new clues</a:t>
            </a:r>
          </a:p>
        </p:txBody>
      </p:sp>
      <p:sp>
        <p:nvSpPr>
          <p:cNvPr id="3" name="Feature card 1"/>
          <p:cNvSpPr/>
          <p:nvPr/>
        </p:nvSpPr>
        <p:spPr>
          <a:xfrm>
            <a:off x="548640" y="1508760"/>
            <a:ext cx="3474720" cy="4526280"/>
          </a:xfrm>
          <a:prstGeom prst="roundRect">
            <a:avLst>
              <a:gd name="adj" fmla="val 36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4" name="Icon circle"/>
          <p:cNvSpPr/>
          <p:nvPr/>
        </p:nvSpPr>
        <p:spPr>
          <a:xfrm>
            <a:off x="822960" y="1737360"/>
            <a:ext cx="777240" cy="777240"/>
          </a:xfrm>
          <a:prstGeom prst="ellipse">
            <a:avLst/>
          </a:prstGeom>
          <a:solidFill>
            <a:schemeClr val="accent1"/>
          </a:solidFill>
          <a:ln/>
        </p:spPr>
        <p:txBody>
          <a:bodyPr/>
          <a:lstStyle/>
          <a:p>
            <a:endParaRPr lang="en-IN"/>
          </a:p>
        </p:txBody>
      </p:sp>
      <p:pic>
        <p:nvPicPr>
          <p:cNvPr id="5" name="Image 0" descr="Percent icon"/>
          <p:cNvPicPr>
            <a:picLocks noChangeAspect="1"/>
          </p:cNvPicPr>
          <p:nvPr/>
        </p:nvPicPr>
        <p:blipFill>
          <a:blip r:embed="rId3"/>
          <a:stretch>
            <a:fillRect/>
          </a:stretch>
        </p:blipFill>
        <p:spPr>
          <a:xfrm>
            <a:off x="1032815" y="1947215"/>
            <a:ext cx="357530" cy="357530"/>
          </a:xfrm>
          <a:prstGeom prst="rect">
            <a:avLst/>
          </a:prstGeom>
        </p:spPr>
      </p:pic>
      <p:sp>
        <p:nvSpPr>
          <p:cNvPr id="6" name="Text 3"/>
          <p:cNvSpPr txBox="1"/>
          <p:nvPr/>
        </p:nvSpPr>
        <p:spPr>
          <a:xfrm>
            <a:off x="822960" y="2697480"/>
            <a:ext cx="2926080" cy="457200"/>
          </a:xfrm>
          <a:prstGeom prst="rect">
            <a:avLst/>
          </a:prstGeom>
          <a:noFill/>
          <a:ln/>
        </p:spPr>
        <p:txBody>
          <a:bodyPr wrap="square" lIns="0" tIns="0" rIns="0" bIns="0" rtlCol="0" anchor="t"/>
          <a:lstStyle/>
          <a:p>
            <a:pPr marL="0" indent="0">
              <a:buNone/>
            </a:pPr>
            <a:r>
              <a:rPr lang="en-US" sz="2400" b="1" dirty="0">
                <a:solidFill>
                  <a:schemeClr val="tx2"/>
                </a:solidFill>
              </a:rPr>
              <a:t>FOIR</a:t>
            </a:r>
            <a:endParaRPr lang="en-US" sz="2400" dirty="0"/>
          </a:p>
        </p:txBody>
      </p:sp>
      <p:sp>
        <p:nvSpPr>
          <p:cNvPr id="7" name="Text 4"/>
          <p:cNvSpPr txBox="1"/>
          <p:nvPr/>
        </p:nvSpPr>
        <p:spPr>
          <a:xfrm>
            <a:off x="822960" y="3200400"/>
            <a:ext cx="2926080" cy="777240"/>
          </a:xfrm>
          <a:prstGeom prst="rect">
            <a:avLst/>
          </a:prstGeom>
          <a:noFill/>
          <a:ln/>
        </p:spPr>
        <p:txBody>
          <a:bodyPr wrap="square" lIns="0" tIns="0" rIns="0" bIns="0" rtlCol="0" anchor="t"/>
          <a:lstStyle/>
          <a:p>
            <a:pPr marL="0" indent="0">
              <a:buNone/>
            </a:pPr>
            <a:r>
              <a:rPr lang="en-US" sz="1600" dirty="0">
                <a:solidFill>
                  <a:schemeClr val="tx1"/>
                </a:solidFill>
              </a:rPr>
              <a:t>How much of monthly income goes to loan EMIs</a:t>
            </a:r>
            <a:endParaRPr lang="en-US" sz="1600" dirty="0"/>
          </a:p>
        </p:txBody>
      </p:sp>
      <p:sp>
        <p:nvSpPr>
          <p:cNvPr id="8" name="Formula box 1"/>
          <p:cNvSpPr/>
          <p:nvPr/>
        </p:nvSpPr>
        <p:spPr>
          <a:xfrm>
            <a:off x="822960" y="4069080"/>
            <a:ext cx="2926080" cy="914400"/>
          </a:xfrm>
          <a:prstGeom prst="roundRect">
            <a:avLst>
              <a:gd name="adj" fmla="val 10000"/>
            </a:avLst>
          </a:prstGeom>
          <a:solidFill>
            <a:schemeClr val="bg2"/>
          </a:solidFill>
          <a:ln/>
        </p:spPr>
        <p:txBody>
          <a:bodyPr/>
          <a:lstStyle/>
          <a:p>
            <a:endParaRPr lang="en-IN"/>
          </a:p>
        </p:txBody>
      </p:sp>
      <p:sp>
        <p:nvSpPr>
          <p:cNvPr id="9" name="Text 6"/>
          <p:cNvSpPr txBox="1"/>
          <p:nvPr/>
        </p:nvSpPr>
        <p:spPr>
          <a:xfrm>
            <a:off x="960120" y="4069080"/>
            <a:ext cx="2651760" cy="914400"/>
          </a:xfrm>
          <a:prstGeom prst="rect">
            <a:avLst/>
          </a:prstGeom>
          <a:noFill/>
          <a:ln/>
        </p:spPr>
        <p:txBody>
          <a:bodyPr wrap="square" lIns="0" tIns="0" rIns="0" bIns="0" rtlCol="0" anchor="ctr"/>
          <a:lstStyle/>
          <a:p>
            <a:pPr marL="0" indent="0">
              <a:buNone/>
            </a:pPr>
            <a:r>
              <a:rPr lang="en-US" sz="1400" b="1" dirty="0">
                <a:solidFill>
                  <a:schemeClr val="tx2"/>
                </a:solidFill>
              </a:rPr>
              <a:t>(existing EMI + proposed EMI) ÷ monthly income</a:t>
            </a:r>
            <a:endParaRPr lang="en-US" sz="1400" dirty="0"/>
          </a:p>
        </p:txBody>
      </p:sp>
      <p:sp>
        <p:nvSpPr>
          <p:cNvPr id="10" name="Text 7"/>
          <p:cNvSpPr txBox="1"/>
          <p:nvPr/>
        </p:nvSpPr>
        <p:spPr>
          <a:xfrm>
            <a:off x="822960" y="5166360"/>
            <a:ext cx="2926080" cy="640080"/>
          </a:xfrm>
          <a:prstGeom prst="rect">
            <a:avLst/>
          </a:prstGeom>
          <a:noFill/>
          <a:ln/>
        </p:spPr>
        <p:txBody>
          <a:bodyPr wrap="square" lIns="0" tIns="0" rIns="0" bIns="0" rtlCol="0" anchor="t"/>
          <a:lstStyle/>
          <a:p>
            <a:pPr marL="0" indent="0">
              <a:buNone/>
            </a:pPr>
            <a:r>
              <a:rPr lang="en-US" sz="1400" dirty="0">
                <a:solidFill>
                  <a:srgbClr val="55656F"/>
                </a:solidFill>
              </a:rPr>
              <a:t>Example: 0.40 means 40% of income</a:t>
            </a:r>
            <a:endParaRPr lang="en-US" sz="1400" dirty="0"/>
          </a:p>
        </p:txBody>
      </p:sp>
      <p:sp>
        <p:nvSpPr>
          <p:cNvPr id="11" name="Feature card 2"/>
          <p:cNvSpPr/>
          <p:nvPr/>
        </p:nvSpPr>
        <p:spPr>
          <a:xfrm>
            <a:off x="4357116" y="1508760"/>
            <a:ext cx="3474720" cy="4526280"/>
          </a:xfrm>
          <a:prstGeom prst="roundRect">
            <a:avLst>
              <a:gd name="adj" fmla="val 36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2" name="Icon circle"/>
          <p:cNvSpPr/>
          <p:nvPr/>
        </p:nvSpPr>
        <p:spPr>
          <a:xfrm>
            <a:off x="4631436" y="1737360"/>
            <a:ext cx="777240" cy="777240"/>
          </a:xfrm>
          <a:prstGeom prst="ellipse">
            <a:avLst/>
          </a:prstGeom>
          <a:solidFill>
            <a:schemeClr val="accent3"/>
          </a:solidFill>
          <a:ln/>
        </p:spPr>
        <p:txBody>
          <a:bodyPr/>
          <a:lstStyle/>
          <a:p>
            <a:endParaRPr lang="en-IN"/>
          </a:p>
        </p:txBody>
      </p:sp>
      <p:pic>
        <p:nvPicPr>
          <p:cNvPr id="13" name="Image 1" descr="Calculator icon"/>
          <p:cNvPicPr>
            <a:picLocks noChangeAspect="1"/>
          </p:cNvPicPr>
          <p:nvPr/>
        </p:nvPicPr>
        <p:blipFill>
          <a:blip r:embed="rId4"/>
          <a:stretch>
            <a:fillRect/>
          </a:stretch>
        </p:blipFill>
        <p:spPr>
          <a:xfrm>
            <a:off x="4841291" y="1947215"/>
            <a:ext cx="357530" cy="357530"/>
          </a:xfrm>
          <a:prstGeom prst="rect">
            <a:avLst/>
          </a:prstGeom>
        </p:spPr>
      </p:pic>
      <p:sp>
        <p:nvSpPr>
          <p:cNvPr id="14" name="Text 10"/>
          <p:cNvSpPr txBox="1"/>
          <p:nvPr/>
        </p:nvSpPr>
        <p:spPr>
          <a:xfrm>
            <a:off x="4631436" y="2697480"/>
            <a:ext cx="2926080" cy="457200"/>
          </a:xfrm>
          <a:prstGeom prst="rect">
            <a:avLst/>
          </a:prstGeom>
          <a:noFill/>
          <a:ln/>
        </p:spPr>
        <p:txBody>
          <a:bodyPr wrap="square" lIns="0" tIns="0" rIns="0" bIns="0" rtlCol="0" anchor="t"/>
          <a:lstStyle/>
          <a:p>
            <a:pPr marL="0" indent="0">
              <a:buNone/>
            </a:pPr>
            <a:r>
              <a:rPr lang="en-US" sz="2400" b="1" dirty="0">
                <a:solidFill>
                  <a:schemeClr val="tx2"/>
                </a:solidFill>
              </a:rPr>
              <a:t>Loan-to-income</a:t>
            </a:r>
            <a:endParaRPr lang="en-US" sz="2400" dirty="0"/>
          </a:p>
        </p:txBody>
      </p:sp>
      <p:sp>
        <p:nvSpPr>
          <p:cNvPr id="15" name="Text 11"/>
          <p:cNvSpPr txBox="1"/>
          <p:nvPr/>
        </p:nvSpPr>
        <p:spPr>
          <a:xfrm>
            <a:off x="4631436" y="3200400"/>
            <a:ext cx="2926080" cy="777240"/>
          </a:xfrm>
          <a:prstGeom prst="rect">
            <a:avLst/>
          </a:prstGeom>
          <a:noFill/>
          <a:ln/>
        </p:spPr>
        <p:txBody>
          <a:bodyPr wrap="square" lIns="0" tIns="0" rIns="0" bIns="0" rtlCol="0" anchor="t"/>
          <a:lstStyle/>
          <a:p>
            <a:pPr marL="0" indent="0">
              <a:buNone/>
            </a:pPr>
            <a:r>
              <a:rPr lang="en-US" sz="1600" dirty="0">
                <a:solidFill>
                  <a:schemeClr val="tx1"/>
                </a:solidFill>
              </a:rPr>
              <a:t>How big the loan is next to one year of income</a:t>
            </a:r>
            <a:endParaRPr lang="en-US" sz="1600" dirty="0"/>
          </a:p>
        </p:txBody>
      </p:sp>
      <p:sp>
        <p:nvSpPr>
          <p:cNvPr id="16" name="Formula box 2"/>
          <p:cNvSpPr/>
          <p:nvPr/>
        </p:nvSpPr>
        <p:spPr>
          <a:xfrm>
            <a:off x="4631436" y="4069080"/>
            <a:ext cx="2926080" cy="914400"/>
          </a:xfrm>
          <a:prstGeom prst="roundRect">
            <a:avLst>
              <a:gd name="adj" fmla="val 10000"/>
            </a:avLst>
          </a:prstGeom>
          <a:solidFill>
            <a:schemeClr val="bg2"/>
          </a:solidFill>
          <a:ln/>
        </p:spPr>
        <p:txBody>
          <a:bodyPr/>
          <a:lstStyle/>
          <a:p>
            <a:endParaRPr lang="en-IN"/>
          </a:p>
        </p:txBody>
      </p:sp>
      <p:sp>
        <p:nvSpPr>
          <p:cNvPr id="17" name="Text 13"/>
          <p:cNvSpPr txBox="1"/>
          <p:nvPr/>
        </p:nvSpPr>
        <p:spPr>
          <a:xfrm>
            <a:off x="4768596" y="4069080"/>
            <a:ext cx="2651760" cy="914400"/>
          </a:xfrm>
          <a:prstGeom prst="rect">
            <a:avLst/>
          </a:prstGeom>
          <a:noFill/>
          <a:ln/>
        </p:spPr>
        <p:txBody>
          <a:bodyPr wrap="square" lIns="0" tIns="0" rIns="0" bIns="0" rtlCol="0" anchor="ctr"/>
          <a:lstStyle/>
          <a:p>
            <a:pPr marL="0" indent="0">
              <a:buNone/>
            </a:pPr>
            <a:r>
              <a:rPr lang="en-US" sz="1400" b="1" dirty="0">
                <a:solidFill>
                  <a:schemeClr val="tx2"/>
                </a:solidFill>
              </a:rPr>
              <a:t>loan amount ÷ (monthly income × 12)</a:t>
            </a:r>
            <a:endParaRPr lang="en-US" sz="1400" dirty="0"/>
          </a:p>
        </p:txBody>
      </p:sp>
      <p:sp>
        <p:nvSpPr>
          <p:cNvPr id="18" name="Text 14"/>
          <p:cNvSpPr txBox="1"/>
          <p:nvPr/>
        </p:nvSpPr>
        <p:spPr>
          <a:xfrm>
            <a:off x="4631436" y="5166360"/>
            <a:ext cx="2926080" cy="640080"/>
          </a:xfrm>
          <a:prstGeom prst="rect">
            <a:avLst/>
          </a:prstGeom>
          <a:noFill/>
          <a:ln/>
        </p:spPr>
        <p:txBody>
          <a:bodyPr wrap="square" lIns="0" tIns="0" rIns="0" bIns="0" rtlCol="0" anchor="t"/>
          <a:lstStyle/>
          <a:p>
            <a:pPr marL="0" indent="0">
              <a:buNone/>
            </a:pPr>
            <a:r>
              <a:rPr lang="en-US" sz="1400" dirty="0">
                <a:solidFill>
                  <a:srgbClr val="55656F"/>
                </a:solidFill>
              </a:rPr>
              <a:t>Bigger number means a heavier loan</a:t>
            </a:r>
            <a:endParaRPr lang="en-US" sz="1400" dirty="0"/>
          </a:p>
        </p:txBody>
      </p:sp>
      <p:sp>
        <p:nvSpPr>
          <p:cNvPr id="19" name="Feature card 3"/>
          <p:cNvSpPr/>
          <p:nvPr/>
        </p:nvSpPr>
        <p:spPr>
          <a:xfrm>
            <a:off x="8165592" y="1508760"/>
            <a:ext cx="3474720" cy="4526280"/>
          </a:xfrm>
          <a:prstGeom prst="roundRect">
            <a:avLst>
              <a:gd name="adj" fmla="val 36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0" name="Icon circle"/>
          <p:cNvSpPr/>
          <p:nvPr/>
        </p:nvSpPr>
        <p:spPr>
          <a:xfrm>
            <a:off x="8439912" y="1737360"/>
            <a:ext cx="777240" cy="777240"/>
          </a:xfrm>
          <a:prstGeom prst="ellipse">
            <a:avLst/>
          </a:prstGeom>
          <a:solidFill>
            <a:schemeClr val="accent5"/>
          </a:solidFill>
          <a:ln/>
        </p:spPr>
        <p:txBody>
          <a:bodyPr/>
          <a:lstStyle/>
          <a:p>
            <a:endParaRPr lang="en-IN"/>
          </a:p>
        </p:txBody>
      </p:sp>
      <p:pic>
        <p:nvPicPr>
          <p:cNvPr id="21" name="Image 2" descr="Flag icon"/>
          <p:cNvPicPr>
            <a:picLocks noChangeAspect="1"/>
          </p:cNvPicPr>
          <p:nvPr/>
        </p:nvPicPr>
        <p:blipFill>
          <a:blip r:embed="rId5"/>
          <a:stretch>
            <a:fillRect/>
          </a:stretch>
        </p:blipFill>
        <p:spPr>
          <a:xfrm>
            <a:off x="8649767" y="1947215"/>
            <a:ext cx="357530" cy="357530"/>
          </a:xfrm>
          <a:prstGeom prst="rect">
            <a:avLst/>
          </a:prstGeom>
        </p:spPr>
      </p:pic>
      <p:sp>
        <p:nvSpPr>
          <p:cNvPr id="22" name="Text 17"/>
          <p:cNvSpPr txBox="1"/>
          <p:nvPr/>
        </p:nvSpPr>
        <p:spPr>
          <a:xfrm>
            <a:off x="8439912" y="2697480"/>
            <a:ext cx="2926080" cy="457200"/>
          </a:xfrm>
          <a:prstGeom prst="rect">
            <a:avLst/>
          </a:prstGeom>
          <a:noFill/>
          <a:ln/>
        </p:spPr>
        <p:txBody>
          <a:bodyPr wrap="square" lIns="0" tIns="0" rIns="0" bIns="0" rtlCol="0" anchor="t"/>
          <a:lstStyle/>
          <a:p>
            <a:pPr marL="0" indent="0">
              <a:buNone/>
            </a:pPr>
            <a:r>
              <a:rPr lang="en-US" sz="2400" b="1" dirty="0">
                <a:solidFill>
                  <a:schemeClr val="tx2"/>
                </a:solidFill>
              </a:rPr>
              <a:t>New-to-credit flag</a:t>
            </a:r>
            <a:endParaRPr lang="en-US" sz="2400" dirty="0"/>
          </a:p>
        </p:txBody>
      </p:sp>
      <p:sp>
        <p:nvSpPr>
          <p:cNvPr id="23" name="Text 18"/>
          <p:cNvSpPr txBox="1"/>
          <p:nvPr/>
        </p:nvSpPr>
        <p:spPr>
          <a:xfrm>
            <a:off x="8439912" y="3200400"/>
            <a:ext cx="2926080" cy="777240"/>
          </a:xfrm>
          <a:prstGeom prst="rect">
            <a:avLst/>
          </a:prstGeom>
          <a:noFill/>
          <a:ln/>
        </p:spPr>
        <p:txBody>
          <a:bodyPr wrap="square" lIns="0" tIns="0" rIns="0" bIns="0" rtlCol="0" anchor="t"/>
          <a:lstStyle/>
          <a:p>
            <a:pPr marL="0" indent="0">
              <a:buNone/>
            </a:pPr>
            <a:r>
              <a:rPr lang="en-US" sz="1600" dirty="0">
                <a:solidFill>
                  <a:schemeClr val="tx1"/>
                </a:solidFill>
              </a:rPr>
              <a:t>Marks applicants who have no credit score yet</a:t>
            </a:r>
            <a:endParaRPr lang="en-US" sz="1600" dirty="0"/>
          </a:p>
        </p:txBody>
      </p:sp>
      <p:sp>
        <p:nvSpPr>
          <p:cNvPr id="24" name="Formula box 3"/>
          <p:cNvSpPr/>
          <p:nvPr/>
        </p:nvSpPr>
        <p:spPr>
          <a:xfrm>
            <a:off x="8439912" y="4069080"/>
            <a:ext cx="2926080" cy="914400"/>
          </a:xfrm>
          <a:prstGeom prst="roundRect">
            <a:avLst>
              <a:gd name="adj" fmla="val 10000"/>
            </a:avLst>
          </a:prstGeom>
          <a:solidFill>
            <a:schemeClr val="bg2"/>
          </a:solidFill>
          <a:ln/>
        </p:spPr>
        <p:txBody>
          <a:bodyPr/>
          <a:lstStyle/>
          <a:p>
            <a:endParaRPr lang="en-IN"/>
          </a:p>
        </p:txBody>
      </p:sp>
      <p:sp>
        <p:nvSpPr>
          <p:cNvPr id="25" name="Text 20"/>
          <p:cNvSpPr txBox="1"/>
          <p:nvPr/>
        </p:nvSpPr>
        <p:spPr>
          <a:xfrm>
            <a:off x="8577072" y="4069080"/>
            <a:ext cx="2651760" cy="914400"/>
          </a:xfrm>
          <a:prstGeom prst="rect">
            <a:avLst/>
          </a:prstGeom>
          <a:noFill/>
          <a:ln/>
        </p:spPr>
        <p:txBody>
          <a:bodyPr wrap="square" lIns="0" tIns="0" rIns="0" bIns="0" rtlCol="0" anchor="ctr"/>
          <a:lstStyle/>
          <a:p>
            <a:pPr marL="0" indent="0">
              <a:buNone/>
            </a:pPr>
            <a:r>
              <a:rPr lang="en-US" sz="1400" b="1" dirty="0">
                <a:solidFill>
                  <a:schemeClr val="tx2"/>
                </a:solidFill>
              </a:rPr>
              <a:t>1 if there is no score, otherwise 0</a:t>
            </a:r>
            <a:endParaRPr lang="en-US" sz="1400" dirty="0"/>
          </a:p>
        </p:txBody>
      </p:sp>
      <p:sp>
        <p:nvSpPr>
          <p:cNvPr id="26" name="Text 21"/>
          <p:cNvSpPr txBox="1"/>
          <p:nvPr/>
        </p:nvSpPr>
        <p:spPr>
          <a:xfrm>
            <a:off x="8439912" y="5166360"/>
            <a:ext cx="2926080" cy="640080"/>
          </a:xfrm>
          <a:prstGeom prst="rect">
            <a:avLst/>
          </a:prstGeom>
          <a:noFill/>
          <a:ln/>
        </p:spPr>
        <p:txBody>
          <a:bodyPr wrap="square" lIns="0" tIns="0" rIns="0" bIns="0" rtlCol="0" anchor="t"/>
          <a:lstStyle/>
          <a:p>
            <a:pPr marL="0" indent="0">
              <a:buNone/>
            </a:pPr>
            <a:r>
              <a:rPr lang="en-US" sz="1400" dirty="0">
                <a:solidFill>
                  <a:srgbClr val="55656F"/>
                </a:solidFill>
              </a:rPr>
              <a:t>1,039 applicants carry this flag</a:t>
            </a:r>
            <a:endParaRPr lang="en-US" sz="1400" dirty="0"/>
          </a:p>
        </p:txBody>
      </p:sp>
      <p:sp>
        <p:nvSpPr>
          <p:cNvPr id="27"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5.3  Engineer the affordability feature</a:t>
            </a:r>
          </a:p>
          <a:p>
            <a:pPr marL="0" indent="0" algn="l">
              <a:buNone/>
            </a:pPr>
            <a:r>
              <a:rPr lang="en-US" sz="1600" b="0" dirty="0">
                <a:solidFill>
                  <a:schemeClr val="accent1"/>
                </a:solidFill>
              </a:rPr>
              <a:t>Higher FOIR, lower approval</a:t>
            </a:r>
          </a:p>
        </p:txBody>
      </p:sp>
      <p:sp>
        <p:nvSpPr>
          <p:cNvPr id="3" name="Chart card"/>
          <p:cNvSpPr/>
          <p:nvPr/>
        </p:nvSpPr>
        <p:spPr>
          <a:xfrm>
            <a:off x="548640" y="1508760"/>
            <a:ext cx="7040880"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731520" y="1645920"/>
          <a:ext cx="667512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FOIR idea card"/>
          <p:cNvSpPr/>
          <p:nvPr/>
        </p:nvSpPr>
        <p:spPr>
          <a:xfrm>
            <a:off x="7863840" y="1508760"/>
            <a:ext cx="3776472" cy="4526280"/>
          </a:xfrm>
          <a:prstGeom prst="roundRect">
            <a:avLst>
              <a:gd name="adj" fmla="val 339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6" name="Text 3"/>
          <p:cNvSpPr txBox="1"/>
          <p:nvPr/>
        </p:nvSpPr>
        <p:spPr>
          <a:xfrm>
            <a:off x="8138160" y="1737360"/>
            <a:ext cx="3291840" cy="411480"/>
          </a:xfrm>
          <a:prstGeom prst="rect">
            <a:avLst/>
          </a:prstGeom>
          <a:noFill/>
          <a:ln/>
        </p:spPr>
        <p:txBody>
          <a:bodyPr wrap="square" lIns="0" tIns="0" rIns="0" bIns="0" rtlCol="0" anchor="t"/>
          <a:lstStyle/>
          <a:p>
            <a:pPr marL="0" indent="0">
              <a:buNone/>
            </a:pPr>
            <a:r>
              <a:rPr lang="en-US" sz="2000" b="1" dirty="0">
                <a:solidFill>
                  <a:schemeClr val="tx2"/>
                </a:solidFill>
              </a:rPr>
              <a:t>A simple idea to test</a:t>
            </a:r>
            <a:endParaRPr lang="en-US" sz="2000" dirty="0"/>
          </a:p>
        </p:txBody>
      </p:sp>
      <p:sp>
        <p:nvSpPr>
          <p:cNvPr id="7" name="Text 4"/>
          <p:cNvSpPr txBox="1"/>
          <p:nvPr/>
        </p:nvSpPr>
        <p:spPr>
          <a:xfrm>
            <a:off x="8138160" y="2331720"/>
            <a:ext cx="3291840" cy="1097280"/>
          </a:xfrm>
          <a:prstGeom prst="rect">
            <a:avLst/>
          </a:prstGeom>
          <a:noFill/>
          <a:ln/>
        </p:spPr>
        <p:txBody>
          <a:bodyPr wrap="square" lIns="0" tIns="0" rIns="0" bIns="0" rtlCol="0" anchor="ctr"/>
          <a:lstStyle/>
          <a:p>
            <a:pPr marL="0" indent="0">
              <a:buNone/>
            </a:pPr>
            <a:r>
              <a:rPr lang="en-US" sz="7200" b="1" dirty="0">
                <a:solidFill>
                  <a:schemeClr val="accent1"/>
                </a:solidFill>
              </a:rPr>
              <a:t>40%</a:t>
            </a:r>
            <a:endParaRPr lang="en-US" sz="7200" dirty="0"/>
          </a:p>
        </p:txBody>
      </p:sp>
      <p:sp>
        <p:nvSpPr>
          <p:cNvPr id="8" name="Text 5"/>
          <p:cNvSpPr txBox="1"/>
          <p:nvPr/>
        </p:nvSpPr>
        <p:spPr>
          <a:xfrm>
            <a:off x="8138160" y="3474720"/>
            <a:ext cx="3291840" cy="365760"/>
          </a:xfrm>
          <a:prstGeom prst="rect">
            <a:avLst/>
          </a:prstGeom>
          <a:noFill/>
          <a:ln/>
        </p:spPr>
        <p:txBody>
          <a:bodyPr wrap="square" lIns="0" tIns="0" rIns="0" bIns="0" rtlCol="0" anchor="t"/>
          <a:lstStyle/>
          <a:p>
            <a:pPr marL="0" indent="0">
              <a:buNone/>
            </a:pPr>
            <a:r>
              <a:rPr lang="en-US" sz="1600" b="1" dirty="0">
                <a:solidFill>
                  <a:schemeClr val="tx1"/>
                </a:solidFill>
              </a:rPr>
              <a:t>suggested FOIR checkpoint</a:t>
            </a:r>
            <a:endParaRPr lang="en-US" sz="1600" dirty="0"/>
          </a:p>
        </p:txBody>
      </p:sp>
      <p:sp>
        <p:nvSpPr>
          <p:cNvPr id="9" name="Text 6"/>
          <p:cNvSpPr txBox="1"/>
          <p:nvPr/>
        </p:nvSpPr>
        <p:spPr>
          <a:xfrm>
            <a:off x="8138160" y="3977640"/>
            <a:ext cx="3291840" cy="1097280"/>
          </a:xfrm>
          <a:prstGeom prst="rect">
            <a:avLst/>
          </a:prstGeom>
          <a:noFill/>
          <a:ln/>
        </p:spPr>
        <p:txBody>
          <a:bodyPr wrap="square" lIns="0" tIns="0" rIns="0" bIns="0" rtlCol="0" anchor="t"/>
          <a:lstStyle/>
          <a:p>
            <a:pPr marL="0" indent="0">
              <a:buNone/>
            </a:pPr>
            <a:r>
              <a:rPr lang="en-US" sz="1500" dirty="0">
                <a:solidFill>
                  <a:schemeClr val="tx1"/>
                </a:solidFill>
              </a:rPr>
              <a:t>Approval falls clearly above 40%. Higher cases get extra affordability checks, not an automatic “no”.</a:t>
            </a:r>
            <a:endParaRPr lang="en-US" sz="1500" dirty="0"/>
          </a:p>
        </p:txBody>
      </p:sp>
      <p:sp>
        <p:nvSpPr>
          <p:cNvPr id="10" name="Text 7"/>
          <p:cNvSpPr txBox="1"/>
          <p:nvPr/>
        </p:nvSpPr>
        <p:spPr>
          <a:xfrm>
            <a:off x="8138160" y="5166360"/>
            <a:ext cx="3291840" cy="640080"/>
          </a:xfrm>
          <a:prstGeom prst="rect">
            <a:avLst/>
          </a:prstGeom>
          <a:noFill/>
          <a:ln/>
        </p:spPr>
        <p:txBody>
          <a:bodyPr wrap="square" lIns="0" tIns="0" rIns="0" bIns="0" rtlCol="0" anchor="ctr"/>
          <a:lstStyle/>
          <a:p>
            <a:pPr marL="0" indent="0">
              <a:buNone/>
            </a:pPr>
            <a:r>
              <a:rPr lang="en-US" sz="2400" b="1" dirty="0">
                <a:solidFill>
                  <a:schemeClr val="accent2"/>
                </a:solidFill>
              </a:rPr>
              <a:t>−15.3 pts</a:t>
            </a:r>
            <a:r>
              <a:rPr lang="en-US" sz="1400" dirty="0">
                <a:solidFill>
                  <a:schemeClr val="tx1"/>
                </a:solidFill>
              </a:rPr>
              <a:t>  from the 40-50% band to 50-55%</a:t>
            </a:r>
            <a:endParaRPr lang="en-US" sz="2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5.4  Build the logistic regression pre-screener</a:t>
            </a:r>
          </a:p>
          <a:p>
            <a:pPr marL="0" indent="0" algn="l">
              <a:buNone/>
            </a:pPr>
            <a:r>
              <a:rPr lang="en-US" sz="1600" b="0" dirty="0">
                <a:solidFill>
                  <a:schemeClr val="accent1"/>
                </a:solidFill>
              </a:rPr>
              <a:t>Model 1: Logistic Regression</a:t>
            </a:r>
          </a:p>
        </p:txBody>
      </p:sp>
      <p:sp>
        <p:nvSpPr>
          <p:cNvPr id="3" name="Matrix card"/>
          <p:cNvSpPr/>
          <p:nvPr/>
        </p:nvSpPr>
        <p:spPr>
          <a:xfrm>
            <a:off x="548640" y="1508760"/>
            <a:ext cx="6400800"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4" name="Text 2"/>
          <p:cNvSpPr txBox="1"/>
          <p:nvPr/>
        </p:nvSpPr>
        <p:spPr>
          <a:xfrm>
            <a:off x="2423160" y="1737360"/>
            <a:ext cx="2011680" cy="365760"/>
          </a:xfrm>
          <a:prstGeom prst="rect">
            <a:avLst/>
          </a:prstGeom>
          <a:noFill/>
          <a:ln/>
        </p:spPr>
        <p:txBody>
          <a:bodyPr wrap="square" lIns="0" tIns="0" rIns="0" bIns="0" rtlCol="0" anchor="ctr"/>
          <a:lstStyle/>
          <a:p>
            <a:pPr marL="0" indent="0" algn="ctr">
              <a:buNone/>
            </a:pPr>
            <a:r>
              <a:rPr lang="en-US" sz="1400" b="1" dirty="0">
                <a:solidFill>
                  <a:schemeClr val="tx2"/>
                </a:solidFill>
              </a:rPr>
              <a:t>Predicted Approved</a:t>
            </a:r>
            <a:endParaRPr lang="en-US" sz="1400" dirty="0"/>
          </a:p>
        </p:txBody>
      </p:sp>
      <p:sp>
        <p:nvSpPr>
          <p:cNvPr id="5" name="Text 3"/>
          <p:cNvSpPr txBox="1"/>
          <p:nvPr/>
        </p:nvSpPr>
        <p:spPr>
          <a:xfrm>
            <a:off x="4526280" y="1737360"/>
            <a:ext cx="2011680" cy="365760"/>
          </a:xfrm>
          <a:prstGeom prst="rect">
            <a:avLst/>
          </a:prstGeom>
          <a:noFill/>
          <a:ln/>
        </p:spPr>
        <p:txBody>
          <a:bodyPr wrap="square" lIns="0" tIns="0" rIns="0" bIns="0" rtlCol="0" anchor="ctr"/>
          <a:lstStyle/>
          <a:p>
            <a:pPr marL="0" indent="0" algn="ctr">
              <a:buNone/>
            </a:pPr>
            <a:r>
              <a:rPr lang="en-US" sz="1400" b="1" dirty="0">
                <a:solidFill>
                  <a:schemeClr val="tx2"/>
                </a:solidFill>
              </a:rPr>
              <a:t>Predicted Declined</a:t>
            </a:r>
            <a:endParaRPr lang="en-US" sz="1400" dirty="0"/>
          </a:p>
        </p:txBody>
      </p:sp>
      <p:sp>
        <p:nvSpPr>
          <p:cNvPr id="6" name="Text 4"/>
          <p:cNvSpPr txBox="1"/>
          <p:nvPr/>
        </p:nvSpPr>
        <p:spPr>
          <a:xfrm>
            <a:off x="731520" y="2194560"/>
            <a:ext cx="1554480" cy="1463040"/>
          </a:xfrm>
          <a:prstGeom prst="rect">
            <a:avLst/>
          </a:prstGeom>
          <a:noFill/>
          <a:ln/>
        </p:spPr>
        <p:txBody>
          <a:bodyPr wrap="square" lIns="0" tIns="0" rIns="0" bIns="0" rtlCol="0" anchor="ctr"/>
          <a:lstStyle/>
          <a:p>
            <a:pPr marL="0" indent="0">
              <a:buNone/>
            </a:pPr>
            <a:r>
              <a:rPr lang="en-US" sz="1400" b="1" dirty="0">
                <a:solidFill>
                  <a:schemeClr val="tx2"/>
                </a:solidFill>
              </a:rPr>
              <a:t>Actually Approved</a:t>
            </a:r>
            <a:endParaRPr lang="en-US" sz="1400" dirty="0"/>
          </a:p>
        </p:txBody>
      </p:sp>
      <p:sp>
        <p:nvSpPr>
          <p:cNvPr id="7" name="Text 5"/>
          <p:cNvSpPr txBox="1"/>
          <p:nvPr/>
        </p:nvSpPr>
        <p:spPr>
          <a:xfrm>
            <a:off x="731520" y="3749040"/>
            <a:ext cx="1554480" cy="1463040"/>
          </a:xfrm>
          <a:prstGeom prst="rect">
            <a:avLst/>
          </a:prstGeom>
          <a:noFill/>
          <a:ln/>
        </p:spPr>
        <p:txBody>
          <a:bodyPr wrap="square" lIns="0" tIns="0" rIns="0" bIns="0" rtlCol="0" anchor="ctr"/>
          <a:lstStyle/>
          <a:p>
            <a:pPr marL="0" indent="0">
              <a:buNone/>
            </a:pPr>
            <a:r>
              <a:rPr lang="en-US" sz="1400" b="1" dirty="0">
                <a:solidFill>
                  <a:schemeClr val="tx2"/>
                </a:solidFill>
              </a:rPr>
              <a:t>Actually Declined</a:t>
            </a:r>
            <a:endParaRPr lang="en-US" sz="1400" dirty="0"/>
          </a:p>
        </p:txBody>
      </p:sp>
      <p:sp>
        <p:nvSpPr>
          <p:cNvPr id="8" name="Matrix cell 1"/>
          <p:cNvSpPr/>
          <p:nvPr/>
        </p:nvSpPr>
        <p:spPr>
          <a:xfrm>
            <a:off x="2423160" y="2194560"/>
            <a:ext cx="2011680" cy="1463040"/>
          </a:xfrm>
          <a:prstGeom prst="roundRect">
            <a:avLst>
              <a:gd name="adj" fmla="val 6250"/>
            </a:avLst>
          </a:prstGeom>
          <a:solidFill>
            <a:srgbClr val="D6EFE4"/>
          </a:solidFill>
          <a:ln/>
        </p:spPr>
        <p:txBody>
          <a:bodyPr/>
          <a:lstStyle/>
          <a:p>
            <a:endParaRPr lang="en-IN"/>
          </a:p>
        </p:txBody>
      </p:sp>
      <p:sp>
        <p:nvSpPr>
          <p:cNvPr id="9" name="Text 7"/>
          <p:cNvSpPr txBox="1"/>
          <p:nvPr/>
        </p:nvSpPr>
        <p:spPr>
          <a:xfrm>
            <a:off x="2423160" y="2331720"/>
            <a:ext cx="2011680" cy="640080"/>
          </a:xfrm>
          <a:prstGeom prst="rect">
            <a:avLst/>
          </a:prstGeom>
          <a:noFill/>
          <a:ln/>
        </p:spPr>
        <p:txBody>
          <a:bodyPr wrap="square" lIns="0" tIns="0" rIns="0" bIns="0" rtlCol="0" anchor="ctr"/>
          <a:lstStyle/>
          <a:p>
            <a:pPr marL="0" indent="0" algn="ctr">
              <a:buNone/>
            </a:pPr>
            <a:r>
              <a:rPr lang="en-US" sz="3200" b="1" dirty="0">
                <a:solidFill>
                  <a:schemeClr val="accent4"/>
                </a:solidFill>
              </a:rPr>
              <a:t>1,046</a:t>
            </a:r>
            <a:endParaRPr lang="en-US" sz="3200" dirty="0"/>
          </a:p>
        </p:txBody>
      </p:sp>
      <p:sp>
        <p:nvSpPr>
          <p:cNvPr id="10" name="Text 8"/>
          <p:cNvSpPr txBox="1"/>
          <p:nvPr/>
        </p:nvSpPr>
        <p:spPr>
          <a:xfrm>
            <a:off x="2560320" y="2971800"/>
            <a:ext cx="1737360" cy="594360"/>
          </a:xfrm>
          <a:prstGeom prst="rect">
            <a:avLst/>
          </a:prstGeom>
          <a:noFill/>
          <a:ln/>
        </p:spPr>
        <p:txBody>
          <a:bodyPr wrap="square" lIns="0" tIns="0" rIns="0" bIns="0" rtlCol="0" anchor="t"/>
          <a:lstStyle/>
          <a:p>
            <a:pPr marL="0" indent="0" algn="ctr">
              <a:buNone/>
            </a:pPr>
            <a:r>
              <a:rPr lang="en-US" sz="1200" dirty="0">
                <a:solidFill>
                  <a:schemeClr val="tx1"/>
                </a:solidFill>
              </a:rPr>
              <a:t>correct approvals</a:t>
            </a:r>
            <a:endParaRPr lang="en-US" sz="1200" dirty="0"/>
          </a:p>
        </p:txBody>
      </p:sp>
      <p:sp>
        <p:nvSpPr>
          <p:cNvPr id="11" name="Matrix cell 2"/>
          <p:cNvSpPr/>
          <p:nvPr/>
        </p:nvSpPr>
        <p:spPr>
          <a:xfrm>
            <a:off x="4526280" y="2194560"/>
            <a:ext cx="2011680" cy="1463040"/>
          </a:xfrm>
          <a:prstGeom prst="roundRect">
            <a:avLst>
              <a:gd name="adj" fmla="val 6250"/>
            </a:avLst>
          </a:prstGeom>
          <a:solidFill>
            <a:srgbClr val="FADDD8"/>
          </a:solidFill>
          <a:ln/>
        </p:spPr>
        <p:txBody>
          <a:bodyPr/>
          <a:lstStyle/>
          <a:p>
            <a:endParaRPr lang="en-IN"/>
          </a:p>
        </p:txBody>
      </p:sp>
      <p:sp>
        <p:nvSpPr>
          <p:cNvPr id="12" name="Text 10"/>
          <p:cNvSpPr txBox="1"/>
          <p:nvPr/>
        </p:nvSpPr>
        <p:spPr>
          <a:xfrm>
            <a:off x="4526280" y="2331720"/>
            <a:ext cx="2011680" cy="640080"/>
          </a:xfrm>
          <a:prstGeom prst="rect">
            <a:avLst/>
          </a:prstGeom>
          <a:noFill/>
          <a:ln/>
        </p:spPr>
        <p:txBody>
          <a:bodyPr wrap="square" lIns="0" tIns="0" rIns="0" bIns="0" rtlCol="0" anchor="ctr"/>
          <a:lstStyle/>
          <a:p>
            <a:pPr marL="0" indent="0" algn="ctr">
              <a:buNone/>
            </a:pPr>
            <a:r>
              <a:rPr lang="en-US" sz="3200" b="1" dirty="0">
                <a:solidFill>
                  <a:schemeClr val="accent2"/>
                </a:solidFill>
              </a:rPr>
              <a:t>225</a:t>
            </a:r>
            <a:endParaRPr lang="en-US" sz="3200" dirty="0"/>
          </a:p>
        </p:txBody>
      </p:sp>
      <p:sp>
        <p:nvSpPr>
          <p:cNvPr id="13" name="Text 11"/>
          <p:cNvSpPr txBox="1"/>
          <p:nvPr/>
        </p:nvSpPr>
        <p:spPr>
          <a:xfrm>
            <a:off x="4663440" y="2971800"/>
            <a:ext cx="1737360" cy="594360"/>
          </a:xfrm>
          <a:prstGeom prst="rect">
            <a:avLst/>
          </a:prstGeom>
          <a:noFill/>
          <a:ln/>
        </p:spPr>
        <p:txBody>
          <a:bodyPr wrap="square" lIns="0" tIns="0" rIns="0" bIns="0" rtlCol="0" anchor="t"/>
          <a:lstStyle/>
          <a:p>
            <a:pPr marL="0" indent="0" algn="ctr">
              <a:buNone/>
            </a:pPr>
            <a:r>
              <a:rPr lang="en-US" sz="1200" dirty="0">
                <a:solidFill>
                  <a:schemeClr val="tx1"/>
                </a:solidFill>
              </a:rPr>
              <a:t>good applicants flagged as declined</a:t>
            </a:r>
            <a:endParaRPr lang="en-US" sz="1200" dirty="0"/>
          </a:p>
        </p:txBody>
      </p:sp>
      <p:sp>
        <p:nvSpPr>
          <p:cNvPr id="14" name="Matrix cell 3"/>
          <p:cNvSpPr/>
          <p:nvPr/>
        </p:nvSpPr>
        <p:spPr>
          <a:xfrm>
            <a:off x="2423160" y="3749040"/>
            <a:ext cx="2011680" cy="1463040"/>
          </a:xfrm>
          <a:prstGeom prst="roundRect">
            <a:avLst>
              <a:gd name="adj" fmla="val 6250"/>
            </a:avLst>
          </a:prstGeom>
          <a:solidFill>
            <a:srgbClr val="FBEBC6"/>
          </a:solidFill>
          <a:ln/>
        </p:spPr>
        <p:txBody>
          <a:bodyPr/>
          <a:lstStyle/>
          <a:p>
            <a:endParaRPr lang="en-IN"/>
          </a:p>
        </p:txBody>
      </p:sp>
      <p:sp>
        <p:nvSpPr>
          <p:cNvPr id="15" name="Text 13"/>
          <p:cNvSpPr txBox="1"/>
          <p:nvPr/>
        </p:nvSpPr>
        <p:spPr>
          <a:xfrm>
            <a:off x="2423160" y="3886200"/>
            <a:ext cx="2011680" cy="640080"/>
          </a:xfrm>
          <a:prstGeom prst="rect">
            <a:avLst/>
          </a:prstGeom>
          <a:noFill/>
          <a:ln/>
        </p:spPr>
        <p:txBody>
          <a:bodyPr wrap="square" lIns="0" tIns="0" rIns="0" bIns="0" rtlCol="0" anchor="ctr"/>
          <a:lstStyle/>
          <a:p>
            <a:pPr marL="0" indent="0" algn="ctr">
              <a:buNone/>
            </a:pPr>
            <a:r>
              <a:rPr lang="en-US" sz="3200" b="1" dirty="0">
                <a:solidFill>
                  <a:srgbClr val="8A5A00"/>
                </a:solidFill>
              </a:rPr>
              <a:t>277</a:t>
            </a:r>
            <a:endParaRPr lang="en-US" sz="3200" dirty="0"/>
          </a:p>
        </p:txBody>
      </p:sp>
      <p:sp>
        <p:nvSpPr>
          <p:cNvPr id="16" name="Text 14"/>
          <p:cNvSpPr txBox="1"/>
          <p:nvPr/>
        </p:nvSpPr>
        <p:spPr>
          <a:xfrm>
            <a:off x="2560320" y="4526280"/>
            <a:ext cx="1737360" cy="594360"/>
          </a:xfrm>
          <a:prstGeom prst="rect">
            <a:avLst/>
          </a:prstGeom>
          <a:noFill/>
          <a:ln/>
        </p:spPr>
        <p:txBody>
          <a:bodyPr wrap="square" lIns="0" tIns="0" rIns="0" bIns="0" rtlCol="0" anchor="t"/>
          <a:lstStyle/>
          <a:p>
            <a:pPr marL="0" indent="0" algn="ctr">
              <a:buNone/>
            </a:pPr>
            <a:r>
              <a:rPr lang="en-US" sz="1200" dirty="0">
                <a:solidFill>
                  <a:schemeClr val="tx1"/>
                </a:solidFill>
              </a:rPr>
              <a:t>declines the model missed</a:t>
            </a:r>
            <a:endParaRPr lang="en-US" sz="1200" dirty="0"/>
          </a:p>
        </p:txBody>
      </p:sp>
      <p:sp>
        <p:nvSpPr>
          <p:cNvPr id="17" name="Matrix cell 4"/>
          <p:cNvSpPr/>
          <p:nvPr/>
        </p:nvSpPr>
        <p:spPr>
          <a:xfrm>
            <a:off x="4526280" y="3749040"/>
            <a:ext cx="2011680" cy="1463040"/>
          </a:xfrm>
          <a:prstGeom prst="roundRect">
            <a:avLst>
              <a:gd name="adj" fmla="val 6250"/>
            </a:avLst>
          </a:prstGeom>
          <a:solidFill>
            <a:srgbClr val="D6EFE4"/>
          </a:solidFill>
          <a:ln/>
        </p:spPr>
        <p:txBody>
          <a:bodyPr/>
          <a:lstStyle/>
          <a:p>
            <a:endParaRPr lang="en-IN"/>
          </a:p>
        </p:txBody>
      </p:sp>
      <p:sp>
        <p:nvSpPr>
          <p:cNvPr id="18" name="Text 16"/>
          <p:cNvSpPr txBox="1"/>
          <p:nvPr/>
        </p:nvSpPr>
        <p:spPr>
          <a:xfrm>
            <a:off x="4526280" y="3886200"/>
            <a:ext cx="2011680" cy="640080"/>
          </a:xfrm>
          <a:prstGeom prst="rect">
            <a:avLst/>
          </a:prstGeom>
          <a:noFill/>
          <a:ln/>
        </p:spPr>
        <p:txBody>
          <a:bodyPr wrap="square" lIns="0" tIns="0" rIns="0" bIns="0" rtlCol="0" anchor="ctr"/>
          <a:lstStyle/>
          <a:p>
            <a:pPr marL="0" indent="0" algn="ctr">
              <a:buNone/>
            </a:pPr>
            <a:r>
              <a:rPr lang="en-US" sz="3200" b="1" dirty="0">
                <a:solidFill>
                  <a:schemeClr val="accent4"/>
                </a:solidFill>
              </a:rPr>
              <a:t>852</a:t>
            </a:r>
            <a:endParaRPr lang="en-US" sz="3200" dirty="0"/>
          </a:p>
        </p:txBody>
      </p:sp>
      <p:sp>
        <p:nvSpPr>
          <p:cNvPr id="19" name="Text 17"/>
          <p:cNvSpPr txBox="1"/>
          <p:nvPr/>
        </p:nvSpPr>
        <p:spPr>
          <a:xfrm>
            <a:off x="4663440" y="4526280"/>
            <a:ext cx="1737360" cy="594360"/>
          </a:xfrm>
          <a:prstGeom prst="rect">
            <a:avLst/>
          </a:prstGeom>
          <a:noFill/>
          <a:ln/>
        </p:spPr>
        <p:txBody>
          <a:bodyPr wrap="square" lIns="0" tIns="0" rIns="0" bIns="0" rtlCol="0" anchor="t"/>
          <a:lstStyle/>
          <a:p>
            <a:pPr marL="0" indent="0" algn="ctr">
              <a:buNone/>
            </a:pPr>
            <a:r>
              <a:rPr lang="en-US" sz="1200" dirty="0">
                <a:solidFill>
                  <a:schemeClr val="tx1"/>
                </a:solidFill>
              </a:rPr>
              <a:t>correct declines</a:t>
            </a:r>
            <a:endParaRPr lang="en-US" sz="1200" dirty="0"/>
          </a:p>
        </p:txBody>
      </p:sp>
      <p:sp>
        <p:nvSpPr>
          <p:cNvPr id="20" name="Text 18"/>
          <p:cNvSpPr txBox="1"/>
          <p:nvPr/>
        </p:nvSpPr>
        <p:spPr>
          <a:xfrm>
            <a:off x="731520" y="5349240"/>
            <a:ext cx="6035040" cy="548640"/>
          </a:xfrm>
          <a:prstGeom prst="rect">
            <a:avLst/>
          </a:prstGeom>
          <a:noFill/>
          <a:ln/>
        </p:spPr>
        <p:txBody>
          <a:bodyPr wrap="square" lIns="0" tIns="0" rIns="0" bIns="0" rtlCol="0" anchor="t"/>
          <a:lstStyle/>
          <a:p>
            <a:pPr marL="0" indent="0">
              <a:buNone/>
            </a:pPr>
            <a:r>
              <a:rPr lang="en-US" sz="1300" dirty="0">
                <a:solidFill>
                  <a:srgbClr val="55656F"/>
                </a:solidFill>
              </a:rPr>
              <a:t>Tested on 2,400 applications the model had never seen (80% to learn, 20% to test)</a:t>
            </a:r>
            <a:endParaRPr lang="en-US" sz="1300" dirty="0"/>
          </a:p>
        </p:txBody>
      </p:sp>
      <p:sp>
        <p:nvSpPr>
          <p:cNvPr id="21" name="Metric card 1"/>
          <p:cNvSpPr/>
          <p:nvPr/>
        </p:nvSpPr>
        <p:spPr>
          <a:xfrm>
            <a:off x="7223760" y="1508760"/>
            <a:ext cx="4416552" cy="1280160"/>
          </a:xfrm>
          <a:prstGeom prst="roundRect">
            <a:avLst>
              <a:gd name="adj" fmla="val 1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2" name="Text 20"/>
          <p:cNvSpPr txBox="1"/>
          <p:nvPr/>
        </p:nvSpPr>
        <p:spPr>
          <a:xfrm>
            <a:off x="7452360" y="1508760"/>
            <a:ext cx="1737360" cy="1280160"/>
          </a:xfrm>
          <a:prstGeom prst="rect">
            <a:avLst/>
          </a:prstGeom>
          <a:noFill/>
          <a:ln/>
        </p:spPr>
        <p:txBody>
          <a:bodyPr wrap="square" lIns="0" tIns="0" rIns="0" bIns="0" rtlCol="0" anchor="ctr"/>
          <a:lstStyle/>
          <a:p>
            <a:pPr marL="0" indent="0">
              <a:buNone/>
            </a:pPr>
            <a:r>
              <a:rPr lang="en-US" sz="3000" b="1" dirty="0">
                <a:solidFill>
                  <a:schemeClr val="accent1"/>
                </a:solidFill>
              </a:rPr>
              <a:t>79.08%</a:t>
            </a:r>
            <a:endParaRPr lang="en-US" sz="3000" dirty="0"/>
          </a:p>
        </p:txBody>
      </p:sp>
      <p:sp>
        <p:nvSpPr>
          <p:cNvPr id="23" name="Text 21"/>
          <p:cNvSpPr txBox="1"/>
          <p:nvPr/>
        </p:nvSpPr>
        <p:spPr>
          <a:xfrm>
            <a:off x="9235440" y="1508760"/>
            <a:ext cx="2286000" cy="1280160"/>
          </a:xfrm>
          <a:prstGeom prst="rect">
            <a:avLst/>
          </a:prstGeom>
          <a:noFill/>
          <a:ln/>
        </p:spPr>
        <p:txBody>
          <a:bodyPr wrap="square" lIns="0" tIns="0" rIns="0" bIns="0" rtlCol="0" anchor="ctr"/>
          <a:lstStyle/>
          <a:p>
            <a:pPr marL="0" indent="0">
              <a:buNone/>
            </a:pPr>
            <a:r>
              <a:rPr lang="en-US" sz="1400" b="1" dirty="0">
                <a:solidFill>
                  <a:schemeClr val="tx2"/>
                </a:solidFill>
              </a:rPr>
              <a:t>Accuracy</a:t>
            </a:r>
            <a:endParaRPr lang="en-US" sz="1400" dirty="0"/>
          </a:p>
          <a:p>
            <a:pPr marL="0" indent="0">
              <a:buNone/>
            </a:pPr>
            <a:r>
              <a:rPr lang="en-US" sz="1400" dirty="0">
                <a:solidFill>
                  <a:schemeClr val="tx1"/>
                </a:solidFill>
              </a:rPr>
              <a:t>about 79 of every 100 predicted right</a:t>
            </a:r>
            <a:endParaRPr lang="en-US" sz="1400" dirty="0"/>
          </a:p>
        </p:txBody>
      </p:sp>
      <p:sp>
        <p:nvSpPr>
          <p:cNvPr id="24" name="Metric card 2"/>
          <p:cNvSpPr/>
          <p:nvPr/>
        </p:nvSpPr>
        <p:spPr>
          <a:xfrm>
            <a:off x="7223760" y="3131820"/>
            <a:ext cx="4416552" cy="1280160"/>
          </a:xfrm>
          <a:prstGeom prst="roundRect">
            <a:avLst>
              <a:gd name="adj" fmla="val 1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5" name="Text 23"/>
          <p:cNvSpPr txBox="1"/>
          <p:nvPr/>
        </p:nvSpPr>
        <p:spPr>
          <a:xfrm>
            <a:off x="7452360" y="3131820"/>
            <a:ext cx="1737360" cy="1280160"/>
          </a:xfrm>
          <a:prstGeom prst="rect">
            <a:avLst/>
          </a:prstGeom>
          <a:noFill/>
          <a:ln/>
        </p:spPr>
        <p:txBody>
          <a:bodyPr wrap="square" lIns="0" tIns="0" rIns="0" bIns="0" rtlCol="0" anchor="ctr"/>
          <a:lstStyle/>
          <a:p>
            <a:pPr marL="0" indent="0">
              <a:buNone/>
            </a:pPr>
            <a:r>
              <a:rPr lang="en-US" sz="3000" b="1" dirty="0">
                <a:solidFill>
                  <a:schemeClr val="accent1"/>
                </a:solidFill>
              </a:rPr>
              <a:t>79.11%</a:t>
            </a:r>
            <a:endParaRPr lang="en-US" sz="3000" dirty="0"/>
          </a:p>
        </p:txBody>
      </p:sp>
      <p:sp>
        <p:nvSpPr>
          <p:cNvPr id="26" name="Text 24"/>
          <p:cNvSpPr txBox="1"/>
          <p:nvPr/>
        </p:nvSpPr>
        <p:spPr>
          <a:xfrm>
            <a:off x="9235440" y="3131820"/>
            <a:ext cx="2286000" cy="1280160"/>
          </a:xfrm>
          <a:prstGeom prst="rect">
            <a:avLst/>
          </a:prstGeom>
          <a:noFill/>
          <a:ln/>
        </p:spPr>
        <p:txBody>
          <a:bodyPr wrap="square" lIns="0" tIns="0" rIns="0" bIns="0" rtlCol="0" anchor="ctr"/>
          <a:lstStyle/>
          <a:p>
            <a:pPr marL="0" indent="0">
              <a:buNone/>
            </a:pPr>
            <a:r>
              <a:rPr lang="en-US" sz="1400" b="1" dirty="0">
                <a:solidFill>
                  <a:schemeClr val="tx2"/>
                </a:solidFill>
              </a:rPr>
              <a:t>Precision (declined)</a:t>
            </a:r>
            <a:endParaRPr lang="en-US" sz="1400" dirty="0"/>
          </a:p>
          <a:p>
            <a:pPr marL="0" indent="0">
              <a:buNone/>
            </a:pPr>
            <a:r>
              <a:rPr lang="en-US" sz="1400" dirty="0">
                <a:solidFill>
                  <a:schemeClr val="tx1"/>
                </a:solidFill>
              </a:rPr>
              <a:t>of predicted declines, about 79% really were</a:t>
            </a:r>
            <a:endParaRPr lang="en-US" sz="1400" dirty="0"/>
          </a:p>
        </p:txBody>
      </p:sp>
      <p:sp>
        <p:nvSpPr>
          <p:cNvPr id="27" name="Metric card 3"/>
          <p:cNvSpPr/>
          <p:nvPr/>
        </p:nvSpPr>
        <p:spPr>
          <a:xfrm>
            <a:off x="7223760" y="4754880"/>
            <a:ext cx="4416552" cy="1280160"/>
          </a:xfrm>
          <a:prstGeom prst="roundRect">
            <a:avLst>
              <a:gd name="adj" fmla="val 1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8" name="Text 26"/>
          <p:cNvSpPr txBox="1"/>
          <p:nvPr/>
        </p:nvSpPr>
        <p:spPr>
          <a:xfrm>
            <a:off x="7452360" y="4754880"/>
            <a:ext cx="1737360" cy="1280160"/>
          </a:xfrm>
          <a:prstGeom prst="rect">
            <a:avLst/>
          </a:prstGeom>
          <a:noFill/>
          <a:ln/>
        </p:spPr>
        <p:txBody>
          <a:bodyPr wrap="square" lIns="0" tIns="0" rIns="0" bIns="0" rtlCol="0" anchor="ctr"/>
          <a:lstStyle/>
          <a:p>
            <a:pPr marL="0" indent="0">
              <a:buNone/>
            </a:pPr>
            <a:r>
              <a:rPr lang="en-US" sz="3000" b="1" dirty="0">
                <a:solidFill>
                  <a:schemeClr val="accent1"/>
                </a:solidFill>
              </a:rPr>
              <a:t>75.47%</a:t>
            </a:r>
            <a:endParaRPr lang="en-US" sz="3000" dirty="0"/>
          </a:p>
        </p:txBody>
      </p:sp>
      <p:sp>
        <p:nvSpPr>
          <p:cNvPr id="29" name="Text 27"/>
          <p:cNvSpPr txBox="1"/>
          <p:nvPr/>
        </p:nvSpPr>
        <p:spPr>
          <a:xfrm>
            <a:off x="9235440" y="4754880"/>
            <a:ext cx="2286000" cy="1280160"/>
          </a:xfrm>
          <a:prstGeom prst="rect">
            <a:avLst/>
          </a:prstGeom>
          <a:noFill/>
          <a:ln/>
        </p:spPr>
        <p:txBody>
          <a:bodyPr wrap="square" lIns="0" tIns="0" rIns="0" bIns="0" rtlCol="0" anchor="ctr"/>
          <a:lstStyle/>
          <a:p>
            <a:pPr marL="0" indent="0">
              <a:buNone/>
            </a:pPr>
            <a:r>
              <a:rPr lang="en-US" sz="1400" b="1" dirty="0">
                <a:solidFill>
                  <a:schemeClr val="tx2"/>
                </a:solidFill>
              </a:rPr>
              <a:t>Recall (declined)</a:t>
            </a:r>
            <a:endParaRPr lang="en-US" sz="1400" dirty="0"/>
          </a:p>
          <a:p>
            <a:pPr marL="0" indent="0">
              <a:buNone/>
            </a:pPr>
            <a:r>
              <a:rPr lang="en-US" sz="1400" dirty="0">
                <a:solidFill>
                  <a:schemeClr val="tx1"/>
                </a:solidFill>
              </a:rPr>
              <a:t>catches about 75% of real declines</a:t>
            </a:r>
            <a:endParaRPr lang="en-US" sz="1400" dirty="0"/>
          </a:p>
        </p:txBody>
      </p:sp>
      <p:sp>
        <p:nvSpPr>
          <p:cNvPr id="30"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5.4  Build the logistic regression pre-screener</a:t>
            </a:r>
          </a:p>
          <a:p>
            <a:pPr marL="0" indent="0" algn="l">
              <a:buNone/>
            </a:pPr>
            <a:r>
              <a:rPr lang="en-US" sz="1600" b="0" dirty="0">
                <a:solidFill>
                  <a:schemeClr val="accent1"/>
                </a:solidFill>
              </a:rPr>
              <a:t>What the first model looks at</a:t>
            </a:r>
          </a:p>
        </p:txBody>
      </p:sp>
      <p:sp>
        <p:nvSpPr>
          <p:cNvPr id="3" name="Chart card"/>
          <p:cNvSpPr/>
          <p:nvPr/>
        </p:nvSpPr>
        <p:spPr>
          <a:xfrm>
            <a:off x="548640" y="1508760"/>
            <a:ext cx="7040880"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731520" y="1645920"/>
          <a:ext cx="667512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Legend card"/>
          <p:cNvSpPr/>
          <p:nvPr/>
        </p:nvSpPr>
        <p:spPr>
          <a:xfrm>
            <a:off x="7863840" y="1508760"/>
            <a:ext cx="3776472" cy="4526280"/>
          </a:xfrm>
          <a:prstGeom prst="roundRect">
            <a:avLst>
              <a:gd name="adj" fmla="val 339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6" name="Text 3"/>
          <p:cNvSpPr txBox="1"/>
          <p:nvPr/>
        </p:nvSpPr>
        <p:spPr>
          <a:xfrm>
            <a:off x="8138160" y="1737360"/>
            <a:ext cx="3291840" cy="411480"/>
          </a:xfrm>
          <a:prstGeom prst="rect">
            <a:avLst/>
          </a:prstGeom>
          <a:noFill/>
          <a:ln/>
        </p:spPr>
        <p:txBody>
          <a:bodyPr wrap="square" lIns="0" tIns="0" rIns="0" bIns="0" rtlCol="0" anchor="t"/>
          <a:lstStyle/>
          <a:p>
            <a:pPr marL="0" indent="0">
              <a:buNone/>
            </a:pPr>
            <a:r>
              <a:rPr lang="en-US" sz="2000" b="1" dirty="0">
                <a:solidFill>
                  <a:schemeClr val="tx2"/>
                </a:solidFill>
              </a:rPr>
              <a:t>How to read it</a:t>
            </a:r>
            <a:endParaRPr lang="en-US" sz="2000" dirty="0"/>
          </a:p>
        </p:txBody>
      </p:sp>
      <p:sp>
        <p:nvSpPr>
          <p:cNvPr id="7" name="Legend dot decline"/>
          <p:cNvSpPr/>
          <p:nvPr/>
        </p:nvSpPr>
        <p:spPr>
          <a:xfrm>
            <a:off x="8138160" y="2423160"/>
            <a:ext cx="274320" cy="274320"/>
          </a:xfrm>
          <a:prstGeom prst="ellipse">
            <a:avLst/>
          </a:prstGeom>
          <a:solidFill>
            <a:schemeClr val="accent2"/>
          </a:solidFill>
          <a:ln/>
        </p:spPr>
        <p:txBody>
          <a:bodyPr/>
          <a:lstStyle/>
          <a:p>
            <a:endParaRPr lang="en-IN"/>
          </a:p>
        </p:txBody>
      </p:sp>
      <p:sp>
        <p:nvSpPr>
          <p:cNvPr id="8" name="Text 5"/>
          <p:cNvSpPr txBox="1"/>
          <p:nvPr/>
        </p:nvSpPr>
        <p:spPr>
          <a:xfrm>
            <a:off x="8549640" y="2377440"/>
            <a:ext cx="2926080" cy="365760"/>
          </a:xfrm>
          <a:prstGeom prst="rect">
            <a:avLst/>
          </a:prstGeom>
          <a:noFill/>
          <a:ln/>
        </p:spPr>
        <p:txBody>
          <a:bodyPr wrap="square" lIns="0" tIns="0" rIns="0" bIns="0" rtlCol="0" anchor="ctr"/>
          <a:lstStyle/>
          <a:p>
            <a:pPr marL="0" indent="0">
              <a:buNone/>
            </a:pPr>
            <a:r>
              <a:rPr lang="en-US" sz="1500" b="1" dirty="0">
                <a:solidFill>
                  <a:schemeClr val="tx1"/>
                </a:solidFill>
              </a:rPr>
              <a:t>Pushes towards Declined</a:t>
            </a:r>
            <a:endParaRPr lang="en-US" sz="1500" dirty="0"/>
          </a:p>
        </p:txBody>
      </p:sp>
      <p:sp>
        <p:nvSpPr>
          <p:cNvPr id="9" name="Legend dot approve"/>
          <p:cNvSpPr/>
          <p:nvPr/>
        </p:nvSpPr>
        <p:spPr>
          <a:xfrm>
            <a:off x="8138160" y="2926080"/>
            <a:ext cx="274320" cy="274320"/>
          </a:xfrm>
          <a:prstGeom prst="ellipse">
            <a:avLst/>
          </a:prstGeom>
          <a:solidFill>
            <a:schemeClr val="accent1"/>
          </a:solidFill>
          <a:ln/>
        </p:spPr>
        <p:txBody>
          <a:bodyPr/>
          <a:lstStyle/>
          <a:p>
            <a:endParaRPr lang="en-IN"/>
          </a:p>
        </p:txBody>
      </p:sp>
      <p:sp>
        <p:nvSpPr>
          <p:cNvPr id="10" name="Text 7"/>
          <p:cNvSpPr txBox="1"/>
          <p:nvPr/>
        </p:nvSpPr>
        <p:spPr>
          <a:xfrm>
            <a:off x="8549640" y="2880360"/>
            <a:ext cx="2926080" cy="365760"/>
          </a:xfrm>
          <a:prstGeom prst="rect">
            <a:avLst/>
          </a:prstGeom>
          <a:noFill/>
          <a:ln/>
        </p:spPr>
        <p:txBody>
          <a:bodyPr wrap="square" lIns="0" tIns="0" rIns="0" bIns="0" rtlCol="0" anchor="ctr"/>
          <a:lstStyle/>
          <a:p>
            <a:pPr marL="0" indent="0">
              <a:buNone/>
            </a:pPr>
            <a:r>
              <a:rPr lang="en-US" sz="1500" b="1" dirty="0">
                <a:solidFill>
                  <a:schemeClr val="tx1"/>
                </a:solidFill>
              </a:rPr>
              <a:t>Pushes towards Approved</a:t>
            </a:r>
            <a:endParaRPr lang="en-US" sz="1500" dirty="0"/>
          </a:p>
        </p:txBody>
      </p:sp>
      <p:sp>
        <p:nvSpPr>
          <p:cNvPr id="11" name="Text 8"/>
          <p:cNvSpPr txBox="1"/>
          <p:nvPr/>
        </p:nvSpPr>
        <p:spPr>
          <a:xfrm>
            <a:off x="8138160" y="3611880"/>
            <a:ext cx="3291840" cy="2194560"/>
          </a:xfrm>
          <a:prstGeom prst="rect">
            <a:avLst/>
          </a:prstGeom>
          <a:noFill/>
          <a:ln/>
        </p:spPr>
        <p:txBody>
          <a:bodyPr wrap="square" lIns="0" tIns="0" rIns="0" bIns="0" rtlCol="0" anchor="t"/>
          <a:lstStyle/>
          <a:p>
            <a:pPr marL="0" indent="0">
              <a:buNone/>
            </a:pPr>
            <a:r>
              <a:rPr lang="en-US" sz="1500" dirty="0">
                <a:solidFill>
                  <a:schemeClr val="tx1"/>
                </a:solidFill>
              </a:rPr>
              <a:t>A longer bar means a stronger push. These are patterns in past decisions, not proof of what causes a decision.</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5.5  Set the auto-decline threshold</a:t>
            </a:r>
          </a:p>
          <a:p>
            <a:pPr marL="0" indent="0" algn="l">
              <a:buNone/>
            </a:pPr>
            <a:r>
              <a:rPr lang="en-US" sz="1600" b="0" dirty="0">
                <a:solidFill>
                  <a:schemeClr val="accent1"/>
                </a:solidFill>
              </a:rPr>
              <a:t>What the 0.90 rule saves</a:t>
            </a:r>
          </a:p>
        </p:txBody>
      </p:sp>
      <p:sp>
        <p:nvSpPr>
          <p:cNvPr id="3" name="Impact card 1"/>
          <p:cNvSpPr/>
          <p:nvPr/>
        </p:nvSpPr>
        <p:spPr>
          <a:xfrm>
            <a:off x="548640" y="1508760"/>
            <a:ext cx="3474720" cy="3383280"/>
          </a:xfrm>
          <a:prstGeom prst="roundRect">
            <a:avLst>
              <a:gd name="adj" fmla="val 37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4" name="Icon circle"/>
          <p:cNvSpPr/>
          <p:nvPr/>
        </p:nvSpPr>
        <p:spPr>
          <a:xfrm>
            <a:off x="822960" y="1737360"/>
            <a:ext cx="777240" cy="777240"/>
          </a:xfrm>
          <a:prstGeom prst="ellipse">
            <a:avLst/>
          </a:prstGeom>
          <a:solidFill>
            <a:schemeClr val="accent2"/>
          </a:solidFill>
          <a:ln/>
        </p:spPr>
        <p:txBody>
          <a:bodyPr/>
          <a:lstStyle/>
          <a:p>
            <a:endParaRPr lang="en-IN"/>
          </a:p>
        </p:txBody>
      </p:sp>
      <p:pic>
        <p:nvPicPr>
          <p:cNvPr id="5" name="Image 0" descr="Ban icon"/>
          <p:cNvPicPr>
            <a:picLocks noChangeAspect="1"/>
          </p:cNvPicPr>
          <p:nvPr/>
        </p:nvPicPr>
        <p:blipFill>
          <a:blip r:embed="rId3"/>
          <a:stretch>
            <a:fillRect/>
          </a:stretch>
        </p:blipFill>
        <p:spPr>
          <a:xfrm>
            <a:off x="1032815" y="1947215"/>
            <a:ext cx="357530" cy="357530"/>
          </a:xfrm>
          <a:prstGeom prst="rect">
            <a:avLst/>
          </a:prstGeom>
        </p:spPr>
      </p:pic>
      <p:sp>
        <p:nvSpPr>
          <p:cNvPr id="6" name="Text 3"/>
          <p:cNvSpPr txBox="1"/>
          <p:nvPr/>
        </p:nvSpPr>
        <p:spPr>
          <a:xfrm>
            <a:off x="822960" y="2743200"/>
            <a:ext cx="2926080" cy="914400"/>
          </a:xfrm>
          <a:prstGeom prst="rect">
            <a:avLst/>
          </a:prstGeom>
          <a:noFill/>
          <a:ln/>
        </p:spPr>
        <p:txBody>
          <a:bodyPr wrap="square" lIns="0" tIns="0" rIns="0" bIns="0" rtlCol="0" anchor="ctr"/>
          <a:lstStyle/>
          <a:p>
            <a:pPr marL="0" indent="0">
              <a:buNone/>
            </a:pPr>
            <a:r>
              <a:rPr lang="en-US" sz="5400" b="1" dirty="0">
                <a:solidFill>
                  <a:schemeClr val="accent2"/>
                </a:solidFill>
              </a:rPr>
              <a:t>365</a:t>
            </a:r>
            <a:endParaRPr lang="en-US" sz="5400" dirty="0"/>
          </a:p>
        </p:txBody>
      </p:sp>
      <p:sp>
        <p:nvSpPr>
          <p:cNvPr id="7" name="Text 4"/>
          <p:cNvSpPr txBox="1"/>
          <p:nvPr/>
        </p:nvSpPr>
        <p:spPr>
          <a:xfrm>
            <a:off x="822960" y="3749040"/>
            <a:ext cx="2926080" cy="914400"/>
          </a:xfrm>
          <a:prstGeom prst="rect">
            <a:avLst/>
          </a:prstGeom>
          <a:noFill/>
          <a:ln/>
        </p:spPr>
        <p:txBody>
          <a:bodyPr wrap="square" lIns="0" tIns="0" rIns="0" bIns="0" rtlCol="0" anchor="t"/>
          <a:lstStyle/>
          <a:p>
            <a:pPr marL="0" indent="0">
              <a:buNone/>
            </a:pPr>
            <a:r>
              <a:rPr lang="en-US" sz="1600" dirty="0">
                <a:solidFill>
                  <a:schemeClr val="tx1"/>
                </a:solidFill>
              </a:rPr>
              <a:t>applications auto-declined in the 2,400-application test</a:t>
            </a:r>
            <a:endParaRPr lang="en-US" sz="1600" dirty="0"/>
          </a:p>
        </p:txBody>
      </p:sp>
      <p:sp>
        <p:nvSpPr>
          <p:cNvPr id="8" name="Impact card 2"/>
          <p:cNvSpPr/>
          <p:nvPr/>
        </p:nvSpPr>
        <p:spPr>
          <a:xfrm>
            <a:off x="4357116" y="1508760"/>
            <a:ext cx="3474720" cy="3383280"/>
          </a:xfrm>
          <a:prstGeom prst="roundRect">
            <a:avLst>
              <a:gd name="adj" fmla="val 37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9" name="Icon circle"/>
          <p:cNvSpPr/>
          <p:nvPr/>
        </p:nvSpPr>
        <p:spPr>
          <a:xfrm>
            <a:off x="4631436" y="1737360"/>
            <a:ext cx="777240" cy="777240"/>
          </a:xfrm>
          <a:prstGeom prst="ellipse">
            <a:avLst/>
          </a:prstGeom>
          <a:solidFill>
            <a:schemeClr val="accent1"/>
          </a:solidFill>
          <a:ln/>
        </p:spPr>
        <p:txBody>
          <a:bodyPr/>
          <a:lstStyle/>
          <a:p>
            <a:endParaRPr lang="en-IN"/>
          </a:p>
        </p:txBody>
      </p:sp>
      <p:pic>
        <p:nvPicPr>
          <p:cNvPr id="10" name="Image 1" descr="FolderOpen icon"/>
          <p:cNvPicPr>
            <a:picLocks noChangeAspect="1"/>
          </p:cNvPicPr>
          <p:nvPr/>
        </p:nvPicPr>
        <p:blipFill>
          <a:blip r:embed="rId4"/>
          <a:stretch>
            <a:fillRect/>
          </a:stretch>
        </p:blipFill>
        <p:spPr>
          <a:xfrm>
            <a:off x="4841291" y="1947215"/>
            <a:ext cx="357530" cy="357530"/>
          </a:xfrm>
          <a:prstGeom prst="rect">
            <a:avLst/>
          </a:prstGeom>
        </p:spPr>
      </p:pic>
      <p:sp>
        <p:nvSpPr>
          <p:cNvPr id="11" name="Text 7"/>
          <p:cNvSpPr txBox="1"/>
          <p:nvPr/>
        </p:nvSpPr>
        <p:spPr>
          <a:xfrm>
            <a:off x="4631436" y="2743200"/>
            <a:ext cx="2926080" cy="914400"/>
          </a:xfrm>
          <a:prstGeom prst="rect">
            <a:avLst/>
          </a:prstGeom>
          <a:noFill/>
          <a:ln/>
        </p:spPr>
        <p:txBody>
          <a:bodyPr wrap="square" lIns="0" tIns="0" rIns="0" bIns="0" rtlCol="0" anchor="ctr"/>
          <a:lstStyle/>
          <a:p>
            <a:pPr marL="0" indent="0">
              <a:buNone/>
            </a:pPr>
            <a:r>
              <a:rPr lang="en-US" sz="5400" b="1" dirty="0">
                <a:solidFill>
                  <a:schemeClr val="accent1"/>
                </a:solidFill>
              </a:rPr>
              <a:t>456</a:t>
            </a:r>
            <a:endParaRPr lang="en-US" sz="5400" dirty="0"/>
          </a:p>
        </p:txBody>
      </p:sp>
      <p:sp>
        <p:nvSpPr>
          <p:cNvPr id="12" name="Text 8"/>
          <p:cNvSpPr txBox="1"/>
          <p:nvPr/>
        </p:nvSpPr>
        <p:spPr>
          <a:xfrm>
            <a:off x="4631436" y="3749040"/>
            <a:ext cx="2926080" cy="914400"/>
          </a:xfrm>
          <a:prstGeom prst="rect">
            <a:avLst/>
          </a:prstGeom>
          <a:noFill/>
          <a:ln/>
        </p:spPr>
        <p:txBody>
          <a:bodyPr wrap="square" lIns="0" tIns="0" rIns="0" bIns="0" rtlCol="0" anchor="t"/>
          <a:lstStyle/>
          <a:p>
            <a:pPr marL="0" indent="0">
              <a:buNone/>
            </a:pPr>
            <a:r>
              <a:rPr lang="en-US" sz="1600" dirty="0">
                <a:solidFill>
                  <a:schemeClr val="tx1"/>
                </a:solidFill>
              </a:rPr>
              <a:t>applications handled automatically each month</a:t>
            </a:r>
            <a:endParaRPr lang="en-US" sz="1600" dirty="0"/>
          </a:p>
        </p:txBody>
      </p:sp>
      <p:sp>
        <p:nvSpPr>
          <p:cNvPr id="13" name="Impact card 3"/>
          <p:cNvSpPr/>
          <p:nvPr/>
        </p:nvSpPr>
        <p:spPr>
          <a:xfrm>
            <a:off x="8165592" y="1508760"/>
            <a:ext cx="3474720" cy="3383280"/>
          </a:xfrm>
          <a:prstGeom prst="roundRect">
            <a:avLst>
              <a:gd name="adj" fmla="val 37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4" name="Icon circle"/>
          <p:cNvSpPr/>
          <p:nvPr/>
        </p:nvSpPr>
        <p:spPr>
          <a:xfrm>
            <a:off x="8439912" y="1737360"/>
            <a:ext cx="777240" cy="777240"/>
          </a:xfrm>
          <a:prstGeom prst="ellipse">
            <a:avLst/>
          </a:prstGeom>
          <a:solidFill>
            <a:schemeClr val="accent4"/>
          </a:solidFill>
          <a:ln/>
        </p:spPr>
        <p:txBody>
          <a:bodyPr/>
          <a:lstStyle/>
          <a:p>
            <a:endParaRPr lang="en-IN"/>
          </a:p>
        </p:txBody>
      </p:sp>
      <p:pic>
        <p:nvPicPr>
          <p:cNvPr id="15" name="Image 2" descr="Clock icon"/>
          <p:cNvPicPr>
            <a:picLocks noChangeAspect="1"/>
          </p:cNvPicPr>
          <p:nvPr/>
        </p:nvPicPr>
        <p:blipFill>
          <a:blip r:embed="rId5"/>
          <a:stretch>
            <a:fillRect/>
          </a:stretch>
        </p:blipFill>
        <p:spPr>
          <a:xfrm>
            <a:off x="8649767" y="1947215"/>
            <a:ext cx="357530" cy="357530"/>
          </a:xfrm>
          <a:prstGeom prst="rect">
            <a:avLst/>
          </a:prstGeom>
        </p:spPr>
      </p:pic>
      <p:sp>
        <p:nvSpPr>
          <p:cNvPr id="16" name="Text 11"/>
          <p:cNvSpPr txBox="1"/>
          <p:nvPr/>
        </p:nvSpPr>
        <p:spPr>
          <a:xfrm>
            <a:off x="8439912" y="2743200"/>
            <a:ext cx="2926080" cy="914400"/>
          </a:xfrm>
          <a:prstGeom prst="rect">
            <a:avLst/>
          </a:prstGeom>
          <a:noFill/>
          <a:ln/>
        </p:spPr>
        <p:txBody>
          <a:bodyPr wrap="square" lIns="0" tIns="0" rIns="0" bIns="0" rtlCol="0" anchor="ctr"/>
          <a:lstStyle/>
          <a:p>
            <a:pPr marL="0" indent="0">
              <a:buNone/>
            </a:pPr>
            <a:r>
              <a:rPr lang="en-US" sz="5400" b="1" dirty="0">
                <a:solidFill>
                  <a:schemeClr val="accent4"/>
                </a:solidFill>
              </a:rPr>
              <a:t>190.1</a:t>
            </a:r>
            <a:endParaRPr lang="en-US" sz="5400" dirty="0"/>
          </a:p>
        </p:txBody>
      </p:sp>
      <p:sp>
        <p:nvSpPr>
          <p:cNvPr id="17" name="Text 12"/>
          <p:cNvSpPr txBox="1"/>
          <p:nvPr/>
        </p:nvSpPr>
        <p:spPr>
          <a:xfrm>
            <a:off x="8439912" y="3749040"/>
            <a:ext cx="2926080" cy="914400"/>
          </a:xfrm>
          <a:prstGeom prst="rect">
            <a:avLst/>
          </a:prstGeom>
          <a:noFill/>
          <a:ln/>
        </p:spPr>
        <p:txBody>
          <a:bodyPr wrap="square" lIns="0" tIns="0" rIns="0" bIns="0" rtlCol="0" anchor="t"/>
          <a:lstStyle/>
          <a:p>
            <a:pPr marL="0" indent="0">
              <a:buNone/>
            </a:pPr>
            <a:r>
              <a:rPr lang="en-US" sz="1600" dirty="0">
                <a:solidFill>
                  <a:schemeClr val="tx1"/>
                </a:solidFill>
              </a:rPr>
              <a:t>analyst hours saved each month</a:t>
            </a:r>
            <a:endParaRPr lang="en-US" sz="1600" dirty="0"/>
          </a:p>
        </p:txBody>
      </p:sp>
      <p:sp>
        <p:nvSpPr>
          <p:cNvPr id="18" name="Assumption banner"/>
          <p:cNvSpPr/>
          <p:nvPr/>
        </p:nvSpPr>
        <p:spPr>
          <a:xfrm>
            <a:off x="548640" y="5166360"/>
            <a:ext cx="11091672" cy="914400"/>
          </a:xfrm>
          <a:prstGeom prst="roundRect">
            <a:avLst>
              <a:gd name="adj" fmla="val 14000"/>
            </a:avLst>
          </a:prstGeom>
          <a:solidFill>
            <a:schemeClr val="tx2"/>
          </a:solidFill>
          <a:ln/>
          <a:effectLst>
            <a:outerShdw blurRad="101600" dist="25400" dir="5400000" algn="bl" rotWithShape="0">
              <a:srgbClr val="0B3B3F">
                <a:alpha val="12000"/>
              </a:srgbClr>
            </a:outerShdw>
          </a:effectLst>
        </p:spPr>
        <p:txBody>
          <a:bodyPr/>
          <a:lstStyle/>
          <a:p>
            <a:endParaRPr lang="en-IN"/>
          </a:p>
        </p:txBody>
      </p:sp>
      <p:sp>
        <p:nvSpPr>
          <p:cNvPr id="19" name="Text 14"/>
          <p:cNvSpPr txBox="1"/>
          <p:nvPr/>
        </p:nvSpPr>
        <p:spPr>
          <a:xfrm>
            <a:off x="868680" y="5166360"/>
            <a:ext cx="10424160" cy="914400"/>
          </a:xfrm>
          <a:prstGeom prst="rect">
            <a:avLst/>
          </a:prstGeom>
          <a:noFill/>
          <a:ln/>
        </p:spPr>
        <p:txBody>
          <a:bodyPr wrap="square" lIns="0" tIns="0" rIns="0" bIns="0" rtlCol="0" anchor="ctr"/>
          <a:lstStyle/>
          <a:p>
            <a:pPr marL="0" indent="0">
              <a:buNone/>
            </a:pPr>
            <a:r>
              <a:rPr lang="en-US" sz="1800" dirty="0">
                <a:solidFill>
                  <a:schemeClr val="bg1"/>
                </a:solidFill>
              </a:rPr>
              <a:t>Based on 3,000 applications a month and 25 minutes per manual review. These are estimates from past test data.</a:t>
            </a:r>
            <a:endParaRPr lang="en-US" sz="18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5.6  Fairness check</a:t>
            </a:r>
          </a:p>
          <a:p>
            <a:pPr marL="0" indent="0" algn="l">
              <a:buNone/>
            </a:pPr>
            <a:r>
              <a:rPr lang="en-US" sz="1600" b="0" dirty="0">
                <a:solidFill>
                  <a:schemeClr val="accent1"/>
                </a:solidFill>
              </a:rPr>
              <a:t>Is it fair? A quick check</a:t>
            </a:r>
          </a:p>
        </p:txBody>
      </p:sp>
      <p:sp>
        <p:nvSpPr>
          <p:cNvPr id="3" name="Male header"/>
          <p:cNvSpPr/>
          <p:nvPr/>
        </p:nvSpPr>
        <p:spPr>
          <a:xfrm>
            <a:off x="4572000" y="1463040"/>
            <a:ext cx="3474720" cy="548640"/>
          </a:xfrm>
          <a:prstGeom prst="roundRect">
            <a:avLst>
              <a:gd name="adj" fmla="val 50000"/>
            </a:avLst>
          </a:prstGeom>
          <a:solidFill>
            <a:schemeClr val="accent1"/>
          </a:solidFill>
          <a:ln/>
        </p:spPr>
        <p:txBody>
          <a:bodyPr/>
          <a:lstStyle/>
          <a:p>
            <a:endParaRPr lang="en-IN"/>
          </a:p>
        </p:txBody>
      </p:sp>
      <p:sp>
        <p:nvSpPr>
          <p:cNvPr id="4" name="Text 2"/>
          <p:cNvSpPr txBox="1"/>
          <p:nvPr/>
        </p:nvSpPr>
        <p:spPr>
          <a:xfrm>
            <a:off x="4572000" y="1463040"/>
            <a:ext cx="3474720" cy="548640"/>
          </a:xfrm>
          <a:prstGeom prst="rect">
            <a:avLst/>
          </a:prstGeom>
          <a:noFill/>
          <a:ln/>
        </p:spPr>
        <p:txBody>
          <a:bodyPr wrap="square" lIns="0" tIns="0" rIns="0" bIns="0" rtlCol="0" anchor="ctr"/>
          <a:lstStyle/>
          <a:p>
            <a:pPr marL="0" indent="0" algn="ctr">
              <a:buNone/>
            </a:pPr>
            <a:r>
              <a:rPr lang="en-US" sz="1800" b="1" dirty="0">
                <a:solidFill>
                  <a:schemeClr val="bg1"/>
                </a:solidFill>
              </a:rPr>
              <a:t>Male applicants</a:t>
            </a:r>
            <a:endParaRPr lang="en-US" sz="1800" dirty="0"/>
          </a:p>
        </p:txBody>
      </p:sp>
      <p:sp>
        <p:nvSpPr>
          <p:cNvPr id="5" name="Female header"/>
          <p:cNvSpPr/>
          <p:nvPr/>
        </p:nvSpPr>
        <p:spPr>
          <a:xfrm>
            <a:off x="8165592" y="1463040"/>
            <a:ext cx="3474720" cy="548640"/>
          </a:xfrm>
          <a:prstGeom prst="roundRect">
            <a:avLst>
              <a:gd name="adj" fmla="val 50000"/>
            </a:avLst>
          </a:prstGeom>
          <a:solidFill>
            <a:schemeClr val="accent5"/>
          </a:solidFill>
          <a:ln/>
        </p:spPr>
        <p:txBody>
          <a:bodyPr/>
          <a:lstStyle/>
          <a:p>
            <a:endParaRPr lang="en-IN"/>
          </a:p>
        </p:txBody>
      </p:sp>
      <p:sp>
        <p:nvSpPr>
          <p:cNvPr id="6" name="Text 4"/>
          <p:cNvSpPr txBox="1"/>
          <p:nvPr/>
        </p:nvSpPr>
        <p:spPr>
          <a:xfrm>
            <a:off x="8165592" y="1463040"/>
            <a:ext cx="3474720" cy="548640"/>
          </a:xfrm>
          <a:prstGeom prst="rect">
            <a:avLst/>
          </a:prstGeom>
          <a:noFill/>
          <a:ln/>
        </p:spPr>
        <p:txBody>
          <a:bodyPr wrap="square" lIns="0" tIns="0" rIns="0" bIns="0" rtlCol="0" anchor="ctr"/>
          <a:lstStyle/>
          <a:p>
            <a:pPr marL="0" indent="0" algn="ctr">
              <a:buNone/>
            </a:pPr>
            <a:r>
              <a:rPr lang="en-US" sz="1800" b="1" dirty="0">
                <a:solidFill>
                  <a:schemeClr val="bg1"/>
                </a:solidFill>
              </a:rPr>
              <a:t>Female applicants</a:t>
            </a:r>
            <a:endParaRPr lang="en-US" sz="1800" dirty="0"/>
          </a:p>
        </p:txBody>
      </p:sp>
      <p:sp>
        <p:nvSpPr>
          <p:cNvPr id="7" name="Fairness row 1"/>
          <p:cNvSpPr/>
          <p:nvPr/>
        </p:nvSpPr>
        <p:spPr>
          <a:xfrm>
            <a:off x="548640" y="2194560"/>
            <a:ext cx="11091672" cy="640080"/>
          </a:xfrm>
          <a:prstGeom prst="roundRect">
            <a:avLst>
              <a:gd name="adj" fmla="val 2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8" name="Text 6"/>
          <p:cNvSpPr txBox="1"/>
          <p:nvPr/>
        </p:nvSpPr>
        <p:spPr>
          <a:xfrm>
            <a:off x="822960" y="2194560"/>
            <a:ext cx="3657600" cy="640080"/>
          </a:xfrm>
          <a:prstGeom prst="rect">
            <a:avLst/>
          </a:prstGeom>
          <a:noFill/>
          <a:ln/>
        </p:spPr>
        <p:txBody>
          <a:bodyPr wrap="square" lIns="0" tIns="0" rIns="0" bIns="0" rtlCol="0" anchor="ctr"/>
          <a:lstStyle/>
          <a:p>
            <a:pPr marL="0" indent="0">
              <a:buNone/>
            </a:pPr>
            <a:r>
              <a:rPr lang="en-US" sz="1700" b="1" dirty="0">
                <a:solidFill>
                  <a:schemeClr val="tx2"/>
                </a:solidFill>
              </a:rPr>
              <a:t>Past approval rate</a:t>
            </a:r>
            <a:endParaRPr lang="en-US" sz="1700" dirty="0"/>
          </a:p>
        </p:txBody>
      </p:sp>
      <p:sp>
        <p:nvSpPr>
          <p:cNvPr id="9" name="Text 7"/>
          <p:cNvSpPr txBox="1"/>
          <p:nvPr/>
        </p:nvSpPr>
        <p:spPr>
          <a:xfrm>
            <a:off x="4572000" y="2194560"/>
            <a:ext cx="3474720" cy="640080"/>
          </a:xfrm>
          <a:prstGeom prst="rect">
            <a:avLst/>
          </a:prstGeom>
          <a:noFill/>
          <a:ln/>
        </p:spPr>
        <p:txBody>
          <a:bodyPr wrap="square" lIns="0" tIns="0" rIns="0" bIns="0" rtlCol="0" anchor="ctr"/>
          <a:lstStyle/>
          <a:p>
            <a:pPr marL="0" indent="0" algn="ctr">
              <a:buNone/>
            </a:pPr>
            <a:r>
              <a:rPr lang="en-US" sz="2400" b="1" dirty="0">
                <a:solidFill>
                  <a:schemeClr val="tx1"/>
                </a:solidFill>
              </a:rPr>
              <a:t>54.10%</a:t>
            </a:r>
            <a:endParaRPr lang="en-US" sz="2400" dirty="0"/>
          </a:p>
        </p:txBody>
      </p:sp>
      <p:sp>
        <p:nvSpPr>
          <p:cNvPr id="10" name="Text 8"/>
          <p:cNvSpPr txBox="1"/>
          <p:nvPr/>
        </p:nvSpPr>
        <p:spPr>
          <a:xfrm>
            <a:off x="8165592" y="2194560"/>
            <a:ext cx="3474720" cy="640080"/>
          </a:xfrm>
          <a:prstGeom prst="rect">
            <a:avLst/>
          </a:prstGeom>
          <a:noFill/>
          <a:ln/>
        </p:spPr>
        <p:txBody>
          <a:bodyPr wrap="square" lIns="0" tIns="0" rIns="0" bIns="0" rtlCol="0" anchor="ctr"/>
          <a:lstStyle/>
          <a:p>
            <a:pPr marL="0" indent="0" algn="ctr">
              <a:buNone/>
            </a:pPr>
            <a:r>
              <a:rPr lang="en-US" sz="2400" b="1" dirty="0">
                <a:solidFill>
                  <a:schemeClr val="tx1"/>
                </a:solidFill>
              </a:rPr>
              <a:t>50.43%</a:t>
            </a:r>
            <a:endParaRPr lang="en-US" sz="2400" dirty="0"/>
          </a:p>
        </p:txBody>
      </p:sp>
      <p:sp>
        <p:nvSpPr>
          <p:cNvPr id="11" name="Fairness row 2"/>
          <p:cNvSpPr/>
          <p:nvPr/>
        </p:nvSpPr>
        <p:spPr>
          <a:xfrm>
            <a:off x="548640" y="2926080"/>
            <a:ext cx="11091672" cy="640080"/>
          </a:xfrm>
          <a:prstGeom prst="roundRect">
            <a:avLst>
              <a:gd name="adj" fmla="val 2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2" name="Text 10"/>
          <p:cNvSpPr txBox="1"/>
          <p:nvPr/>
        </p:nvSpPr>
        <p:spPr>
          <a:xfrm>
            <a:off x="822960" y="2926080"/>
            <a:ext cx="3657600" cy="640080"/>
          </a:xfrm>
          <a:prstGeom prst="rect">
            <a:avLst/>
          </a:prstGeom>
          <a:noFill/>
          <a:ln/>
        </p:spPr>
        <p:txBody>
          <a:bodyPr wrap="square" lIns="0" tIns="0" rIns="0" bIns="0" rtlCol="0" anchor="ctr"/>
          <a:lstStyle/>
          <a:p>
            <a:pPr marL="0" indent="0">
              <a:buNone/>
            </a:pPr>
            <a:r>
              <a:rPr lang="en-US" sz="1700" b="1" dirty="0">
                <a:solidFill>
                  <a:schemeClr val="tx2"/>
                </a:solidFill>
              </a:rPr>
              <a:t>Median monthly income</a:t>
            </a:r>
            <a:endParaRPr lang="en-US" sz="1700" dirty="0"/>
          </a:p>
        </p:txBody>
      </p:sp>
      <p:sp>
        <p:nvSpPr>
          <p:cNvPr id="13" name="Text 11"/>
          <p:cNvSpPr txBox="1"/>
          <p:nvPr/>
        </p:nvSpPr>
        <p:spPr>
          <a:xfrm>
            <a:off x="4572000" y="2926080"/>
            <a:ext cx="3474720" cy="640080"/>
          </a:xfrm>
          <a:prstGeom prst="rect">
            <a:avLst/>
          </a:prstGeom>
          <a:noFill/>
          <a:ln/>
        </p:spPr>
        <p:txBody>
          <a:bodyPr wrap="square" lIns="0" tIns="0" rIns="0" bIns="0" rtlCol="0" anchor="ctr"/>
          <a:lstStyle/>
          <a:p>
            <a:pPr marL="0" indent="0" algn="ctr">
              <a:buNone/>
            </a:pPr>
            <a:r>
              <a:rPr lang="en-US" sz="2400" b="1" dirty="0">
                <a:solidFill>
                  <a:schemeClr val="tx1"/>
                </a:solidFill>
              </a:rPr>
              <a:t>₹55,000</a:t>
            </a:r>
            <a:endParaRPr lang="en-US" sz="2400" dirty="0"/>
          </a:p>
        </p:txBody>
      </p:sp>
      <p:sp>
        <p:nvSpPr>
          <p:cNvPr id="14" name="Text 12"/>
          <p:cNvSpPr txBox="1"/>
          <p:nvPr/>
        </p:nvSpPr>
        <p:spPr>
          <a:xfrm>
            <a:off x="8165592" y="2926080"/>
            <a:ext cx="3474720" cy="640080"/>
          </a:xfrm>
          <a:prstGeom prst="rect">
            <a:avLst/>
          </a:prstGeom>
          <a:noFill/>
          <a:ln/>
        </p:spPr>
        <p:txBody>
          <a:bodyPr wrap="square" lIns="0" tIns="0" rIns="0" bIns="0" rtlCol="0" anchor="ctr"/>
          <a:lstStyle/>
          <a:p>
            <a:pPr marL="0" indent="0" algn="ctr">
              <a:buNone/>
            </a:pPr>
            <a:r>
              <a:rPr lang="en-US" sz="2400" b="1" dirty="0">
                <a:solidFill>
                  <a:schemeClr val="tx1"/>
                </a:solidFill>
              </a:rPr>
              <a:t>₹45,000</a:t>
            </a:r>
            <a:endParaRPr lang="en-US" sz="2400" dirty="0"/>
          </a:p>
        </p:txBody>
      </p:sp>
      <p:sp>
        <p:nvSpPr>
          <p:cNvPr id="15" name="Fairness row 3"/>
          <p:cNvSpPr/>
          <p:nvPr/>
        </p:nvSpPr>
        <p:spPr>
          <a:xfrm>
            <a:off x="548640" y="3657600"/>
            <a:ext cx="11091672" cy="640080"/>
          </a:xfrm>
          <a:prstGeom prst="roundRect">
            <a:avLst>
              <a:gd name="adj" fmla="val 2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6" name="Text 14"/>
          <p:cNvSpPr txBox="1"/>
          <p:nvPr/>
        </p:nvSpPr>
        <p:spPr>
          <a:xfrm>
            <a:off x="822960" y="3657600"/>
            <a:ext cx="3657600" cy="640080"/>
          </a:xfrm>
          <a:prstGeom prst="rect">
            <a:avLst/>
          </a:prstGeom>
          <a:noFill/>
          <a:ln/>
        </p:spPr>
        <p:txBody>
          <a:bodyPr wrap="square" lIns="0" tIns="0" rIns="0" bIns="0" rtlCol="0" anchor="ctr"/>
          <a:lstStyle/>
          <a:p>
            <a:pPr marL="0" indent="0">
              <a:buNone/>
            </a:pPr>
            <a:r>
              <a:rPr lang="en-US" sz="1700" b="1" dirty="0">
                <a:solidFill>
                  <a:schemeClr val="tx2"/>
                </a:solidFill>
              </a:rPr>
              <a:t>Share in Gig / Contract work</a:t>
            </a:r>
            <a:endParaRPr lang="en-US" sz="1700" dirty="0"/>
          </a:p>
        </p:txBody>
      </p:sp>
      <p:sp>
        <p:nvSpPr>
          <p:cNvPr id="17" name="Text 15"/>
          <p:cNvSpPr txBox="1"/>
          <p:nvPr/>
        </p:nvSpPr>
        <p:spPr>
          <a:xfrm>
            <a:off x="4572000" y="3657600"/>
            <a:ext cx="3474720" cy="640080"/>
          </a:xfrm>
          <a:prstGeom prst="rect">
            <a:avLst/>
          </a:prstGeom>
          <a:noFill/>
          <a:ln/>
        </p:spPr>
        <p:txBody>
          <a:bodyPr wrap="square" lIns="0" tIns="0" rIns="0" bIns="0" rtlCol="0" anchor="ctr"/>
          <a:lstStyle/>
          <a:p>
            <a:pPr marL="0" indent="0" algn="ctr">
              <a:buNone/>
            </a:pPr>
            <a:r>
              <a:rPr lang="en-US" sz="2400" b="1" dirty="0">
                <a:solidFill>
                  <a:schemeClr val="tx1"/>
                </a:solidFill>
              </a:rPr>
              <a:t>11.64%</a:t>
            </a:r>
            <a:endParaRPr lang="en-US" sz="2400" dirty="0"/>
          </a:p>
        </p:txBody>
      </p:sp>
      <p:sp>
        <p:nvSpPr>
          <p:cNvPr id="18" name="Text 16"/>
          <p:cNvSpPr txBox="1"/>
          <p:nvPr/>
        </p:nvSpPr>
        <p:spPr>
          <a:xfrm>
            <a:off x="8165592" y="3657600"/>
            <a:ext cx="3474720" cy="640080"/>
          </a:xfrm>
          <a:prstGeom prst="rect">
            <a:avLst/>
          </a:prstGeom>
          <a:noFill/>
          <a:ln/>
        </p:spPr>
        <p:txBody>
          <a:bodyPr wrap="square" lIns="0" tIns="0" rIns="0" bIns="0" rtlCol="0" anchor="ctr"/>
          <a:lstStyle/>
          <a:p>
            <a:pPr marL="0" indent="0" algn="ctr">
              <a:buNone/>
            </a:pPr>
            <a:r>
              <a:rPr lang="en-US" sz="2400" b="1" dirty="0">
                <a:solidFill>
                  <a:schemeClr val="tx1"/>
                </a:solidFill>
              </a:rPr>
              <a:t>21.37%</a:t>
            </a:r>
            <a:endParaRPr lang="en-US" sz="2400" dirty="0"/>
          </a:p>
        </p:txBody>
      </p:sp>
      <p:sp>
        <p:nvSpPr>
          <p:cNvPr id="19" name="Fairness row 4"/>
          <p:cNvSpPr/>
          <p:nvPr/>
        </p:nvSpPr>
        <p:spPr>
          <a:xfrm>
            <a:off x="548640" y="4389120"/>
            <a:ext cx="11091672" cy="640080"/>
          </a:xfrm>
          <a:prstGeom prst="roundRect">
            <a:avLst>
              <a:gd name="adj" fmla="val 20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0" name="Text 18"/>
          <p:cNvSpPr txBox="1"/>
          <p:nvPr/>
        </p:nvSpPr>
        <p:spPr>
          <a:xfrm>
            <a:off x="822960" y="4389120"/>
            <a:ext cx="3657600" cy="640080"/>
          </a:xfrm>
          <a:prstGeom prst="rect">
            <a:avLst/>
          </a:prstGeom>
          <a:noFill/>
          <a:ln/>
        </p:spPr>
        <p:txBody>
          <a:bodyPr wrap="square" lIns="0" tIns="0" rIns="0" bIns="0" rtlCol="0" anchor="ctr"/>
          <a:lstStyle/>
          <a:p>
            <a:pPr marL="0" indent="0">
              <a:buNone/>
            </a:pPr>
            <a:r>
              <a:rPr lang="en-US" sz="1700" b="1" dirty="0">
                <a:solidFill>
                  <a:schemeClr val="tx2"/>
                </a:solidFill>
              </a:rPr>
              <a:t>Auto-decline rate at 0.90</a:t>
            </a:r>
            <a:endParaRPr lang="en-US" sz="1700" dirty="0"/>
          </a:p>
        </p:txBody>
      </p:sp>
      <p:sp>
        <p:nvSpPr>
          <p:cNvPr id="21" name="Text 19"/>
          <p:cNvSpPr txBox="1"/>
          <p:nvPr/>
        </p:nvSpPr>
        <p:spPr>
          <a:xfrm>
            <a:off x="4572000" y="4389120"/>
            <a:ext cx="3474720" cy="640080"/>
          </a:xfrm>
          <a:prstGeom prst="rect">
            <a:avLst/>
          </a:prstGeom>
          <a:noFill/>
          <a:ln/>
        </p:spPr>
        <p:txBody>
          <a:bodyPr wrap="square" lIns="0" tIns="0" rIns="0" bIns="0" rtlCol="0" anchor="ctr"/>
          <a:lstStyle/>
          <a:p>
            <a:pPr marL="0" indent="0" algn="ctr">
              <a:buNone/>
            </a:pPr>
            <a:r>
              <a:rPr lang="en-US" sz="2400" b="1" dirty="0">
                <a:solidFill>
                  <a:schemeClr val="tx1"/>
                </a:solidFill>
              </a:rPr>
              <a:t>15.03%</a:t>
            </a:r>
            <a:endParaRPr lang="en-US" sz="2400" dirty="0"/>
          </a:p>
        </p:txBody>
      </p:sp>
      <p:sp>
        <p:nvSpPr>
          <p:cNvPr id="22" name="Text 20"/>
          <p:cNvSpPr txBox="1"/>
          <p:nvPr/>
        </p:nvSpPr>
        <p:spPr>
          <a:xfrm>
            <a:off x="8165592" y="4389120"/>
            <a:ext cx="3474720" cy="640080"/>
          </a:xfrm>
          <a:prstGeom prst="rect">
            <a:avLst/>
          </a:prstGeom>
          <a:noFill/>
          <a:ln/>
        </p:spPr>
        <p:txBody>
          <a:bodyPr wrap="square" lIns="0" tIns="0" rIns="0" bIns="0" rtlCol="0" anchor="ctr"/>
          <a:lstStyle/>
          <a:p>
            <a:pPr marL="0" indent="0" algn="ctr">
              <a:buNone/>
            </a:pPr>
            <a:r>
              <a:rPr lang="en-US" sz="2400" b="1" dirty="0">
                <a:solidFill>
                  <a:schemeClr val="tx1"/>
                </a:solidFill>
              </a:rPr>
              <a:t>15.60%</a:t>
            </a:r>
            <a:endParaRPr lang="en-US" sz="2400" dirty="0"/>
          </a:p>
        </p:txBody>
      </p:sp>
      <p:sp>
        <p:nvSpPr>
          <p:cNvPr id="23" name="Fairness takeaway"/>
          <p:cNvSpPr/>
          <p:nvPr/>
        </p:nvSpPr>
        <p:spPr>
          <a:xfrm>
            <a:off x="548640" y="5257800"/>
            <a:ext cx="11091672" cy="960120"/>
          </a:xfrm>
          <a:prstGeom prst="roundRect">
            <a:avLst>
              <a:gd name="adj" fmla="val 13333"/>
            </a:avLst>
          </a:prstGeom>
          <a:solidFill>
            <a:schemeClr val="tx2"/>
          </a:solidFill>
          <a:ln/>
          <a:effectLst>
            <a:outerShdw blurRad="101600" dist="25400" dir="5400000" algn="bl" rotWithShape="0">
              <a:srgbClr val="0B3B3F">
                <a:alpha val="12000"/>
              </a:srgbClr>
            </a:outerShdw>
          </a:effectLst>
        </p:spPr>
        <p:txBody>
          <a:bodyPr/>
          <a:lstStyle/>
          <a:p>
            <a:endParaRPr lang="en-IN"/>
          </a:p>
        </p:txBody>
      </p:sp>
      <p:sp>
        <p:nvSpPr>
          <p:cNvPr id="24" name="Icon circle"/>
          <p:cNvSpPr/>
          <p:nvPr/>
        </p:nvSpPr>
        <p:spPr>
          <a:xfrm>
            <a:off x="777240" y="5394960"/>
            <a:ext cx="685800" cy="685800"/>
          </a:xfrm>
          <a:prstGeom prst="ellipse">
            <a:avLst/>
          </a:prstGeom>
          <a:solidFill>
            <a:schemeClr val="accent3"/>
          </a:solidFill>
          <a:ln/>
        </p:spPr>
        <p:txBody>
          <a:bodyPr/>
          <a:lstStyle/>
          <a:p>
            <a:endParaRPr lang="en-IN"/>
          </a:p>
        </p:txBody>
      </p:sp>
      <p:pic>
        <p:nvPicPr>
          <p:cNvPr id="25" name="Image 0" descr="BalanceScale icon"/>
          <p:cNvPicPr>
            <a:picLocks noChangeAspect="1"/>
          </p:cNvPicPr>
          <p:nvPr/>
        </p:nvPicPr>
        <p:blipFill>
          <a:blip r:embed="rId3"/>
          <a:stretch>
            <a:fillRect/>
          </a:stretch>
        </p:blipFill>
        <p:spPr>
          <a:xfrm>
            <a:off x="962406" y="5580126"/>
            <a:ext cx="315468" cy="315468"/>
          </a:xfrm>
          <a:prstGeom prst="rect">
            <a:avLst/>
          </a:prstGeom>
        </p:spPr>
      </p:pic>
      <p:sp>
        <p:nvSpPr>
          <p:cNvPr id="26" name="Text 23"/>
          <p:cNvSpPr txBox="1"/>
          <p:nvPr/>
        </p:nvSpPr>
        <p:spPr>
          <a:xfrm>
            <a:off x="1691640" y="5257800"/>
            <a:ext cx="9784080" cy="960120"/>
          </a:xfrm>
          <a:prstGeom prst="rect">
            <a:avLst/>
          </a:prstGeom>
          <a:noFill/>
          <a:ln/>
        </p:spPr>
        <p:txBody>
          <a:bodyPr wrap="square" lIns="0" tIns="0" rIns="0" bIns="0" rtlCol="0" anchor="ctr"/>
          <a:lstStyle/>
          <a:p>
            <a:pPr marL="0" indent="0">
              <a:buNone/>
            </a:pPr>
            <a:r>
              <a:rPr lang="en-US" sz="1600" dirty="0">
                <a:solidFill>
                  <a:schemeClr val="bg1"/>
                </a:solidFill>
              </a:rPr>
              <a:t>Auto-decline rates are close, but removing gender does not guarantee fairness. Income and job type can act as stand-ins, so we keep monitoring.</a:t>
            </a:r>
            <a:endParaRPr lang="en-US" sz="1600" dirty="0"/>
          </a:p>
        </p:txBody>
      </p:sp>
      <p:sp>
        <p:nvSpPr>
          <p:cNvPr id="27"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5.7  Interim briefing (Part 1)</a:t>
            </a:r>
          </a:p>
          <a:p>
            <a:pPr marL="0" indent="0" algn="l">
              <a:buNone/>
            </a:pPr>
            <a:r>
              <a:rPr lang="en-US" sz="1600" b="0" dirty="0">
                <a:solidFill>
                  <a:schemeClr val="accent1"/>
                </a:solidFill>
              </a:rPr>
              <a:t>What we can tell the head of lending so far</a:t>
            </a:r>
          </a:p>
        </p:txBody>
      </p:sp>
      <p:sp>
        <p:nvSpPr>
          <p:cNvPr id="3" name="Impact card 1"/>
          <p:cNvSpPr/>
          <p:nvPr/>
        </p:nvSpPr>
        <p:spPr>
          <a:xfrm>
            <a:off x="548640" y="1508760"/>
            <a:ext cx="3474720" cy="3383280"/>
          </a:xfrm>
          <a:prstGeom prst="roundRect">
            <a:avLst>
              <a:gd name="adj" fmla="val 37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4" name="Icon circle"/>
          <p:cNvSpPr/>
          <p:nvPr/>
        </p:nvSpPr>
        <p:spPr>
          <a:xfrm>
            <a:off x="822960" y="1737360"/>
            <a:ext cx="777240" cy="777240"/>
          </a:xfrm>
          <a:prstGeom prst="ellipse">
            <a:avLst/>
          </a:prstGeom>
          <a:solidFill>
            <a:schemeClr val="accent2"/>
          </a:solidFill>
          <a:ln/>
        </p:spPr>
        <p:txBody>
          <a:bodyPr/>
          <a:lstStyle/>
          <a:p>
            <a:endParaRPr lang="en-IN"/>
          </a:p>
        </p:txBody>
      </p:sp>
      <p:pic>
        <p:nvPicPr>
          <p:cNvPr id="5" name="Image 0" descr="Ban icon"/>
          <p:cNvPicPr>
            <a:picLocks noChangeAspect="1"/>
          </p:cNvPicPr>
          <p:nvPr/>
        </p:nvPicPr>
        <p:blipFill>
          <a:blip r:embed="rId3"/>
          <a:stretch>
            <a:fillRect/>
          </a:stretch>
        </p:blipFill>
        <p:spPr>
          <a:xfrm>
            <a:off x="1032815" y="1947215"/>
            <a:ext cx="357530" cy="357530"/>
          </a:xfrm>
          <a:prstGeom prst="rect">
            <a:avLst/>
          </a:prstGeom>
        </p:spPr>
      </p:pic>
      <p:sp>
        <p:nvSpPr>
          <p:cNvPr id="6" name="Text 3"/>
          <p:cNvSpPr txBox="1"/>
          <p:nvPr/>
        </p:nvSpPr>
        <p:spPr>
          <a:xfrm>
            <a:off x="822960" y="2743200"/>
            <a:ext cx="2926080" cy="914400"/>
          </a:xfrm>
          <a:prstGeom prst="rect">
            <a:avLst/>
          </a:prstGeom>
          <a:noFill/>
          <a:ln/>
        </p:spPr>
        <p:txBody>
          <a:bodyPr wrap="square" lIns="0" tIns="0" rIns="0" bIns="0" rtlCol="0" anchor="ctr"/>
          <a:lstStyle/>
          <a:p>
            <a:pPr marL="0" indent="0">
              <a:buNone/>
            </a:pPr>
            <a:r>
              <a:rPr lang="en-US" sz="5400" b="1" dirty="0">
                <a:solidFill>
                  <a:schemeClr val="accent2"/>
                </a:solidFill>
              </a:rPr>
              <a:t>0.90</a:t>
            </a:r>
            <a:endParaRPr lang="en-US" sz="5400" dirty="0"/>
          </a:p>
        </p:txBody>
      </p:sp>
      <p:sp>
        <p:nvSpPr>
          <p:cNvPr id="7" name="Text 4"/>
          <p:cNvSpPr txBox="1"/>
          <p:nvPr/>
        </p:nvSpPr>
        <p:spPr>
          <a:xfrm>
            <a:off x="822960" y="3749040"/>
            <a:ext cx="2926080" cy="914400"/>
          </a:xfrm>
          <a:prstGeom prst="rect">
            <a:avLst/>
          </a:prstGeom>
          <a:noFill/>
          <a:ln/>
        </p:spPr>
        <p:txBody>
          <a:bodyPr wrap="square" lIns="0" tIns="0" rIns="0" bIns="0" rtlCol="0" anchor="t"/>
          <a:lstStyle/>
          <a:p>
            <a:pPr marL="0" indent="0">
              <a:buNone/>
            </a:pPr>
            <a:r>
              <a:rPr lang="en-US" sz="1600" dirty="0">
                <a:solidFill>
                  <a:schemeClr val="tx1"/>
                </a:solidFill>
              </a:rPr>
              <a:t>auto-decline threshold, declining 15.21% of test applications</a:t>
            </a:r>
            <a:endParaRPr lang="en-US" sz="1600" dirty="0"/>
          </a:p>
        </p:txBody>
      </p:sp>
      <p:sp>
        <p:nvSpPr>
          <p:cNvPr id="8" name="Impact card 2"/>
          <p:cNvSpPr/>
          <p:nvPr/>
        </p:nvSpPr>
        <p:spPr>
          <a:xfrm>
            <a:off x="4357116" y="1508760"/>
            <a:ext cx="3474720" cy="3383280"/>
          </a:xfrm>
          <a:prstGeom prst="roundRect">
            <a:avLst>
              <a:gd name="adj" fmla="val 37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9" name="Icon circle"/>
          <p:cNvSpPr/>
          <p:nvPr/>
        </p:nvSpPr>
        <p:spPr>
          <a:xfrm>
            <a:off x="4631436" y="1737360"/>
            <a:ext cx="777240" cy="777240"/>
          </a:xfrm>
          <a:prstGeom prst="ellipse">
            <a:avLst/>
          </a:prstGeom>
          <a:solidFill>
            <a:schemeClr val="accent1"/>
          </a:solidFill>
          <a:ln/>
        </p:spPr>
        <p:txBody>
          <a:bodyPr/>
          <a:lstStyle/>
          <a:p>
            <a:endParaRPr lang="en-IN"/>
          </a:p>
        </p:txBody>
      </p:sp>
      <p:pic>
        <p:nvPicPr>
          <p:cNvPr id="10" name="Image 1" descr="FolderOpen icon"/>
          <p:cNvPicPr>
            <a:picLocks noChangeAspect="1"/>
          </p:cNvPicPr>
          <p:nvPr/>
        </p:nvPicPr>
        <p:blipFill>
          <a:blip r:embed="rId4"/>
          <a:stretch>
            <a:fillRect/>
          </a:stretch>
        </p:blipFill>
        <p:spPr>
          <a:xfrm>
            <a:off x="4841291" y="1947215"/>
            <a:ext cx="357530" cy="357530"/>
          </a:xfrm>
          <a:prstGeom prst="rect">
            <a:avLst/>
          </a:prstGeom>
        </p:spPr>
      </p:pic>
      <p:sp>
        <p:nvSpPr>
          <p:cNvPr id="11" name="Text 7"/>
          <p:cNvSpPr txBox="1"/>
          <p:nvPr/>
        </p:nvSpPr>
        <p:spPr>
          <a:xfrm>
            <a:off x="4631436" y="2743200"/>
            <a:ext cx="2926080" cy="914400"/>
          </a:xfrm>
          <a:prstGeom prst="rect">
            <a:avLst/>
          </a:prstGeom>
          <a:noFill/>
          <a:ln/>
        </p:spPr>
        <p:txBody>
          <a:bodyPr wrap="square" lIns="0" tIns="0" rIns="0" bIns="0" rtlCol="0" anchor="ctr"/>
          <a:lstStyle/>
          <a:p>
            <a:pPr marL="0" indent="0">
              <a:buNone/>
            </a:pPr>
            <a:r>
              <a:rPr lang="en-US" sz="5400" b="1" dirty="0">
                <a:solidFill>
                  <a:schemeClr val="accent1"/>
                </a:solidFill>
              </a:rPr>
              <a:t>4.66%</a:t>
            </a:r>
            <a:endParaRPr lang="en-US" sz="5400" dirty="0"/>
          </a:p>
        </p:txBody>
      </p:sp>
      <p:sp>
        <p:nvSpPr>
          <p:cNvPr id="12" name="Text 8"/>
          <p:cNvSpPr txBox="1"/>
          <p:nvPr/>
        </p:nvSpPr>
        <p:spPr>
          <a:xfrm>
            <a:off x="4631436" y="3749040"/>
            <a:ext cx="2926080" cy="914400"/>
          </a:xfrm>
          <a:prstGeom prst="rect">
            <a:avLst/>
          </a:prstGeom>
          <a:noFill/>
          <a:ln/>
        </p:spPr>
        <p:txBody>
          <a:bodyPr wrap="square" lIns="0" tIns="0" rIns="0" bIns="0" rtlCol="0" anchor="t"/>
          <a:lstStyle/>
          <a:p>
            <a:pPr marL="0" indent="0">
              <a:buNone/>
            </a:pPr>
            <a:r>
              <a:rPr lang="en-US" sz="1600" dirty="0">
                <a:solidFill>
                  <a:schemeClr val="tx1"/>
                </a:solidFill>
              </a:rPr>
              <a:t>wrongly declined, inside the 5% limit</a:t>
            </a:r>
            <a:endParaRPr lang="en-US" sz="1600" dirty="0"/>
          </a:p>
        </p:txBody>
      </p:sp>
      <p:sp>
        <p:nvSpPr>
          <p:cNvPr id="13" name="Impact card 3"/>
          <p:cNvSpPr/>
          <p:nvPr/>
        </p:nvSpPr>
        <p:spPr>
          <a:xfrm>
            <a:off x="8165592" y="1508760"/>
            <a:ext cx="3474720" cy="3383280"/>
          </a:xfrm>
          <a:prstGeom prst="roundRect">
            <a:avLst>
              <a:gd name="adj" fmla="val 37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4" name="Icon circle"/>
          <p:cNvSpPr/>
          <p:nvPr/>
        </p:nvSpPr>
        <p:spPr>
          <a:xfrm>
            <a:off x="8439912" y="1737360"/>
            <a:ext cx="777240" cy="777240"/>
          </a:xfrm>
          <a:prstGeom prst="ellipse">
            <a:avLst/>
          </a:prstGeom>
          <a:solidFill>
            <a:schemeClr val="accent4"/>
          </a:solidFill>
          <a:ln/>
        </p:spPr>
        <p:txBody>
          <a:bodyPr/>
          <a:lstStyle/>
          <a:p>
            <a:endParaRPr lang="en-IN"/>
          </a:p>
        </p:txBody>
      </p:sp>
      <p:pic>
        <p:nvPicPr>
          <p:cNvPr id="15" name="Image 2" descr="Clock icon"/>
          <p:cNvPicPr>
            <a:picLocks noChangeAspect="1"/>
          </p:cNvPicPr>
          <p:nvPr/>
        </p:nvPicPr>
        <p:blipFill>
          <a:blip r:embed="rId5"/>
          <a:stretch>
            <a:fillRect/>
          </a:stretch>
        </p:blipFill>
        <p:spPr>
          <a:xfrm>
            <a:off x="8649767" y="1947215"/>
            <a:ext cx="357530" cy="357530"/>
          </a:xfrm>
          <a:prstGeom prst="rect">
            <a:avLst/>
          </a:prstGeom>
        </p:spPr>
      </p:pic>
      <p:sp>
        <p:nvSpPr>
          <p:cNvPr id="16" name="Text 11"/>
          <p:cNvSpPr txBox="1"/>
          <p:nvPr/>
        </p:nvSpPr>
        <p:spPr>
          <a:xfrm>
            <a:off x="8439912" y="2743200"/>
            <a:ext cx="2926080" cy="914400"/>
          </a:xfrm>
          <a:prstGeom prst="rect">
            <a:avLst/>
          </a:prstGeom>
          <a:noFill/>
          <a:ln/>
        </p:spPr>
        <p:txBody>
          <a:bodyPr wrap="square" lIns="0" tIns="0" rIns="0" bIns="0" rtlCol="0" anchor="ctr"/>
          <a:lstStyle/>
          <a:p>
            <a:pPr marL="0" indent="0">
              <a:buNone/>
            </a:pPr>
            <a:r>
              <a:rPr lang="en-US" sz="5400" b="1" dirty="0">
                <a:solidFill>
                  <a:schemeClr val="accent4"/>
                </a:solidFill>
              </a:rPr>
              <a:t>190.1</a:t>
            </a:r>
            <a:endParaRPr lang="en-US" sz="5400" dirty="0"/>
          </a:p>
        </p:txBody>
      </p:sp>
      <p:sp>
        <p:nvSpPr>
          <p:cNvPr id="17" name="Text 12"/>
          <p:cNvSpPr txBox="1"/>
          <p:nvPr/>
        </p:nvSpPr>
        <p:spPr>
          <a:xfrm>
            <a:off x="8439912" y="3749040"/>
            <a:ext cx="2926080" cy="914400"/>
          </a:xfrm>
          <a:prstGeom prst="rect">
            <a:avLst/>
          </a:prstGeom>
          <a:noFill/>
          <a:ln/>
        </p:spPr>
        <p:txBody>
          <a:bodyPr wrap="square" lIns="0" tIns="0" rIns="0" bIns="0" rtlCol="0" anchor="t"/>
          <a:lstStyle/>
          <a:p>
            <a:pPr marL="0" indent="0">
              <a:buNone/>
            </a:pPr>
            <a:r>
              <a:rPr lang="en-US" sz="1600" dirty="0">
                <a:solidFill>
                  <a:schemeClr val="tx1"/>
                </a:solidFill>
              </a:rPr>
              <a:t>analyst hours saved each month (estimate)</a:t>
            </a:r>
            <a:endParaRPr lang="en-US" sz="1600" dirty="0"/>
          </a:p>
        </p:txBody>
      </p:sp>
      <p:sp>
        <p:nvSpPr>
          <p:cNvPr id="18" name="Assumption banner"/>
          <p:cNvSpPr/>
          <p:nvPr/>
        </p:nvSpPr>
        <p:spPr>
          <a:xfrm>
            <a:off x="548640" y="5166360"/>
            <a:ext cx="11091672" cy="914400"/>
          </a:xfrm>
          <a:prstGeom prst="roundRect">
            <a:avLst>
              <a:gd name="adj" fmla="val 14000"/>
            </a:avLst>
          </a:prstGeom>
          <a:solidFill>
            <a:schemeClr val="tx2"/>
          </a:solidFill>
          <a:ln/>
          <a:effectLst>
            <a:outerShdw blurRad="101600" dist="25400" dir="5400000" algn="bl" rotWithShape="0">
              <a:srgbClr val="0B3B3F">
                <a:alpha val="12000"/>
              </a:srgbClr>
            </a:outerShdw>
          </a:effectLst>
        </p:spPr>
        <p:txBody>
          <a:bodyPr/>
          <a:lstStyle/>
          <a:p>
            <a:endParaRPr lang="en-IN"/>
          </a:p>
        </p:txBody>
      </p:sp>
      <p:sp>
        <p:nvSpPr>
          <p:cNvPr id="19" name="Text 14"/>
          <p:cNvSpPr txBox="1"/>
          <p:nvPr/>
        </p:nvSpPr>
        <p:spPr>
          <a:xfrm>
            <a:off x="868680" y="5166360"/>
            <a:ext cx="10424160" cy="914400"/>
          </a:xfrm>
          <a:prstGeom prst="rect">
            <a:avLst/>
          </a:prstGeom>
          <a:noFill/>
          <a:ln/>
        </p:spPr>
        <p:txBody>
          <a:bodyPr wrap="square" lIns="0" tIns="0" rIns="0" bIns="0" rtlCol="0" anchor="ctr"/>
          <a:lstStyle/>
          <a:p>
            <a:pPr marL="0" indent="0">
              <a:buNone/>
            </a:pPr>
            <a:r>
              <a:rPr lang="en-US" sz="1800" dirty="0">
                <a:solidFill>
                  <a:schemeClr val="bg1"/>
                </a:solidFill>
              </a:rPr>
              <a:t>Main weakness for Part 2: fairness. Past approval rates differ by gender, and income or job type can act as stand-ins, so more validation is needed before real use.</a:t>
            </a:r>
            <a:endParaRPr lang="en-US" sz="18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5.8  Rebuild the baseline as a pipeline</a:t>
            </a:r>
          </a:p>
          <a:p>
            <a:pPr marL="0" indent="0" algn="l">
              <a:buNone/>
            </a:pPr>
            <a:r>
              <a:rPr lang="en-US" sz="1600" b="0" dirty="0">
                <a:solidFill>
                  <a:schemeClr val="accent1"/>
                </a:solidFill>
              </a:rPr>
              <a:t>One reusable workflow</a:t>
            </a:r>
          </a:p>
        </p:txBody>
      </p:sp>
      <p:sp>
        <p:nvSpPr>
          <p:cNvPr id="3" name="Feature card 1"/>
          <p:cNvSpPr/>
          <p:nvPr/>
        </p:nvSpPr>
        <p:spPr>
          <a:xfrm>
            <a:off x="548640" y="1508760"/>
            <a:ext cx="3474720" cy="4526280"/>
          </a:xfrm>
          <a:prstGeom prst="roundRect">
            <a:avLst>
              <a:gd name="adj" fmla="val 36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4" name="Icon circle"/>
          <p:cNvSpPr/>
          <p:nvPr/>
        </p:nvSpPr>
        <p:spPr>
          <a:xfrm>
            <a:off x="822960" y="1737360"/>
            <a:ext cx="777240" cy="777240"/>
          </a:xfrm>
          <a:prstGeom prst="ellipse">
            <a:avLst/>
          </a:prstGeom>
          <a:solidFill>
            <a:schemeClr val="accent1"/>
          </a:solidFill>
          <a:ln/>
        </p:spPr>
        <p:txBody>
          <a:bodyPr/>
          <a:lstStyle/>
          <a:p>
            <a:endParaRPr lang="en-IN"/>
          </a:p>
        </p:txBody>
      </p:sp>
      <p:pic>
        <p:nvPicPr>
          <p:cNvPr id="5" name="Image 0" descr="Percent icon"/>
          <p:cNvPicPr>
            <a:picLocks noChangeAspect="1"/>
          </p:cNvPicPr>
          <p:nvPr/>
        </p:nvPicPr>
        <p:blipFill>
          <a:blip r:embed="rId3"/>
          <a:stretch>
            <a:fillRect/>
          </a:stretch>
        </p:blipFill>
        <p:spPr>
          <a:xfrm>
            <a:off x="1032815" y="1947215"/>
            <a:ext cx="357530" cy="357530"/>
          </a:xfrm>
          <a:prstGeom prst="rect">
            <a:avLst/>
          </a:prstGeom>
        </p:spPr>
      </p:pic>
      <p:sp>
        <p:nvSpPr>
          <p:cNvPr id="6" name="Text 3"/>
          <p:cNvSpPr txBox="1"/>
          <p:nvPr/>
        </p:nvSpPr>
        <p:spPr>
          <a:xfrm>
            <a:off x="822960" y="2697480"/>
            <a:ext cx="2926080" cy="457200"/>
          </a:xfrm>
          <a:prstGeom prst="rect">
            <a:avLst/>
          </a:prstGeom>
          <a:noFill/>
          <a:ln/>
        </p:spPr>
        <p:txBody>
          <a:bodyPr wrap="square" lIns="0" tIns="0" rIns="0" bIns="0" rtlCol="0" anchor="t"/>
          <a:lstStyle/>
          <a:p>
            <a:pPr marL="0" indent="0">
              <a:buNone/>
            </a:pPr>
            <a:r>
              <a:rPr lang="en-US" sz="2400" b="1" dirty="0">
                <a:solidFill>
                  <a:schemeClr val="tx2"/>
                </a:solidFill>
              </a:rPr>
              <a:t>Fill the gaps</a:t>
            </a:r>
            <a:endParaRPr lang="en-US" sz="2400" dirty="0"/>
          </a:p>
        </p:txBody>
      </p:sp>
      <p:sp>
        <p:nvSpPr>
          <p:cNvPr id="7" name="Text 4"/>
          <p:cNvSpPr txBox="1"/>
          <p:nvPr/>
        </p:nvSpPr>
        <p:spPr>
          <a:xfrm>
            <a:off x="822960" y="3200400"/>
            <a:ext cx="2926080" cy="777240"/>
          </a:xfrm>
          <a:prstGeom prst="rect">
            <a:avLst/>
          </a:prstGeom>
          <a:noFill/>
          <a:ln/>
        </p:spPr>
        <p:txBody>
          <a:bodyPr wrap="square" lIns="0" tIns="0" rIns="0" bIns="0" rtlCol="0" anchor="t"/>
          <a:lstStyle/>
          <a:p>
            <a:pPr marL="0" indent="0">
              <a:buNone/>
            </a:pPr>
            <a:r>
              <a:rPr lang="en-US" sz="1600" dirty="0">
                <a:solidFill>
                  <a:schemeClr val="tx1"/>
                </a:solidFill>
              </a:rPr>
              <a:t>Missing values are filled in, for both numbers and categories</a:t>
            </a:r>
            <a:endParaRPr lang="en-US" sz="1600" dirty="0"/>
          </a:p>
        </p:txBody>
      </p:sp>
      <p:sp>
        <p:nvSpPr>
          <p:cNvPr id="8" name="Formula box 1"/>
          <p:cNvSpPr/>
          <p:nvPr/>
        </p:nvSpPr>
        <p:spPr>
          <a:xfrm>
            <a:off x="822960" y="4069080"/>
            <a:ext cx="2926080" cy="914400"/>
          </a:xfrm>
          <a:prstGeom prst="roundRect">
            <a:avLst>
              <a:gd name="adj" fmla="val 10000"/>
            </a:avLst>
          </a:prstGeom>
          <a:solidFill>
            <a:schemeClr val="bg2"/>
          </a:solidFill>
          <a:ln/>
        </p:spPr>
        <p:txBody>
          <a:bodyPr/>
          <a:lstStyle/>
          <a:p>
            <a:endParaRPr lang="en-IN"/>
          </a:p>
        </p:txBody>
      </p:sp>
      <p:sp>
        <p:nvSpPr>
          <p:cNvPr id="9" name="Text 6"/>
          <p:cNvSpPr txBox="1"/>
          <p:nvPr/>
        </p:nvSpPr>
        <p:spPr>
          <a:xfrm>
            <a:off x="960120" y="4069080"/>
            <a:ext cx="2651760" cy="914400"/>
          </a:xfrm>
          <a:prstGeom prst="rect">
            <a:avLst/>
          </a:prstGeom>
          <a:noFill/>
          <a:ln/>
        </p:spPr>
        <p:txBody>
          <a:bodyPr wrap="square" lIns="0" tIns="0" rIns="0" bIns="0" rtlCol="0" anchor="ctr"/>
          <a:lstStyle/>
          <a:p>
            <a:pPr marL="0" indent="0">
              <a:buNone/>
            </a:pPr>
            <a:r>
              <a:rPr lang="en-US" sz="1400" b="1" dirty="0">
                <a:solidFill>
                  <a:schemeClr val="tx2"/>
                </a:solidFill>
              </a:rPr>
              <a:t>Imputation for numeric and categorical columns</a:t>
            </a:r>
            <a:endParaRPr lang="en-US" sz="1400" dirty="0"/>
          </a:p>
        </p:txBody>
      </p:sp>
      <p:sp>
        <p:nvSpPr>
          <p:cNvPr id="10" name="Text 7"/>
          <p:cNvSpPr txBox="1"/>
          <p:nvPr/>
        </p:nvSpPr>
        <p:spPr>
          <a:xfrm>
            <a:off x="822960" y="5166360"/>
            <a:ext cx="2926080" cy="640080"/>
          </a:xfrm>
          <a:prstGeom prst="rect">
            <a:avLst/>
          </a:prstGeom>
          <a:noFill/>
          <a:ln/>
        </p:spPr>
        <p:txBody>
          <a:bodyPr wrap="square" lIns="0" tIns="0" rIns="0" bIns="0" rtlCol="0" anchor="t"/>
          <a:lstStyle/>
          <a:p>
            <a:pPr marL="0" indent="0">
              <a:buNone/>
            </a:pPr>
            <a:r>
              <a:rPr lang="en-US" sz="1400" dirty="0">
                <a:solidFill>
                  <a:srgbClr val="55656F"/>
                </a:solidFill>
              </a:rPr>
              <a:t>Same cleaning every time</a:t>
            </a:r>
            <a:endParaRPr lang="en-US" sz="1400" dirty="0"/>
          </a:p>
        </p:txBody>
      </p:sp>
      <p:sp>
        <p:nvSpPr>
          <p:cNvPr id="11" name="Feature card 2"/>
          <p:cNvSpPr/>
          <p:nvPr/>
        </p:nvSpPr>
        <p:spPr>
          <a:xfrm>
            <a:off x="4357116" y="1508760"/>
            <a:ext cx="3474720" cy="4526280"/>
          </a:xfrm>
          <a:prstGeom prst="roundRect">
            <a:avLst>
              <a:gd name="adj" fmla="val 36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2" name="Icon circle"/>
          <p:cNvSpPr/>
          <p:nvPr/>
        </p:nvSpPr>
        <p:spPr>
          <a:xfrm>
            <a:off x="4631436" y="1737360"/>
            <a:ext cx="777240" cy="777240"/>
          </a:xfrm>
          <a:prstGeom prst="ellipse">
            <a:avLst/>
          </a:prstGeom>
          <a:solidFill>
            <a:schemeClr val="accent3"/>
          </a:solidFill>
          <a:ln/>
        </p:spPr>
        <p:txBody>
          <a:bodyPr/>
          <a:lstStyle/>
          <a:p>
            <a:endParaRPr lang="en-IN"/>
          </a:p>
        </p:txBody>
      </p:sp>
      <p:pic>
        <p:nvPicPr>
          <p:cNvPr id="13" name="Image 1" descr="Calculator icon"/>
          <p:cNvPicPr>
            <a:picLocks noChangeAspect="1"/>
          </p:cNvPicPr>
          <p:nvPr/>
        </p:nvPicPr>
        <p:blipFill>
          <a:blip r:embed="rId4"/>
          <a:stretch>
            <a:fillRect/>
          </a:stretch>
        </p:blipFill>
        <p:spPr>
          <a:xfrm>
            <a:off x="4841291" y="1947215"/>
            <a:ext cx="357530" cy="357530"/>
          </a:xfrm>
          <a:prstGeom prst="rect">
            <a:avLst/>
          </a:prstGeom>
        </p:spPr>
      </p:pic>
      <p:sp>
        <p:nvSpPr>
          <p:cNvPr id="14" name="Text 10"/>
          <p:cNvSpPr txBox="1"/>
          <p:nvPr/>
        </p:nvSpPr>
        <p:spPr>
          <a:xfrm>
            <a:off x="4631436" y="2697480"/>
            <a:ext cx="2926080" cy="457200"/>
          </a:xfrm>
          <a:prstGeom prst="rect">
            <a:avLst/>
          </a:prstGeom>
          <a:noFill/>
          <a:ln/>
        </p:spPr>
        <p:txBody>
          <a:bodyPr wrap="square" lIns="0" tIns="0" rIns="0" bIns="0" rtlCol="0" anchor="t"/>
          <a:lstStyle/>
          <a:p>
            <a:pPr marL="0" indent="0">
              <a:buNone/>
            </a:pPr>
            <a:r>
              <a:rPr lang="en-US" sz="2400" b="1" dirty="0">
                <a:solidFill>
                  <a:schemeClr val="tx2"/>
                </a:solidFill>
              </a:rPr>
              <a:t>Scale and encode</a:t>
            </a:r>
            <a:endParaRPr lang="en-US" sz="2400" dirty="0"/>
          </a:p>
        </p:txBody>
      </p:sp>
      <p:sp>
        <p:nvSpPr>
          <p:cNvPr id="15" name="Text 11"/>
          <p:cNvSpPr txBox="1"/>
          <p:nvPr/>
        </p:nvSpPr>
        <p:spPr>
          <a:xfrm>
            <a:off x="4631436" y="3200400"/>
            <a:ext cx="2926080" cy="777240"/>
          </a:xfrm>
          <a:prstGeom prst="rect">
            <a:avLst/>
          </a:prstGeom>
          <a:noFill/>
          <a:ln/>
        </p:spPr>
        <p:txBody>
          <a:bodyPr wrap="square" lIns="0" tIns="0" rIns="0" bIns="0" rtlCol="0" anchor="t"/>
          <a:lstStyle/>
          <a:p>
            <a:pPr marL="0" indent="0">
              <a:buNone/>
            </a:pPr>
            <a:r>
              <a:rPr lang="en-US" sz="1600" dirty="0">
                <a:solidFill>
                  <a:schemeClr val="tx1"/>
                </a:solidFill>
              </a:rPr>
              <a:t>Numbers are put on one scale; categories become 0/1 columns</a:t>
            </a:r>
            <a:endParaRPr lang="en-US" sz="1600" dirty="0"/>
          </a:p>
        </p:txBody>
      </p:sp>
      <p:sp>
        <p:nvSpPr>
          <p:cNvPr id="16" name="Formula box 2"/>
          <p:cNvSpPr/>
          <p:nvPr/>
        </p:nvSpPr>
        <p:spPr>
          <a:xfrm>
            <a:off x="4631436" y="4069080"/>
            <a:ext cx="2926080" cy="914400"/>
          </a:xfrm>
          <a:prstGeom prst="roundRect">
            <a:avLst>
              <a:gd name="adj" fmla="val 10000"/>
            </a:avLst>
          </a:prstGeom>
          <a:solidFill>
            <a:schemeClr val="bg2"/>
          </a:solidFill>
          <a:ln/>
        </p:spPr>
        <p:txBody>
          <a:bodyPr/>
          <a:lstStyle/>
          <a:p>
            <a:endParaRPr lang="en-IN"/>
          </a:p>
        </p:txBody>
      </p:sp>
      <p:sp>
        <p:nvSpPr>
          <p:cNvPr id="17" name="Text 13"/>
          <p:cNvSpPr txBox="1"/>
          <p:nvPr/>
        </p:nvSpPr>
        <p:spPr>
          <a:xfrm>
            <a:off x="4768596" y="4069080"/>
            <a:ext cx="2651760" cy="914400"/>
          </a:xfrm>
          <a:prstGeom prst="rect">
            <a:avLst/>
          </a:prstGeom>
          <a:noFill/>
          <a:ln/>
        </p:spPr>
        <p:txBody>
          <a:bodyPr wrap="square" lIns="0" tIns="0" rIns="0" bIns="0" rtlCol="0" anchor="ctr"/>
          <a:lstStyle/>
          <a:p>
            <a:pPr marL="0" indent="0">
              <a:buNone/>
            </a:pPr>
            <a:r>
              <a:rPr lang="en-US" sz="1400" b="1" dirty="0">
                <a:solidFill>
                  <a:schemeClr val="tx2"/>
                </a:solidFill>
              </a:rPr>
              <a:t>Scaling + one-hot encoding</a:t>
            </a:r>
            <a:endParaRPr lang="en-US" sz="1400" dirty="0"/>
          </a:p>
        </p:txBody>
      </p:sp>
      <p:sp>
        <p:nvSpPr>
          <p:cNvPr id="18" name="Text 14"/>
          <p:cNvSpPr txBox="1"/>
          <p:nvPr/>
        </p:nvSpPr>
        <p:spPr>
          <a:xfrm>
            <a:off x="4631436" y="5166360"/>
            <a:ext cx="2926080" cy="640080"/>
          </a:xfrm>
          <a:prstGeom prst="rect">
            <a:avLst/>
          </a:prstGeom>
          <a:noFill/>
          <a:ln/>
        </p:spPr>
        <p:txBody>
          <a:bodyPr wrap="square" lIns="0" tIns="0" rIns="0" bIns="0" rtlCol="0" anchor="t"/>
          <a:lstStyle/>
          <a:p>
            <a:pPr marL="0" indent="0">
              <a:buNone/>
            </a:pPr>
            <a:r>
              <a:rPr lang="en-US" sz="1400" dirty="0">
                <a:solidFill>
                  <a:srgbClr val="55656F"/>
                </a:solidFill>
              </a:rPr>
              <a:t>Prepares the data for the model</a:t>
            </a:r>
            <a:endParaRPr lang="en-US" sz="1400" dirty="0"/>
          </a:p>
        </p:txBody>
      </p:sp>
      <p:sp>
        <p:nvSpPr>
          <p:cNvPr id="19" name="Feature card 3"/>
          <p:cNvSpPr/>
          <p:nvPr/>
        </p:nvSpPr>
        <p:spPr>
          <a:xfrm>
            <a:off x="8165592" y="1508760"/>
            <a:ext cx="3474720" cy="4526280"/>
          </a:xfrm>
          <a:prstGeom prst="roundRect">
            <a:avLst>
              <a:gd name="adj" fmla="val 3684"/>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0" name="Icon circle"/>
          <p:cNvSpPr/>
          <p:nvPr/>
        </p:nvSpPr>
        <p:spPr>
          <a:xfrm>
            <a:off x="8439912" y="1737360"/>
            <a:ext cx="777240" cy="777240"/>
          </a:xfrm>
          <a:prstGeom prst="ellipse">
            <a:avLst/>
          </a:prstGeom>
          <a:solidFill>
            <a:schemeClr val="accent5"/>
          </a:solidFill>
          <a:ln/>
        </p:spPr>
        <p:txBody>
          <a:bodyPr/>
          <a:lstStyle/>
          <a:p>
            <a:endParaRPr lang="en-IN"/>
          </a:p>
        </p:txBody>
      </p:sp>
      <p:pic>
        <p:nvPicPr>
          <p:cNvPr id="21" name="Image 2" descr="Flag icon"/>
          <p:cNvPicPr>
            <a:picLocks noChangeAspect="1"/>
          </p:cNvPicPr>
          <p:nvPr/>
        </p:nvPicPr>
        <p:blipFill>
          <a:blip r:embed="rId5"/>
          <a:stretch>
            <a:fillRect/>
          </a:stretch>
        </p:blipFill>
        <p:spPr>
          <a:xfrm>
            <a:off x="8649767" y="1947215"/>
            <a:ext cx="357530" cy="357530"/>
          </a:xfrm>
          <a:prstGeom prst="rect">
            <a:avLst/>
          </a:prstGeom>
        </p:spPr>
      </p:pic>
      <p:sp>
        <p:nvSpPr>
          <p:cNvPr id="22" name="Text 17"/>
          <p:cNvSpPr txBox="1"/>
          <p:nvPr/>
        </p:nvSpPr>
        <p:spPr>
          <a:xfrm>
            <a:off x="8439912" y="2697480"/>
            <a:ext cx="2926080" cy="457200"/>
          </a:xfrm>
          <a:prstGeom prst="rect">
            <a:avLst/>
          </a:prstGeom>
          <a:noFill/>
          <a:ln/>
        </p:spPr>
        <p:txBody>
          <a:bodyPr wrap="square" lIns="0" tIns="0" rIns="0" bIns="0" rtlCol="0" anchor="t"/>
          <a:lstStyle/>
          <a:p>
            <a:pPr marL="0" indent="0">
              <a:buNone/>
            </a:pPr>
            <a:r>
              <a:rPr lang="en-US" sz="2400" b="1" dirty="0">
                <a:solidFill>
                  <a:schemeClr val="tx2"/>
                </a:solidFill>
              </a:rPr>
              <a:t>Predict</a:t>
            </a:r>
            <a:endParaRPr lang="en-US" sz="2400" dirty="0"/>
          </a:p>
        </p:txBody>
      </p:sp>
      <p:sp>
        <p:nvSpPr>
          <p:cNvPr id="23" name="Text 18"/>
          <p:cNvSpPr txBox="1"/>
          <p:nvPr/>
        </p:nvSpPr>
        <p:spPr>
          <a:xfrm>
            <a:off x="8439912" y="3200400"/>
            <a:ext cx="2926080" cy="777240"/>
          </a:xfrm>
          <a:prstGeom prst="rect">
            <a:avLst/>
          </a:prstGeom>
          <a:noFill/>
          <a:ln/>
        </p:spPr>
        <p:txBody>
          <a:bodyPr wrap="square" lIns="0" tIns="0" rIns="0" bIns="0" rtlCol="0" anchor="t"/>
          <a:lstStyle/>
          <a:p>
            <a:pPr marL="0" indent="0">
              <a:buNone/>
            </a:pPr>
            <a:r>
              <a:rPr lang="en-US" sz="1600" dirty="0">
                <a:solidFill>
                  <a:schemeClr val="tx1"/>
                </a:solidFill>
              </a:rPr>
              <a:t>Logistic Regression runs inside the same pipeline</a:t>
            </a:r>
            <a:endParaRPr lang="en-US" sz="1600" dirty="0"/>
          </a:p>
        </p:txBody>
      </p:sp>
      <p:sp>
        <p:nvSpPr>
          <p:cNvPr id="24" name="Formula box 3"/>
          <p:cNvSpPr/>
          <p:nvPr/>
        </p:nvSpPr>
        <p:spPr>
          <a:xfrm>
            <a:off x="8439912" y="4069080"/>
            <a:ext cx="2926080" cy="914400"/>
          </a:xfrm>
          <a:prstGeom prst="roundRect">
            <a:avLst>
              <a:gd name="adj" fmla="val 10000"/>
            </a:avLst>
          </a:prstGeom>
          <a:solidFill>
            <a:schemeClr val="bg2"/>
          </a:solidFill>
          <a:ln/>
        </p:spPr>
        <p:txBody>
          <a:bodyPr/>
          <a:lstStyle/>
          <a:p>
            <a:endParaRPr lang="en-IN"/>
          </a:p>
        </p:txBody>
      </p:sp>
      <p:sp>
        <p:nvSpPr>
          <p:cNvPr id="25" name="Text 20"/>
          <p:cNvSpPr txBox="1"/>
          <p:nvPr/>
        </p:nvSpPr>
        <p:spPr>
          <a:xfrm>
            <a:off x="8577072" y="4069080"/>
            <a:ext cx="2651760" cy="914400"/>
          </a:xfrm>
          <a:prstGeom prst="rect">
            <a:avLst/>
          </a:prstGeom>
          <a:noFill/>
          <a:ln/>
        </p:spPr>
        <p:txBody>
          <a:bodyPr wrap="square" lIns="0" tIns="0" rIns="0" bIns="0" rtlCol="0" anchor="ctr"/>
          <a:lstStyle/>
          <a:p>
            <a:pPr marL="0" indent="0">
              <a:buNone/>
            </a:pPr>
            <a:r>
              <a:rPr lang="en-US" sz="1400" b="1" dirty="0">
                <a:solidFill>
                  <a:schemeClr val="tx2"/>
                </a:solidFill>
              </a:rPr>
              <a:t>≈79% accuracy · recall 82% approved, 75% declined</a:t>
            </a:r>
            <a:endParaRPr lang="en-US" sz="1400" dirty="0"/>
          </a:p>
        </p:txBody>
      </p:sp>
      <p:sp>
        <p:nvSpPr>
          <p:cNvPr id="26" name="Text 21"/>
          <p:cNvSpPr txBox="1"/>
          <p:nvPr/>
        </p:nvSpPr>
        <p:spPr>
          <a:xfrm>
            <a:off x="8439912" y="5166360"/>
            <a:ext cx="2926080" cy="640080"/>
          </a:xfrm>
          <a:prstGeom prst="rect">
            <a:avLst/>
          </a:prstGeom>
          <a:noFill/>
          <a:ln/>
        </p:spPr>
        <p:txBody>
          <a:bodyPr wrap="square" lIns="0" tIns="0" rIns="0" bIns="0" rtlCol="0" anchor="t"/>
          <a:lstStyle/>
          <a:p>
            <a:pPr marL="0" indent="0">
              <a:buNone/>
            </a:pPr>
            <a:r>
              <a:rPr lang="en-US" sz="1400" dirty="0">
                <a:solidFill>
                  <a:srgbClr val="55656F"/>
                </a:solidFill>
              </a:rPr>
              <a:t>Validate leakage, fairness and risk before use</a:t>
            </a:r>
            <a:endParaRPr lang="en-US" sz="1400" dirty="0"/>
          </a:p>
        </p:txBody>
      </p:sp>
      <p:sp>
        <p:nvSpPr>
          <p:cNvPr id="27"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5.9  Compare models with cross-validation</a:t>
            </a:r>
          </a:p>
          <a:p>
            <a:pPr marL="0" indent="0" algn="l">
              <a:buNone/>
            </a:pPr>
            <a:r>
              <a:rPr lang="en-US" sz="1600" b="0" dirty="0">
                <a:solidFill>
                  <a:schemeClr val="accent1"/>
                </a:solidFill>
              </a:rPr>
              <a:t>Model showdown</a:t>
            </a:r>
          </a:p>
        </p:txBody>
      </p:sp>
      <p:sp>
        <p:nvSpPr>
          <p:cNvPr id="3" name="Chart card"/>
          <p:cNvSpPr/>
          <p:nvPr/>
        </p:nvSpPr>
        <p:spPr>
          <a:xfrm>
            <a:off x="548640" y="1508760"/>
            <a:ext cx="6766560"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731520" y="1645920"/>
          <a:ext cx="640080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Winner card"/>
          <p:cNvSpPr/>
          <p:nvPr/>
        </p:nvSpPr>
        <p:spPr>
          <a:xfrm>
            <a:off x="7589520" y="1508760"/>
            <a:ext cx="4050792" cy="4526280"/>
          </a:xfrm>
          <a:prstGeom prst="roundRect">
            <a:avLst>
              <a:gd name="adj" fmla="val 3160"/>
            </a:avLst>
          </a:prstGeom>
          <a:solidFill>
            <a:schemeClr val="tx2"/>
          </a:solidFill>
          <a:ln/>
          <a:effectLst>
            <a:outerShdw blurRad="101600" dist="25400" dir="5400000" algn="bl" rotWithShape="0">
              <a:srgbClr val="0B3B3F">
                <a:alpha val="12000"/>
              </a:srgbClr>
            </a:outerShdw>
          </a:effectLst>
        </p:spPr>
        <p:txBody>
          <a:bodyPr/>
          <a:lstStyle/>
          <a:p>
            <a:endParaRPr lang="en-IN"/>
          </a:p>
        </p:txBody>
      </p:sp>
      <p:sp>
        <p:nvSpPr>
          <p:cNvPr id="6" name="Icon circle"/>
          <p:cNvSpPr/>
          <p:nvPr/>
        </p:nvSpPr>
        <p:spPr>
          <a:xfrm>
            <a:off x="7863840" y="1737360"/>
            <a:ext cx="640080" cy="640080"/>
          </a:xfrm>
          <a:prstGeom prst="ellipse">
            <a:avLst/>
          </a:prstGeom>
          <a:solidFill>
            <a:schemeClr val="accent3"/>
          </a:solidFill>
          <a:ln/>
        </p:spPr>
        <p:txBody>
          <a:bodyPr/>
          <a:lstStyle/>
          <a:p>
            <a:endParaRPr lang="en-IN"/>
          </a:p>
        </p:txBody>
      </p:sp>
      <p:pic>
        <p:nvPicPr>
          <p:cNvPr id="7" name="Image 0" descr="Trophy icon"/>
          <p:cNvPicPr>
            <a:picLocks noChangeAspect="1"/>
          </p:cNvPicPr>
          <p:nvPr/>
        </p:nvPicPr>
        <p:blipFill>
          <a:blip r:embed="rId4"/>
          <a:stretch>
            <a:fillRect/>
          </a:stretch>
        </p:blipFill>
        <p:spPr>
          <a:xfrm>
            <a:off x="8036662" y="1910182"/>
            <a:ext cx="294437" cy="294437"/>
          </a:xfrm>
          <a:prstGeom prst="rect">
            <a:avLst/>
          </a:prstGeom>
        </p:spPr>
      </p:pic>
      <p:sp>
        <p:nvSpPr>
          <p:cNvPr id="8" name="Text 4"/>
          <p:cNvSpPr txBox="1"/>
          <p:nvPr/>
        </p:nvSpPr>
        <p:spPr>
          <a:xfrm>
            <a:off x="8641080" y="1737360"/>
            <a:ext cx="2834640" cy="640080"/>
          </a:xfrm>
          <a:prstGeom prst="rect">
            <a:avLst/>
          </a:prstGeom>
          <a:noFill/>
          <a:ln/>
        </p:spPr>
        <p:txBody>
          <a:bodyPr wrap="square" lIns="0" tIns="0" rIns="0" bIns="0" rtlCol="0" anchor="ctr"/>
          <a:lstStyle/>
          <a:p>
            <a:pPr marL="0" indent="0">
              <a:buNone/>
            </a:pPr>
            <a:r>
              <a:rPr lang="en-US" sz="1800" b="1" dirty="0">
                <a:solidFill>
                  <a:schemeClr val="bg1"/>
                </a:solidFill>
              </a:rPr>
              <a:t>Winner: Gradient Boosting</a:t>
            </a:r>
            <a:endParaRPr lang="en-US" sz="1800" dirty="0"/>
          </a:p>
        </p:txBody>
      </p:sp>
      <p:sp>
        <p:nvSpPr>
          <p:cNvPr id="9" name="Text 5"/>
          <p:cNvSpPr txBox="1"/>
          <p:nvPr/>
        </p:nvSpPr>
        <p:spPr>
          <a:xfrm>
            <a:off x="7863840" y="2560320"/>
            <a:ext cx="3566160" cy="365760"/>
          </a:xfrm>
          <a:prstGeom prst="rect">
            <a:avLst/>
          </a:prstGeom>
          <a:noFill/>
          <a:ln/>
        </p:spPr>
        <p:txBody>
          <a:bodyPr wrap="square" lIns="0" tIns="0" rIns="0" bIns="0" rtlCol="0" anchor="t"/>
          <a:lstStyle/>
          <a:p>
            <a:pPr marL="0" indent="0">
              <a:buNone/>
            </a:pPr>
            <a:r>
              <a:rPr lang="en-US" sz="1400" dirty="0">
                <a:solidFill>
                  <a:schemeClr val="bg2"/>
                </a:solidFill>
              </a:rPr>
              <a:t>Final check on 2,400 unseen applications</a:t>
            </a:r>
            <a:endParaRPr lang="en-US" sz="1400" dirty="0"/>
          </a:p>
        </p:txBody>
      </p:sp>
      <p:sp>
        <p:nvSpPr>
          <p:cNvPr id="10" name="Winner tile 1"/>
          <p:cNvSpPr/>
          <p:nvPr/>
        </p:nvSpPr>
        <p:spPr>
          <a:xfrm>
            <a:off x="7863840" y="3108960"/>
            <a:ext cx="1691640" cy="1234440"/>
          </a:xfrm>
          <a:prstGeom prst="roundRect">
            <a:avLst>
              <a:gd name="adj" fmla="val 7407"/>
            </a:avLst>
          </a:prstGeom>
          <a:solidFill>
            <a:schemeClr val="accent1"/>
          </a:solidFill>
          <a:ln/>
        </p:spPr>
        <p:txBody>
          <a:bodyPr/>
          <a:lstStyle/>
          <a:p>
            <a:endParaRPr lang="en-IN"/>
          </a:p>
        </p:txBody>
      </p:sp>
      <p:sp>
        <p:nvSpPr>
          <p:cNvPr id="11" name="Text 7"/>
          <p:cNvSpPr txBox="1"/>
          <p:nvPr/>
        </p:nvSpPr>
        <p:spPr>
          <a:xfrm>
            <a:off x="7863840" y="3246120"/>
            <a:ext cx="1691640" cy="548640"/>
          </a:xfrm>
          <a:prstGeom prst="rect">
            <a:avLst/>
          </a:prstGeom>
          <a:noFill/>
          <a:ln/>
        </p:spPr>
        <p:txBody>
          <a:bodyPr wrap="square" lIns="0" tIns="0" rIns="0" bIns="0" rtlCol="0" anchor="ctr"/>
          <a:lstStyle/>
          <a:p>
            <a:pPr marL="0" indent="0" algn="ctr">
              <a:buNone/>
            </a:pPr>
            <a:r>
              <a:rPr lang="en-US" sz="2400" b="1" dirty="0">
                <a:solidFill>
                  <a:schemeClr val="bg1"/>
                </a:solidFill>
              </a:rPr>
              <a:t>0.8854</a:t>
            </a:r>
            <a:endParaRPr lang="en-US" sz="2400" dirty="0"/>
          </a:p>
        </p:txBody>
      </p:sp>
      <p:sp>
        <p:nvSpPr>
          <p:cNvPr id="12" name="Text 8"/>
          <p:cNvSpPr txBox="1"/>
          <p:nvPr/>
        </p:nvSpPr>
        <p:spPr>
          <a:xfrm>
            <a:off x="7863840" y="3840480"/>
            <a:ext cx="1691640" cy="365760"/>
          </a:xfrm>
          <a:prstGeom prst="rect">
            <a:avLst/>
          </a:prstGeom>
          <a:noFill/>
          <a:ln/>
        </p:spPr>
        <p:txBody>
          <a:bodyPr wrap="square" lIns="0" tIns="0" rIns="0" bIns="0" rtlCol="0" anchor="t"/>
          <a:lstStyle/>
          <a:p>
            <a:pPr marL="0" indent="0" algn="ctr">
              <a:buNone/>
            </a:pPr>
            <a:r>
              <a:rPr lang="en-US" sz="1400" dirty="0">
                <a:solidFill>
                  <a:schemeClr val="bg1"/>
                </a:solidFill>
              </a:rPr>
              <a:t>ROC-AUC</a:t>
            </a:r>
            <a:endParaRPr lang="en-US" sz="1400" dirty="0"/>
          </a:p>
        </p:txBody>
      </p:sp>
      <p:sp>
        <p:nvSpPr>
          <p:cNvPr id="13" name="Winner tile 2"/>
          <p:cNvSpPr/>
          <p:nvPr/>
        </p:nvSpPr>
        <p:spPr>
          <a:xfrm>
            <a:off x="9692640" y="3108960"/>
            <a:ext cx="1691640" cy="1234440"/>
          </a:xfrm>
          <a:prstGeom prst="roundRect">
            <a:avLst>
              <a:gd name="adj" fmla="val 7407"/>
            </a:avLst>
          </a:prstGeom>
          <a:solidFill>
            <a:schemeClr val="accent1"/>
          </a:solidFill>
          <a:ln/>
        </p:spPr>
        <p:txBody>
          <a:bodyPr/>
          <a:lstStyle/>
          <a:p>
            <a:endParaRPr lang="en-IN"/>
          </a:p>
        </p:txBody>
      </p:sp>
      <p:sp>
        <p:nvSpPr>
          <p:cNvPr id="14" name="Text 10"/>
          <p:cNvSpPr txBox="1"/>
          <p:nvPr/>
        </p:nvSpPr>
        <p:spPr>
          <a:xfrm>
            <a:off x="9692640" y="3246120"/>
            <a:ext cx="1691640" cy="548640"/>
          </a:xfrm>
          <a:prstGeom prst="rect">
            <a:avLst/>
          </a:prstGeom>
          <a:noFill/>
          <a:ln/>
        </p:spPr>
        <p:txBody>
          <a:bodyPr wrap="square" lIns="0" tIns="0" rIns="0" bIns="0" rtlCol="0" anchor="ctr"/>
          <a:lstStyle/>
          <a:p>
            <a:pPr marL="0" indent="0" algn="ctr">
              <a:buNone/>
            </a:pPr>
            <a:r>
              <a:rPr lang="en-US" sz="2400" b="1" dirty="0">
                <a:solidFill>
                  <a:schemeClr val="bg1"/>
                </a:solidFill>
              </a:rPr>
              <a:t>80.29%</a:t>
            </a:r>
            <a:endParaRPr lang="en-US" sz="2400" dirty="0"/>
          </a:p>
        </p:txBody>
      </p:sp>
      <p:sp>
        <p:nvSpPr>
          <p:cNvPr id="15" name="Text 11"/>
          <p:cNvSpPr txBox="1"/>
          <p:nvPr/>
        </p:nvSpPr>
        <p:spPr>
          <a:xfrm>
            <a:off x="9692640" y="3840480"/>
            <a:ext cx="1691640" cy="365760"/>
          </a:xfrm>
          <a:prstGeom prst="rect">
            <a:avLst/>
          </a:prstGeom>
          <a:noFill/>
          <a:ln/>
        </p:spPr>
        <p:txBody>
          <a:bodyPr wrap="square" lIns="0" tIns="0" rIns="0" bIns="0" rtlCol="0" anchor="t"/>
          <a:lstStyle/>
          <a:p>
            <a:pPr marL="0" indent="0" algn="ctr">
              <a:buNone/>
            </a:pPr>
            <a:r>
              <a:rPr lang="en-US" sz="1400" dirty="0">
                <a:solidFill>
                  <a:schemeClr val="bg1"/>
                </a:solidFill>
              </a:rPr>
              <a:t>Accuracy</a:t>
            </a:r>
            <a:endParaRPr lang="en-US" sz="1400" dirty="0"/>
          </a:p>
        </p:txBody>
      </p:sp>
      <p:sp>
        <p:nvSpPr>
          <p:cNvPr id="16" name="Winner tile 3"/>
          <p:cNvSpPr/>
          <p:nvPr/>
        </p:nvSpPr>
        <p:spPr>
          <a:xfrm>
            <a:off x="7863840" y="4526280"/>
            <a:ext cx="1691640" cy="1234440"/>
          </a:xfrm>
          <a:prstGeom prst="roundRect">
            <a:avLst>
              <a:gd name="adj" fmla="val 7407"/>
            </a:avLst>
          </a:prstGeom>
          <a:solidFill>
            <a:schemeClr val="accent1"/>
          </a:solidFill>
          <a:ln/>
        </p:spPr>
        <p:txBody>
          <a:bodyPr/>
          <a:lstStyle/>
          <a:p>
            <a:endParaRPr lang="en-IN"/>
          </a:p>
        </p:txBody>
      </p:sp>
      <p:sp>
        <p:nvSpPr>
          <p:cNvPr id="17" name="Text 13"/>
          <p:cNvSpPr txBox="1"/>
          <p:nvPr/>
        </p:nvSpPr>
        <p:spPr>
          <a:xfrm>
            <a:off x="7863840" y="4663440"/>
            <a:ext cx="1691640" cy="548640"/>
          </a:xfrm>
          <a:prstGeom prst="rect">
            <a:avLst/>
          </a:prstGeom>
          <a:noFill/>
          <a:ln/>
        </p:spPr>
        <p:txBody>
          <a:bodyPr wrap="square" lIns="0" tIns="0" rIns="0" bIns="0" rtlCol="0" anchor="ctr"/>
          <a:lstStyle/>
          <a:p>
            <a:pPr marL="0" indent="0" algn="ctr">
              <a:buNone/>
            </a:pPr>
            <a:r>
              <a:rPr lang="en-US" sz="2400" b="1" dirty="0">
                <a:solidFill>
                  <a:schemeClr val="bg1"/>
                </a:solidFill>
              </a:rPr>
              <a:t>81.48%</a:t>
            </a:r>
            <a:endParaRPr lang="en-US" sz="2400" dirty="0"/>
          </a:p>
        </p:txBody>
      </p:sp>
      <p:sp>
        <p:nvSpPr>
          <p:cNvPr id="18" name="Text 14"/>
          <p:cNvSpPr txBox="1"/>
          <p:nvPr/>
        </p:nvSpPr>
        <p:spPr>
          <a:xfrm>
            <a:off x="7863840" y="5257800"/>
            <a:ext cx="1691640" cy="365760"/>
          </a:xfrm>
          <a:prstGeom prst="rect">
            <a:avLst/>
          </a:prstGeom>
          <a:noFill/>
          <a:ln/>
        </p:spPr>
        <p:txBody>
          <a:bodyPr wrap="square" lIns="0" tIns="0" rIns="0" bIns="0" rtlCol="0" anchor="t"/>
          <a:lstStyle/>
          <a:p>
            <a:pPr marL="0" indent="0" algn="ctr">
              <a:buNone/>
            </a:pPr>
            <a:r>
              <a:rPr lang="en-US" sz="1400" dirty="0">
                <a:solidFill>
                  <a:schemeClr val="bg1"/>
                </a:solidFill>
              </a:rPr>
              <a:t>Precision</a:t>
            </a:r>
            <a:endParaRPr lang="en-US" sz="1400" dirty="0"/>
          </a:p>
        </p:txBody>
      </p:sp>
      <p:sp>
        <p:nvSpPr>
          <p:cNvPr id="19" name="Winner tile 4"/>
          <p:cNvSpPr/>
          <p:nvPr/>
        </p:nvSpPr>
        <p:spPr>
          <a:xfrm>
            <a:off x="9692640" y="4526280"/>
            <a:ext cx="1691640" cy="1234440"/>
          </a:xfrm>
          <a:prstGeom prst="roundRect">
            <a:avLst>
              <a:gd name="adj" fmla="val 7407"/>
            </a:avLst>
          </a:prstGeom>
          <a:solidFill>
            <a:schemeClr val="accent1"/>
          </a:solidFill>
          <a:ln/>
        </p:spPr>
        <p:txBody>
          <a:bodyPr/>
          <a:lstStyle/>
          <a:p>
            <a:endParaRPr lang="en-IN"/>
          </a:p>
        </p:txBody>
      </p:sp>
      <p:sp>
        <p:nvSpPr>
          <p:cNvPr id="20" name="Text 16"/>
          <p:cNvSpPr txBox="1"/>
          <p:nvPr/>
        </p:nvSpPr>
        <p:spPr>
          <a:xfrm>
            <a:off x="9692640" y="4663440"/>
            <a:ext cx="1691640" cy="548640"/>
          </a:xfrm>
          <a:prstGeom prst="rect">
            <a:avLst/>
          </a:prstGeom>
          <a:noFill/>
          <a:ln/>
        </p:spPr>
        <p:txBody>
          <a:bodyPr wrap="square" lIns="0" tIns="0" rIns="0" bIns="0" rtlCol="0" anchor="ctr"/>
          <a:lstStyle/>
          <a:p>
            <a:pPr marL="0" indent="0" algn="ctr">
              <a:buNone/>
            </a:pPr>
            <a:r>
              <a:rPr lang="en-US" sz="2400" b="1" dirty="0">
                <a:solidFill>
                  <a:schemeClr val="bg1"/>
                </a:solidFill>
              </a:rPr>
              <a:t>75.20%</a:t>
            </a:r>
            <a:endParaRPr lang="en-US" sz="2400" dirty="0"/>
          </a:p>
        </p:txBody>
      </p:sp>
      <p:sp>
        <p:nvSpPr>
          <p:cNvPr id="21" name="Text 17"/>
          <p:cNvSpPr txBox="1"/>
          <p:nvPr/>
        </p:nvSpPr>
        <p:spPr>
          <a:xfrm>
            <a:off x="9692640" y="5257800"/>
            <a:ext cx="1691640" cy="365760"/>
          </a:xfrm>
          <a:prstGeom prst="rect">
            <a:avLst/>
          </a:prstGeom>
          <a:noFill/>
          <a:ln/>
        </p:spPr>
        <p:txBody>
          <a:bodyPr wrap="square" lIns="0" tIns="0" rIns="0" bIns="0" rtlCol="0" anchor="t"/>
          <a:lstStyle/>
          <a:p>
            <a:pPr marL="0" indent="0" algn="ctr">
              <a:buNone/>
            </a:pPr>
            <a:r>
              <a:rPr lang="en-US" sz="1400" dirty="0">
                <a:solidFill>
                  <a:schemeClr val="bg1"/>
                </a:solidFill>
              </a:rPr>
              <a:t>Recall</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5.9  Compare models with cross-validation</a:t>
            </a:r>
          </a:p>
          <a:p>
            <a:pPr marL="0" indent="0" algn="l">
              <a:buNone/>
            </a:pPr>
            <a:r>
              <a:rPr lang="en-US" sz="1600" b="0" dirty="0">
                <a:solidFill>
                  <a:schemeClr val="accent1"/>
                </a:solidFill>
              </a:rPr>
              <a:t>What Gradient Boosting looks at</a:t>
            </a:r>
          </a:p>
        </p:txBody>
      </p:sp>
      <p:sp>
        <p:nvSpPr>
          <p:cNvPr id="3" name="Chart card"/>
          <p:cNvSpPr/>
          <p:nvPr/>
        </p:nvSpPr>
        <p:spPr>
          <a:xfrm>
            <a:off x="548640" y="1508760"/>
            <a:ext cx="7223760" cy="4526280"/>
          </a:xfrm>
          <a:prstGeom prst="roundRect">
            <a:avLst>
              <a:gd name="adj" fmla="val 2828"/>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731520" y="1645920"/>
          <a:ext cx="685800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Big stat"/>
          <p:cNvSpPr/>
          <p:nvPr/>
        </p:nvSpPr>
        <p:spPr>
          <a:xfrm>
            <a:off x="8046720" y="1508760"/>
            <a:ext cx="3593592" cy="2377440"/>
          </a:xfrm>
          <a:prstGeom prst="roundRect">
            <a:avLst>
              <a:gd name="adj" fmla="val 5385"/>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6" name="Text 3"/>
          <p:cNvSpPr txBox="1"/>
          <p:nvPr/>
        </p:nvSpPr>
        <p:spPr>
          <a:xfrm>
            <a:off x="8275320" y="1645920"/>
            <a:ext cx="3108960" cy="1097280"/>
          </a:xfrm>
          <a:prstGeom prst="rect">
            <a:avLst/>
          </a:prstGeom>
          <a:noFill/>
          <a:ln/>
        </p:spPr>
        <p:txBody>
          <a:bodyPr wrap="square" lIns="0" tIns="0" rIns="0" bIns="0" rtlCol="0" anchor="ctr"/>
          <a:lstStyle/>
          <a:p>
            <a:pPr marL="0" indent="0">
              <a:buNone/>
            </a:pPr>
            <a:r>
              <a:rPr lang="en-US" sz="6600" b="1" dirty="0">
                <a:solidFill>
                  <a:schemeClr val="accent1"/>
                </a:solidFill>
              </a:rPr>
              <a:t>88%</a:t>
            </a:r>
            <a:endParaRPr lang="en-US" sz="6600" dirty="0"/>
          </a:p>
        </p:txBody>
      </p:sp>
      <p:sp>
        <p:nvSpPr>
          <p:cNvPr id="7" name="Text 4"/>
          <p:cNvSpPr txBox="1"/>
          <p:nvPr/>
        </p:nvSpPr>
        <p:spPr>
          <a:xfrm>
            <a:off x="8275320" y="2788920"/>
            <a:ext cx="3108960" cy="914400"/>
          </a:xfrm>
          <a:prstGeom prst="rect">
            <a:avLst/>
          </a:prstGeom>
          <a:noFill/>
          <a:ln/>
        </p:spPr>
        <p:txBody>
          <a:bodyPr wrap="square" lIns="0" tIns="0" rIns="0" bIns="0" rtlCol="0" anchor="t"/>
          <a:lstStyle/>
          <a:p>
            <a:pPr marL="0" indent="0">
              <a:buNone/>
            </a:pPr>
            <a:r>
              <a:rPr lang="en-US" sz="1600" dirty="0">
                <a:solidFill>
                  <a:schemeClr val="tx1"/>
                </a:solidFill>
              </a:rPr>
              <a:t>of the importance sits in just three clues</a:t>
            </a:r>
            <a:endParaRPr lang="en-US" sz="1600" dirty="0"/>
          </a:p>
        </p:txBody>
      </p:sp>
      <p:sp>
        <p:nvSpPr>
          <p:cNvPr id="8" name="Note card"/>
          <p:cNvSpPr/>
          <p:nvPr/>
        </p:nvSpPr>
        <p:spPr>
          <a:xfrm>
            <a:off x="8046720" y="4160520"/>
            <a:ext cx="3593592" cy="1874520"/>
          </a:xfrm>
          <a:prstGeom prst="roundRect">
            <a:avLst>
              <a:gd name="adj" fmla="val 6829"/>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9" name="Text 6"/>
          <p:cNvSpPr txBox="1"/>
          <p:nvPr/>
        </p:nvSpPr>
        <p:spPr>
          <a:xfrm>
            <a:off x="8275320" y="4160520"/>
            <a:ext cx="3154680" cy="1874520"/>
          </a:xfrm>
          <a:prstGeom prst="rect">
            <a:avLst/>
          </a:prstGeom>
          <a:noFill/>
          <a:ln/>
        </p:spPr>
        <p:txBody>
          <a:bodyPr wrap="square" lIns="0" tIns="0" rIns="0" bIns="0" rtlCol="0" anchor="ctr"/>
          <a:lstStyle/>
          <a:p>
            <a:pPr marL="0" indent="0">
              <a:buNone/>
            </a:pPr>
            <a:r>
              <a:rPr lang="en-US" sz="1500" dirty="0">
                <a:solidFill>
                  <a:schemeClr val="tx1"/>
                </a:solidFill>
              </a:rPr>
              <a:t>Importance shows how useful a clue is, not whether it raises or lowers the chance of a decline.</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5.10  Design the two-lane pre-screener</a:t>
            </a:r>
          </a:p>
          <a:p>
            <a:pPr marL="0" indent="0" algn="l">
              <a:buNone/>
            </a:pPr>
            <a:r>
              <a:rPr lang="en-US" sz="1600" b="0" dirty="0">
                <a:solidFill>
                  <a:schemeClr val="accent1"/>
                </a:solidFill>
              </a:rPr>
              <a:t>Three lanes for every application</a:t>
            </a:r>
          </a:p>
        </p:txBody>
      </p:sp>
      <p:sp>
        <p:nvSpPr>
          <p:cNvPr id="3" name="Text 1"/>
          <p:cNvSpPr txBox="1"/>
          <p:nvPr/>
        </p:nvSpPr>
        <p:spPr>
          <a:xfrm>
            <a:off x="548640" y="1280160"/>
            <a:ext cx="11091672" cy="365760"/>
          </a:xfrm>
          <a:prstGeom prst="rect">
            <a:avLst/>
          </a:prstGeom>
          <a:noFill/>
          <a:ln/>
        </p:spPr>
        <p:txBody>
          <a:bodyPr wrap="square" lIns="0" tIns="0" rIns="0" bIns="0" rtlCol="0" anchor="t"/>
          <a:lstStyle/>
          <a:p>
            <a:pPr marL="0" indent="0">
              <a:buNone/>
            </a:pPr>
            <a:r>
              <a:rPr lang="en-US" sz="1800" b="1" dirty="0">
                <a:solidFill>
                  <a:schemeClr val="tx1"/>
                </a:solidFill>
              </a:rPr>
              <a:t>Out of 2,400 test applications, 1,046 (43.6%) are decided automatically</a:t>
            </a:r>
            <a:endParaRPr lang="en-US" sz="1800" dirty="0"/>
          </a:p>
        </p:txBody>
      </p:sp>
      <p:sp>
        <p:nvSpPr>
          <p:cNvPr id="4" name="Lane share 1"/>
          <p:cNvSpPr/>
          <p:nvPr/>
        </p:nvSpPr>
        <p:spPr>
          <a:xfrm>
            <a:off x="548640" y="1783080"/>
            <a:ext cx="2717597" cy="731520"/>
          </a:xfrm>
          <a:prstGeom prst="rect">
            <a:avLst/>
          </a:prstGeom>
          <a:solidFill>
            <a:schemeClr val="accent2"/>
          </a:solidFill>
          <a:ln w="25400">
            <a:solidFill>
              <a:schemeClr val="bg2"/>
            </a:solidFill>
            <a:prstDash val="solid"/>
          </a:ln>
        </p:spPr>
        <p:txBody>
          <a:bodyPr/>
          <a:lstStyle/>
          <a:p>
            <a:endParaRPr lang="en-IN"/>
          </a:p>
        </p:txBody>
      </p:sp>
      <p:sp>
        <p:nvSpPr>
          <p:cNvPr id="5" name="Text 3"/>
          <p:cNvSpPr txBox="1"/>
          <p:nvPr/>
        </p:nvSpPr>
        <p:spPr>
          <a:xfrm>
            <a:off x="548640" y="1783080"/>
            <a:ext cx="2717597" cy="731520"/>
          </a:xfrm>
          <a:prstGeom prst="rect">
            <a:avLst/>
          </a:prstGeom>
          <a:noFill/>
          <a:ln/>
        </p:spPr>
        <p:txBody>
          <a:bodyPr wrap="square" lIns="0" tIns="0" rIns="0" bIns="0" rtlCol="0" anchor="ctr"/>
          <a:lstStyle/>
          <a:p>
            <a:pPr marL="0" indent="0" algn="ctr">
              <a:buNone/>
            </a:pPr>
            <a:r>
              <a:rPr lang="en-US" sz="2200" b="1" dirty="0">
                <a:solidFill>
                  <a:schemeClr val="bg1"/>
                </a:solidFill>
              </a:rPr>
              <a:t>24.5%</a:t>
            </a:r>
            <a:endParaRPr lang="en-US" sz="2200" dirty="0"/>
          </a:p>
        </p:txBody>
      </p:sp>
      <p:sp>
        <p:nvSpPr>
          <p:cNvPr id="6" name="Lane share 2"/>
          <p:cNvSpPr/>
          <p:nvPr/>
        </p:nvSpPr>
        <p:spPr>
          <a:xfrm>
            <a:off x="3266237" y="1783080"/>
            <a:ext cx="6255410" cy="731520"/>
          </a:xfrm>
          <a:prstGeom prst="rect">
            <a:avLst/>
          </a:prstGeom>
          <a:solidFill>
            <a:schemeClr val="accent3"/>
          </a:solidFill>
          <a:ln w="25400">
            <a:solidFill>
              <a:schemeClr val="bg2"/>
            </a:solidFill>
            <a:prstDash val="solid"/>
          </a:ln>
        </p:spPr>
        <p:txBody>
          <a:bodyPr/>
          <a:lstStyle/>
          <a:p>
            <a:endParaRPr lang="en-IN"/>
          </a:p>
        </p:txBody>
      </p:sp>
      <p:sp>
        <p:nvSpPr>
          <p:cNvPr id="7" name="Text 5"/>
          <p:cNvSpPr txBox="1"/>
          <p:nvPr/>
        </p:nvSpPr>
        <p:spPr>
          <a:xfrm>
            <a:off x="3266237" y="1783080"/>
            <a:ext cx="6255410" cy="731520"/>
          </a:xfrm>
          <a:prstGeom prst="rect">
            <a:avLst/>
          </a:prstGeom>
          <a:noFill/>
          <a:ln/>
        </p:spPr>
        <p:txBody>
          <a:bodyPr wrap="square" lIns="0" tIns="0" rIns="0" bIns="0" rtlCol="0" anchor="ctr"/>
          <a:lstStyle/>
          <a:p>
            <a:pPr marL="0" indent="0" algn="ctr">
              <a:buNone/>
            </a:pPr>
            <a:r>
              <a:rPr lang="en-US" sz="2200" b="1" dirty="0">
                <a:solidFill>
                  <a:schemeClr val="tx1"/>
                </a:solidFill>
              </a:rPr>
              <a:t>56.4%</a:t>
            </a:r>
            <a:endParaRPr lang="en-US" sz="2200" dirty="0"/>
          </a:p>
        </p:txBody>
      </p:sp>
      <p:sp>
        <p:nvSpPr>
          <p:cNvPr id="8" name="Lane share 3"/>
          <p:cNvSpPr/>
          <p:nvPr/>
        </p:nvSpPr>
        <p:spPr>
          <a:xfrm>
            <a:off x="9521647" y="1783080"/>
            <a:ext cx="2118665" cy="731520"/>
          </a:xfrm>
          <a:prstGeom prst="rect">
            <a:avLst/>
          </a:prstGeom>
          <a:solidFill>
            <a:schemeClr val="accent4"/>
          </a:solidFill>
          <a:ln w="25400">
            <a:solidFill>
              <a:schemeClr val="bg2"/>
            </a:solidFill>
            <a:prstDash val="solid"/>
          </a:ln>
        </p:spPr>
        <p:txBody>
          <a:bodyPr/>
          <a:lstStyle/>
          <a:p>
            <a:endParaRPr lang="en-IN"/>
          </a:p>
        </p:txBody>
      </p:sp>
      <p:sp>
        <p:nvSpPr>
          <p:cNvPr id="9" name="Text 7"/>
          <p:cNvSpPr txBox="1"/>
          <p:nvPr/>
        </p:nvSpPr>
        <p:spPr>
          <a:xfrm>
            <a:off x="9521647" y="1783080"/>
            <a:ext cx="2118665" cy="731520"/>
          </a:xfrm>
          <a:prstGeom prst="rect">
            <a:avLst/>
          </a:prstGeom>
          <a:noFill/>
          <a:ln/>
        </p:spPr>
        <p:txBody>
          <a:bodyPr wrap="square" lIns="0" tIns="0" rIns="0" bIns="0" rtlCol="0" anchor="ctr"/>
          <a:lstStyle/>
          <a:p>
            <a:pPr marL="0" indent="0" algn="ctr">
              <a:buNone/>
            </a:pPr>
            <a:r>
              <a:rPr lang="en-US" sz="2200" b="1" dirty="0">
                <a:solidFill>
                  <a:schemeClr val="bg1"/>
                </a:solidFill>
              </a:rPr>
              <a:t>19.1%</a:t>
            </a:r>
            <a:endParaRPr lang="en-US" sz="2200" dirty="0"/>
          </a:p>
        </p:txBody>
      </p:sp>
      <p:sp>
        <p:nvSpPr>
          <p:cNvPr id="10" name="Lane card 1"/>
          <p:cNvSpPr/>
          <p:nvPr/>
        </p:nvSpPr>
        <p:spPr>
          <a:xfrm>
            <a:off x="548640" y="2788920"/>
            <a:ext cx="3474720" cy="3108960"/>
          </a:xfrm>
          <a:prstGeom prst="roundRect">
            <a:avLst>
              <a:gd name="adj" fmla="val 411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1" name="Icon circle"/>
          <p:cNvSpPr/>
          <p:nvPr/>
        </p:nvSpPr>
        <p:spPr>
          <a:xfrm>
            <a:off x="822960" y="3017520"/>
            <a:ext cx="731520" cy="731520"/>
          </a:xfrm>
          <a:prstGeom prst="ellipse">
            <a:avLst/>
          </a:prstGeom>
          <a:solidFill>
            <a:schemeClr val="accent2"/>
          </a:solidFill>
          <a:ln/>
        </p:spPr>
        <p:txBody>
          <a:bodyPr/>
          <a:lstStyle/>
          <a:p>
            <a:endParaRPr lang="en-IN"/>
          </a:p>
        </p:txBody>
      </p:sp>
      <p:pic>
        <p:nvPicPr>
          <p:cNvPr id="12" name="Image 0" descr="Ban icon"/>
          <p:cNvPicPr>
            <a:picLocks noChangeAspect="1"/>
          </p:cNvPicPr>
          <p:nvPr/>
        </p:nvPicPr>
        <p:blipFill>
          <a:blip r:embed="rId3"/>
          <a:stretch>
            <a:fillRect/>
          </a:stretch>
        </p:blipFill>
        <p:spPr>
          <a:xfrm>
            <a:off x="1020470" y="3215030"/>
            <a:ext cx="336499" cy="336499"/>
          </a:xfrm>
          <a:prstGeom prst="rect">
            <a:avLst/>
          </a:prstGeom>
        </p:spPr>
      </p:pic>
      <p:sp>
        <p:nvSpPr>
          <p:cNvPr id="13" name="Text 10"/>
          <p:cNvSpPr txBox="1"/>
          <p:nvPr/>
        </p:nvSpPr>
        <p:spPr>
          <a:xfrm>
            <a:off x="1691640" y="3017520"/>
            <a:ext cx="2194560" cy="731520"/>
          </a:xfrm>
          <a:prstGeom prst="rect">
            <a:avLst/>
          </a:prstGeom>
          <a:noFill/>
          <a:ln/>
        </p:spPr>
        <p:txBody>
          <a:bodyPr wrap="square" lIns="0" tIns="0" rIns="0" bIns="0" rtlCol="0" anchor="ctr"/>
          <a:lstStyle/>
          <a:p>
            <a:pPr marL="0" indent="0">
              <a:buNone/>
            </a:pPr>
            <a:r>
              <a:rPr lang="en-US" sz="1900" b="1" dirty="0">
                <a:solidFill>
                  <a:schemeClr val="tx2"/>
                </a:solidFill>
              </a:rPr>
              <a:t>Automated decline</a:t>
            </a:r>
            <a:endParaRPr lang="en-US" sz="1900" dirty="0"/>
          </a:p>
        </p:txBody>
      </p:sp>
      <p:sp>
        <p:nvSpPr>
          <p:cNvPr id="14" name="Text 11"/>
          <p:cNvSpPr txBox="1"/>
          <p:nvPr/>
        </p:nvSpPr>
        <p:spPr>
          <a:xfrm>
            <a:off x="822960" y="3886200"/>
            <a:ext cx="2926080" cy="365760"/>
          </a:xfrm>
          <a:prstGeom prst="rect">
            <a:avLst/>
          </a:prstGeom>
          <a:noFill/>
          <a:ln/>
        </p:spPr>
        <p:txBody>
          <a:bodyPr wrap="square" lIns="0" tIns="0" rIns="0" bIns="0" rtlCol="0" anchor="t"/>
          <a:lstStyle/>
          <a:p>
            <a:pPr marL="0" indent="0">
              <a:buNone/>
            </a:pPr>
            <a:r>
              <a:rPr lang="en-US" sz="1400" dirty="0">
                <a:solidFill>
                  <a:srgbClr val="55656F"/>
                </a:solidFill>
              </a:rPr>
              <a:t>approval chance below 0.17</a:t>
            </a:r>
            <a:endParaRPr lang="en-US" sz="1400" dirty="0"/>
          </a:p>
        </p:txBody>
      </p:sp>
      <p:sp>
        <p:nvSpPr>
          <p:cNvPr id="15" name="Text 12"/>
          <p:cNvSpPr txBox="1"/>
          <p:nvPr/>
        </p:nvSpPr>
        <p:spPr>
          <a:xfrm>
            <a:off x="822960" y="4297680"/>
            <a:ext cx="2926080" cy="685800"/>
          </a:xfrm>
          <a:prstGeom prst="rect">
            <a:avLst/>
          </a:prstGeom>
          <a:noFill/>
          <a:ln/>
        </p:spPr>
        <p:txBody>
          <a:bodyPr wrap="square" lIns="0" tIns="0" rIns="0" bIns="0" rtlCol="0" anchor="ctr"/>
          <a:lstStyle/>
          <a:p>
            <a:pPr marL="0" indent="0">
              <a:buNone/>
            </a:pPr>
            <a:r>
              <a:rPr lang="en-US" sz="3600" b="1" dirty="0">
                <a:solidFill>
                  <a:schemeClr val="tx1"/>
                </a:solidFill>
              </a:rPr>
              <a:t>587</a:t>
            </a:r>
            <a:r>
              <a:rPr lang="en-US" sz="1500" dirty="0">
                <a:solidFill>
                  <a:schemeClr val="tx1"/>
                </a:solidFill>
              </a:rPr>
              <a:t>  applications</a:t>
            </a:r>
            <a:endParaRPr lang="en-US" sz="3600" dirty="0"/>
          </a:p>
        </p:txBody>
      </p:sp>
      <p:sp>
        <p:nvSpPr>
          <p:cNvPr id="16" name="Text 13"/>
          <p:cNvSpPr txBox="1"/>
          <p:nvPr/>
        </p:nvSpPr>
        <p:spPr>
          <a:xfrm>
            <a:off x="822960" y="5120640"/>
            <a:ext cx="2926080" cy="640080"/>
          </a:xfrm>
          <a:prstGeom prst="rect">
            <a:avLst/>
          </a:prstGeom>
          <a:noFill/>
          <a:ln/>
        </p:spPr>
        <p:txBody>
          <a:bodyPr wrap="square" lIns="0" tIns="0" rIns="0" bIns="0" rtlCol="0" anchor="t"/>
          <a:lstStyle/>
          <a:p>
            <a:pPr marL="0" indent="0">
              <a:buNone/>
            </a:pPr>
            <a:r>
              <a:rPr lang="en-US" sz="1600" b="1" dirty="0">
                <a:solidFill>
                  <a:schemeClr val="tx2"/>
                </a:solidFill>
              </a:rPr>
              <a:t>4.94% wrongly declined</a:t>
            </a:r>
            <a:endParaRPr lang="en-US" sz="1600" dirty="0"/>
          </a:p>
        </p:txBody>
      </p:sp>
      <p:sp>
        <p:nvSpPr>
          <p:cNvPr id="17" name="Lane card 2"/>
          <p:cNvSpPr/>
          <p:nvPr/>
        </p:nvSpPr>
        <p:spPr>
          <a:xfrm>
            <a:off x="4357116" y="2788920"/>
            <a:ext cx="3474720" cy="3108960"/>
          </a:xfrm>
          <a:prstGeom prst="roundRect">
            <a:avLst>
              <a:gd name="adj" fmla="val 411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8" name="Icon circle"/>
          <p:cNvSpPr/>
          <p:nvPr/>
        </p:nvSpPr>
        <p:spPr>
          <a:xfrm>
            <a:off x="4631436" y="3017520"/>
            <a:ext cx="731520" cy="731520"/>
          </a:xfrm>
          <a:prstGeom prst="ellipse">
            <a:avLst/>
          </a:prstGeom>
          <a:solidFill>
            <a:schemeClr val="accent3"/>
          </a:solidFill>
          <a:ln/>
        </p:spPr>
        <p:txBody>
          <a:bodyPr/>
          <a:lstStyle/>
          <a:p>
            <a:endParaRPr lang="en-IN"/>
          </a:p>
        </p:txBody>
      </p:sp>
      <p:pic>
        <p:nvPicPr>
          <p:cNvPr id="19" name="Image 1" descr="UserTie icon"/>
          <p:cNvPicPr>
            <a:picLocks noChangeAspect="1"/>
          </p:cNvPicPr>
          <p:nvPr/>
        </p:nvPicPr>
        <p:blipFill>
          <a:blip r:embed="rId4"/>
          <a:stretch>
            <a:fillRect/>
          </a:stretch>
        </p:blipFill>
        <p:spPr>
          <a:xfrm>
            <a:off x="4828946" y="3215030"/>
            <a:ext cx="336499" cy="336499"/>
          </a:xfrm>
          <a:prstGeom prst="rect">
            <a:avLst/>
          </a:prstGeom>
        </p:spPr>
      </p:pic>
      <p:sp>
        <p:nvSpPr>
          <p:cNvPr id="20" name="Text 16"/>
          <p:cNvSpPr txBox="1"/>
          <p:nvPr/>
        </p:nvSpPr>
        <p:spPr>
          <a:xfrm>
            <a:off x="5500116" y="3017520"/>
            <a:ext cx="2194560" cy="731520"/>
          </a:xfrm>
          <a:prstGeom prst="rect">
            <a:avLst/>
          </a:prstGeom>
          <a:noFill/>
          <a:ln/>
        </p:spPr>
        <p:txBody>
          <a:bodyPr wrap="square" lIns="0" tIns="0" rIns="0" bIns="0" rtlCol="0" anchor="ctr"/>
          <a:lstStyle/>
          <a:p>
            <a:pPr marL="0" indent="0">
              <a:buNone/>
            </a:pPr>
            <a:r>
              <a:rPr lang="en-US" sz="1900" b="1" dirty="0">
                <a:solidFill>
                  <a:schemeClr val="tx2"/>
                </a:solidFill>
              </a:rPr>
              <a:t>Analyst review</a:t>
            </a:r>
            <a:endParaRPr lang="en-US" sz="1900" dirty="0"/>
          </a:p>
        </p:txBody>
      </p:sp>
      <p:sp>
        <p:nvSpPr>
          <p:cNvPr id="21" name="Text 17"/>
          <p:cNvSpPr txBox="1"/>
          <p:nvPr/>
        </p:nvSpPr>
        <p:spPr>
          <a:xfrm>
            <a:off x="4631436" y="3886200"/>
            <a:ext cx="2926080" cy="365760"/>
          </a:xfrm>
          <a:prstGeom prst="rect">
            <a:avLst/>
          </a:prstGeom>
          <a:noFill/>
          <a:ln/>
        </p:spPr>
        <p:txBody>
          <a:bodyPr wrap="square" lIns="0" tIns="0" rIns="0" bIns="0" rtlCol="0" anchor="t"/>
          <a:lstStyle/>
          <a:p>
            <a:pPr marL="0" indent="0">
              <a:buNone/>
            </a:pPr>
            <a:r>
              <a:rPr lang="en-US" sz="1400" dirty="0">
                <a:solidFill>
                  <a:srgbClr val="55656F"/>
                </a:solidFill>
              </a:rPr>
              <a:t>approval chance from 0.17 to 0.89</a:t>
            </a:r>
            <a:endParaRPr lang="en-US" sz="1400" dirty="0"/>
          </a:p>
        </p:txBody>
      </p:sp>
      <p:sp>
        <p:nvSpPr>
          <p:cNvPr id="22" name="Text 18"/>
          <p:cNvSpPr txBox="1"/>
          <p:nvPr/>
        </p:nvSpPr>
        <p:spPr>
          <a:xfrm>
            <a:off x="4631436" y="4297680"/>
            <a:ext cx="2926080" cy="685800"/>
          </a:xfrm>
          <a:prstGeom prst="rect">
            <a:avLst/>
          </a:prstGeom>
          <a:noFill/>
          <a:ln/>
        </p:spPr>
        <p:txBody>
          <a:bodyPr wrap="square" lIns="0" tIns="0" rIns="0" bIns="0" rtlCol="0" anchor="ctr"/>
          <a:lstStyle/>
          <a:p>
            <a:pPr marL="0" indent="0">
              <a:buNone/>
            </a:pPr>
            <a:r>
              <a:rPr lang="en-US" sz="3600" b="1" dirty="0">
                <a:solidFill>
                  <a:schemeClr val="tx1"/>
                </a:solidFill>
              </a:rPr>
              <a:t>1,354</a:t>
            </a:r>
            <a:r>
              <a:rPr lang="en-US" sz="1500" dirty="0">
                <a:solidFill>
                  <a:schemeClr val="tx1"/>
                </a:solidFill>
              </a:rPr>
              <a:t>  applications</a:t>
            </a:r>
            <a:endParaRPr lang="en-US" sz="3600" dirty="0"/>
          </a:p>
        </p:txBody>
      </p:sp>
      <p:sp>
        <p:nvSpPr>
          <p:cNvPr id="23" name="Text 19"/>
          <p:cNvSpPr txBox="1"/>
          <p:nvPr/>
        </p:nvSpPr>
        <p:spPr>
          <a:xfrm>
            <a:off x="4631436" y="5120640"/>
            <a:ext cx="2926080" cy="640080"/>
          </a:xfrm>
          <a:prstGeom prst="rect">
            <a:avLst/>
          </a:prstGeom>
          <a:noFill/>
          <a:ln/>
        </p:spPr>
        <p:txBody>
          <a:bodyPr wrap="square" lIns="0" tIns="0" rIns="0" bIns="0" rtlCol="0" anchor="t"/>
          <a:lstStyle/>
          <a:p>
            <a:pPr marL="0" indent="0">
              <a:buNone/>
            </a:pPr>
            <a:r>
              <a:rPr lang="en-US" sz="1600" b="1" dirty="0">
                <a:solidFill>
                  <a:schemeClr val="tx2"/>
                </a:solidFill>
              </a:rPr>
              <a:t>People take a careful look</a:t>
            </a:r>
            <a:endParaRPr lang="en-US" sz="1600" dirty="0"/>
          </a:p>
        </p:txBody>
      </p:sp>
      <p:sp>
        <p:nvSpPr>
          <p:cNvPr id="24" name="Lane card 3"/>
          <p:cNvSpPr/>
          <p:nvPr/>
        </p:nvSpPr>
        <p:spPr>
          <a:xfrm>
            <a:off x="8165592" y="2788920"/>
            <a:ext cx="3474720" cy="3108960"/>
          </a:xfrm>
          <a:prstGeom prst="roundRect">
            <a:avLst>
              <a:gd name="adj" fmla="val 4118"/>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5" name="Icon circle"/>
          <p:cNvSpPr/>
          <p:nvPr/>
        </p:nvSpPr>
        <p:spPr>
          <a:xfrm>
            <a:off x="8439912" y="3017520"/>
            <a:ext cx="731520" cy="731520"/>
          </a:xfrm>
          <a:prstGeom prst="ellipse">
            <a:avLst/>
          </a:prstGeom>
          <a:solidFill>
            <a:schemeClr val="accent4"/>
          </a:solidFill>
          <a:ln/>
        </p:spPr>
        <p:txBody>
          <a:bodyPr/>
          <a:lstStyle/>
          <a:p>
            <a:endParaRPr lang="en-IN"/>
          </a:p>
        </p:txBody>
      </p:sp>
      <p:pic>
        <p:nvPicPr>
          <p:cNvPr id="26" name="Image 2" descr="Bolt icon"/>
          <p:cNvPicPr>
            <a:picLocks noChangeAspect="1"/>
          </p:cNvPicPr>
          <p:nvPr/>
        </p:nvPicPr>
        <p:blipFill>
          <a:blip r:embed="rId5"/>
          <a:stretch>
            <a:fillRect/>
          </a:stretch>
        </p:blipFill>
        <p:spPr>
          <a:xfrm>
            <a:off x="8637422" y="3215030"/>
            <a:ext cx="336499" cy="336499"/>
          </a:xfrm>
          <a:prstGeom prst="rect">
            <a:avLst/>
          </a:prstGeom>
        </p:spPr>
      </p:pic>
      <p:sp>
        <p:nvSpPr>
          <p:cNvPr id="27" name="Text 22"/>
          <p:cNvSpPr txBox="1"/>
          <p:nvPr/>
        </p:nvSpPr>
        <p:spPr>
          <a:xfrm>
            <a:off x="9308592" y="3017520"/>
            <a:ext cx="2194560" cy="731520"/>
          </a:xfrm>
          <a:prstGeom prst="rect">
            <a:avLst/>
          </a:prstGeom>
          <a:noFill/>
          <a:ln/>
        </p:spPr>
        <p:txBody>
          <a:bodyPr wrap="square" lIns="0" tIns="0" rIns="0" bIns="0" rtlCol="0" anchor="ctr"/>
          <a:lstStyle/>
          <a:p>
            <a:pPr marL="0" indent="0">
              <a:buNone/>
            </a:pPr>
            <a:r>
              <a:rPr lang="en-US" sz="1900" b="1" dirty="0">
                <a:solidFill>
                  <a:schemeClr val="tx2"/>
                </a:solidFill>
              </a:rPr>
              <a:t>Fast-track approval</a:t>
            </a:r>
            <a:endParaRPr lang="en-US" sz="1900" dirty="0"/>
          </a:p>
        </p:txBody>
      </p:sp>
      <p:sp>
        <p:nvSpPr>
          <p:cNvPr id="28" name="Text 23"/>
          <p:cNvSpPr txBox="1"/>
          <p:nvPr/>
        </p:nvSpPr>
        <p:spPr>
          <a:xfrm>
            <a:off x="8439912" y="3886200"/>
            <a:ext cx="2926080" cy="365760"/>
          </a:xfrm>
          <a:prstGeom prst="rect">
            <a:avLst/>
          </a:prstGeom>
          <a:noFill/>
          <a:ln/>
        </p:spPr>
        <p:txBody>
          <a:bodyPr wrap="square" lIns="0" tIns="0" rIns="0" bIns="0" rtlCol="0" anchor="t"/>
          <a:lstStyle/>
          <a:p>
            <a:pPr marL="0" indent="0">
              <a:buNone/>
            </a:pPr>
            <a:r>
              <a:rPr lang="en-US" sz="1400" dirty="0">
                <a:solidFill>
                  <a:srgbClr val="55656F"/>
                </a:solidFill>
              </a:rPr>
              <a:t>approval chance 0.89 or higher</a:t>
            </a:r>
            <a:endParaRPr lang="en-US" sz="1400" dirty="0"/>
          </a:p>
        </p:txBody>
      </p:sp>
      <p:sp>
        <p:nvSpPr>
          <p:cNvPr id="29" name="Text 24"/>
          <p:cNvSpPr txBox="1"/>
          <p:nvPr/>
        </p:nvSpPr>
        <p:spPr>
          <a:xfrm>
            <a:off x="8439912" y="4297680"/>
            <a:ext cx="2926080" cy="685800"/>
          </a:xfrm>
          <a:prstGeom prst="rect">
            <a:avLst/>
          </a:prstGeom>
          <a:noFill/>
          <a:ln/>
        </p:spPr>
        <p:txBody>
          <a:bodyPr wrap="square" lIns="0" tIns="0" rIns="0" bIns="0" rtlCol="0" anchor="ctr"/>
          <a:lstStyle/>
          <a:p>
            <a:pPr marL="0" indent="0">
              <a:buNone/>
            </a:pPr>
            <a:r>
              <a:rPr lang="en-US" sz="3600" b="1" dirty="0">
                <a:solidFill>
                  <a:schemeClr val="tx1"/>
                </a:solidFill>
              </a:rPr>
              <a:t>459</a:t>
            </a:r>
            <a:r>
              <a:rPr lang="en-US" sz="1500" dirty="0">
                <a:solidFill>
                  <a:schemeClr val="tx1"/>
                </a:solidFill>
              </a:rPr>
              <a:t>  applications</a:t>
            </a:r>
            <a:endParaRPr lang="en-US" sz="3600" dirty="0"/>
          </a:p>
        </p:txBody>
      </p:sp>
      <p:sp>
        <p:nvSpPr>
          <p:cNvPr id="30" name="Text 25"/>
          <p:cNvSpPr txBox="1"/>
          <p:nvPr/>
        </p:nvSpPr>
        <p:spPr>
          <a:xfrm>
            <a:off x="8439912" y="5120640"/>
            <a:ext cx="2926080" cy="640080"/>
          </a:xfrm>
          <a:prstGeom prst="rect">
            <a:avLst/>
          </a:prstGeom>
          <a:noFill/>
          <a:ln/>
        </p:spPr>
        <p:txBody>
          <a:bodyPr wrap="square" lIns="0" tIns="0" rIns="0" bIns="0" rtlCol="0" anchor="t"/>
          <a:lstStyle/>
          <a:p>
            <a:pPr marL="0" indent="0">
              <a:buNone/>
            </a:pPr>
            <a:r>
              <a:rPr lang="en-US" sz="1600" b="1" dirty="0">
                <a:solidFill>
                  <a:schemeClr val="tx2"/>
                </a:solidFill>
              </a:rPr>
              <a:t>4.58% wrongly approved</a:t>
            </a:r>
            <a:endParaRPr lang="en-US" sz="1600" dirty="0"/>
          </a:p>
        </p:txBody>
      </p:sp>
      <p:sp>
        <p:nvSpPr>
          <p:cNvPr id="31"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5.10  Design the two-lane pre-screener</a:t>
            </a:r>
          </a:p>
          <a:p>
            <a:pPr marL="0" indent="0" algn="l">
              <a:buNone/>
            </a:pPr>
            <a:r>
              <a:rPr lang="en-US" sz="1600" b="0" dirty="0">
                <a:solidFill>
                  <a:schemeClr val="accent1"/>
                </a:solidFill>
              </a:rPr>
              <a:t>How much time we save</a:t>
            </a:r>
          </a:p>
        </p:txBody>
      </p:sp>
      <p:sp>
        <p:nvSpPr>
          <p:cNvPr id="3" name="Apps chart card"/>
          <p:cNvSpPr/>
          <p:nvPr/>
        </p:nvSpPr>
        <p:spPr>
          <a:xfrm>
            <a:off x="548640" y="1508760"/>
            <a:ext cx="5440680" cy="3611880"/>
          </a:xfrm>
          <a:prstGeom prst="roundRect">
            <a:avLst>
              <a:gd name="adj" fmla="val 3544"/>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685800" y="1600200"/>
          <a:ext cx="516636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Hours chart card"/>
          <p:cNvSpPr/>
          <p:nvPr/>
        </p:nvSpPr>
        <p:spPr>
          <a:xfrm>
            <a:off x="6199632" y="1508760"/>
            <a:ext cx="5440680" cy="3611880"/>
          </a:xfrm>
          <a:prstGeom prst="roundRect">
            <a:avLst>
              <a:gd name="adj" fmla="val 3544"/>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6" name="Chart 1"/>
          <p:cNvGraphicFramePr/>
          <p:nvPr/>
        </p:nvGraphicFramePr>
        <p:xfrm>
          <a:off x="6336792" y="1600200"/>
          <a:ext cx="516636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7" name="Gain banner"/>
          <p:cNvSpPr/>
          <p:nvPr/>
        </p:nvSpPr>
        <p:spPr>
          <a:xfrm>
            <a:off x="548640" y="5349240"/>
            <a:ext cx="11091672" cy="868680"/>
          </a:xfrm>
          <a:prstGeom prst="roundRect">
            <a:avLst>
              <a:gd name="adj" fmla="val 14737"/>
            </a:avLst>
          </a:prstGeom>
          <a:solidFill>
            <a:schemeClr val="tx2"/>
          </a:solidFill>
          <a:ln/>
          <a:effectLst>
            <a:outerShdw blurRad="101600" dist="25400" dir="5400000" algn="bl" rotWithShape="0">
              <a:srgbClr val="0B3B3F">
                <a:alpha val="12000"/>
              </a:srgbClr>
            </a:outerShdw>
          </a:effectLst>
        </p:spPr>
        <p:txBody>
          <a:bodyPr/>
          <a:lstStyle/>
          <a:p>
            <a:endParaRPr lang="en-IN"/>
          </a:p>
        </p:txBody>
      </p:sp>
      <p:sp>
        <p:nvSpPr>
          <p:cNvPr id="8" name="Text 4"/>
          <p:cNvSpPr txBox="1"/>
          <p:nvPr/>
        </p:nvSpPr>
        <p:spPr>
          <a:xfrm>
            <a:off x="868680" y="5349240"/>
            <a:ext cx="10424160" cy="868680"/>
          </a:xfrm>
          <a:prstGeom prst="rect">
            <a:avLst/>
          </a:prstGeom>
          <a:noFill/>
          <a:ln/>
        </p:spPr>
        <p:txBody>
          <a:bodyPr wrap="square" lIns="0" tIns="0" rIns="0" bIns="0" rtlCol="0" anchor="ctr"/>
          <a:lstStyle/>
          <a:p>
            <a:pPr marL="0" indent="0">
              <a:buNone/>
            </a:pPr>
            <a:r>
              <a:rPr lang="en-US" sz="2000" b="1" dirty="0">
                <a:solidFill>
                  <a:schemeClr val="bg1"/>
                </a:solidFill>
              </a:rPr>
              <a:t>With Gradient Boosting: 349 more applications and 145.4 more hours saved every month</a:t>
            </a:r>
            <a:endParaRPr lang="en-US" sz="20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600" b="1" dirty="0">
                <a:solidFill>
                  <a:schemeClr val="tx2"/>
                </a:solidFill>
              </a:rPr>
              <a:t>5.11  Your recommendation to the Credit Policy Analyst</a:t>
            </a:r>
          </a:p>
          <a:p>
            <a:pPr marL="0" indent="0" algn="l">
              <a:buNone/>
            </a:pPr>
            <a:r>
              <a:rPr lang="en-US" sz="1600" b="0" dirty="0">
                <a:solidFill>
                  <a:schemeClr val="accent1"/>
                </a:solidFill>
              </a:rPr>
              <a:t>Our recommendation</a:t>
            </a:r>
          </a:p>
        </p:txBody>
      </p:sp>
      <p:sp>
        <p:nvSpPr>
          <p:cNvPr id="3" name="Recommendation card"/>
          <p:cNvSpPr/>
          <p:nvPr/>
        </p:nvSpPr>
        <p:spPr>
          <a:xfrm>
            <a:off x="548640" y="1508760"/>
            <a:ext cx="4572000" cy="4526280"/>
          </a:xfrm>
          <a:prstGeom prst="roundRect">
            <a:avLst>
              <a:gd name="adj" fmla="val 2828"/>
            </a:avLst>
          </a:prstGeom>
          <a:solidFill>
            <a:schemeClr val="tx2"/>
          </a:solidFill>
          <a:ln/>
          <a:effectLst>
            <a:outerShdw blurRad="101600" dist="25400" dir="5400000" algn="bl" rotWithShape="0">
              <a:srgbClr val="0B3B3F">
                <a:alpha val="12000"/>
              </a:srgbClr>
            </a:outerShdw>
          </a:effectLst>
        </p:spPr>
        <p:txBody>
          <a:bodyPr/>
          <a:lstStyle/>
          <a:p>
            <a:endParaRPr lang="en-IN"/>
          </a:p>
        </p:txBody>
      </p:sp>
      <p:sp>
        <p:nvSpPr>
          <p:cNvPr id="4" name="Text 2"/>
          <p:cNvSpPr txBox="1"/>
          <p:nvPr/>
        </p:nvSpPr>
        <p:spPr>
          <a:xfrm>
            <a:off x="868680" y="1737360"/>
            <a:ext cx="3931920" cy="320040"/>
          </a:xfrm>
          <a:prstGeom prst="rect">
            <a:avLst/>
          </a:prstGeom>
          <a:noFill/>
          <a:ln/>
        </p:spPr>
        <p:txBody>
          <a:bodyPr wrap="square" lIns="0" tIns="0" rIns="0" bIns="0" rtlCol="0" anchor="t"/>
          <a:lstStyle/>
          <a:p>
            <a:pPr marL="0" indent="0">
              <a:buNone/>
            </a:pPr>
            <a:r>
              <a:rPr lang="en-US" sz="1300" b="1" kern="0" spc="300" dirty="0">
                <a:solidFill>
                  <a:schemeClr val="accent3"/>
                </a:solidFill>
              </a:rPr>
              <a:t>RECOMMENDED MODEL</a:t>
            </a:r>
            <a:endParaRPr lang="en-US" sz="1300" dirty="0"/>
          </a:p>
        </p:txBody>
      </p:sp>
      <p:sp>
        <p:nvSpPr>
          <p:cNvPr id="5" name="Text 3"/>
          <p:cNvSpPr txBox="1"/>
          <p:nvPr/>
        </p:nvSpPr>
        <p:spPr>
          <a:xfrm>
            <a:off x="868680" y="2103120"/>
            <a:ext cx="3931920" cy="640080"/>
          </a:xfrm>
          <a:prstGeom prst="rect">
            <a:avLst/>
          </a:prstGeom>
          <a:noFill/>
          <a:ln/>
        </p:spPr>
        <p:txBody>
          <a:bodyPr wrap="square" lIns="0" tIns="0" rIns="0" bIns="0" rtlCol="0" anchor="t"/>
          <a:lstStyle/>
          <a:p>
            <a:pPr marL="0" indent="0">
              <a:buNone/>
            </a:pPr>
            <a:r>
              <a:rPr lang="en-US" sz="3200" b="1" dirty="0">
                <a:solidFill>
                  <a:schemeClr val="bg1"/>
                </a:solidFill>
              </a:rPr>
              <a:t>Gradient Boosting</a:t>
            </a:r>
            <a:endParaRPr lang="en-US" sz="3200" dirty="0"/>
          </a:p>
        </p:txBody>
      </p:sp>
      <p:sp>
        <p:nvSpPr>
          <p:cNvPr id="6" name="Text 4"/>
          <p:cNvSpPr txBox="1"/>
          <p:nvPr/>
        </p:nvSpPr>
        <p:spPr>
          <a:xfrm>
            <a:off x="868680" y="2788920"/>
            <a:ext cx="3931920" cy="822960"/>
          </a:xfrm>
          <a:prstGeom prst="rect">
            <a:avLst/>
          </a:prstGeom>
          <a:noFill/>
          <a:ln/>
        </p:spPr>
        <p:txBody>
          <a:bodyPr wrap="square" lIns="0" tIns="0" rIns="0" bIns="0" rtlCol="0" anchor="t"/>
          <a:lstStyle/>
          <a:p>
            <a:pPr marL="0" indent="0">
              <a:buNone/>
            </a:pPr>
            <a:r>
              <a:rPr lang="en-US" sz="1600" dirty="0">
                <a:solidFill>
                  <a:schemeClr val="bg2"/>
                </a:solidFill>
              </a:rPr>
              <a:t>Auto-decline below 0.17, fast-track at 0.89 or above, humans for the rest</a:t>
            </a:r>
            <a:endParaRPr lang="en-US" sz="1600" dirty="0"/>
          </a:p>
        </p:txBody>
      </p:sp>
      <p:sp>
        <p:nvSpPr>
          <p:cNvPr id="7" name="Text 5"/>
          <p:cNvSpPr txBox="1"/>
          <p:nvPr/>
        </p:nvSpPr>
        <p:spPr>
          <a:xfrm>
            <a:off x="868680" y="3703320"/>
            <a:ext cx="1828800" cy="640080"/>
          </a:xfrm>
          <a:prstGeom prst="rect">
            <a:avLst/>
          </a:prstGeom>
          <a:noFill/>
          <a:ln/>
        </p:spPr>
        <p:txBody>
          <a:bodyPr wrap="square" lIns="0" tIns="0" rIns="0" bIns="0" rtlCol="0" anchor="ctr"/>
          <a:lstStyle/>
          <a:p>
            <a:pPr marL="0" indent="0">
              <a:buNone/>
            </a:pPr>
            <a:r>
              <a:rPr lang="en-US" sz="3600" b="1" dirty="0">
                <a:solidFill>
                  <a:schemeClr val="accent3"/>
                </a:solidFill>
              </a:rPr>
              <a:t>43.6%</a:t>
            </a:r>
            <a:endParaRPr lang="en-US" sz="3600" dirty="0"/>
          </a:p>
        </p:txBody>
      </p:sp>
      <p:sp>
        <p:nvSpPr>
          <p:cNvPr id="8" name="Text 6"/>
          <p:cNvSpPr txBox="1"/>
          <p:nvPr/>
        </p:nvSpPr>
        <p:spPr>
          <a:xfrm>
            <a:off x="2743200" y="3703320"/>
            <a:ext cx="2103120" cy="640080"/>
          </a:xfrm>
          <a:prstGeom prst="rect">
            <a:avLst/>
          </a:prstGeom>
          <a:noFill/>
          <a:ln/>
        </p:spPr>
        <p:txBody>
          <a:bodyPr wrap="square" lIns="0" tIns="0" rIns="0" bIns="0" rtlCol="0" anchor="ctr"/>
          <a:lstStyle/>
          <a:p>
            <a:pPr marL="0" indent="0">
              <a:buNone/>
            </a:pPr>
            <a:r>
              <a:rPr lang="en-US" sz="1400" dirty="0">
                <a:solidFill>
                  <a:schemeClr val="bg1"/>
                </a:solidFill>
              </a:rPr>
              <a:t>of applications decided automatically</a:t>
            </a:r>
            <a:endParaRPr lang="en-US" sz="1400" dirty="0"/>
          </a:p>
        </p:txBody>
      </p:sp>
      <p:sp>
        <p:nvSpPr>
          <p:cNvPr id="9" name="Text 7"/>
          <p:cNvSpPr txBox="1"/>
          <p:nvPr/>
        </p:nvSpPr>
        <p:spPr>
          <a:xfrm>
            <a:off x="868680" y="4434840"/>
            <a:ext cx="1828800" cy="640080"/>
          </a:xfrm>
          <a:prstGeom prst="rect">
            <a:avLst/>
          </a:prstGeom>
          <a:noFill/>
          <a:ln/>
        </p:spPr>
        <p:txBody>
          <a:bodyPr wrap="square" lIns="0" tIns="0" rIns="0" bIns="0" rtlCol="0" anchor="ctr"/>
          <a:lstStyle/>
          <a:p>
            <a:pPr marL="0" indent="0">
              <a:buNone/>
            </a:pPr>
            <a:r>
              <a:rPr lang="en-US" sz="3600" b="1" dirty="0">
                <a:solidFill>
                  <a:schemeClr val="accent3"/>
                </a:solidFill>
              </a:rPr>
              <a:t>≈545</a:t>
            </a:r>
            <a:endParaRPr lang="en-US" sz="3600" dirty="0"/>
          </a:p>
        </p:txBody>
      </p:sp>
      <p:sp>
        <p:nvSpPr>
          <p:cNvPr id="10" name="Text 8"/>
          <p:cNvSpPr txBox="1"/>
          <p:nvPr/>
        </p:nvSpPr>
        <p:spPr>
          <a:xfrm>
            <a:off x="2743200" y="4434840"/>
            <a:ext cx="2103120" cy="640080"/>
          </a:xfrm>
          <a:prstGeom prst="rect">
            <a:avLst/>
          </a:prstGeom>
          <a:noFill/>
          <a:ln/>
        </p:spPr>
        <p:txBody>
          <a:bodyPr wrap="square" lIns="0" tIns="0" rIns="0" bIns="0" rtlCol="0" anchor="ctr"/>
          <a:lstStyle/>
          <a:p>
            <a:pPr marL="0" indent="0">
              <a:buNone/>
            </a:pPr>
            <a:r>
              <a:rPr lang="en-US" sz="1400" dirty="0">
                <a:solidFill>
                  <a:schemeClr val="bg1"/>
                </a:solidFill>
              </a:rPr>
              <a:t>analyst hours saved each month</a:t>
            </a:r>
            <a:endParaRPr lang="en-US" sz="1400" dirty="0"/>
          </a:p>
        </p:txBody>
      </p:sp>
      <p:sp>
        <p:nvSpPr>
          <p:cNvPr id="11" name="Text 9"/>
          <p:cNvSpPr txBox="1"/>
          <p:nvPr/>
        </p:nvSpPr>
        <p:spPr>
          <a:xfrm>
            <a:off x="868680" y="5303520"/>
            <a:ext cx="3931920" cy="457200"/>
          </a:xfrm>
          <a:prstGeom prst="rect">
            <a:avLst/>
          </a:prstGeom>
          <a:noFill/>
          <a:ln/>
        </p:spPr>
        <p:txBody>
          <a:bodyPr wrap="square" lIns="0" tIns="0" rIns="0" bIns="0" rtlCol="0" anchor="ctr"/>
          <a:lstStyle/>
          <a:p>
            <a:pPr marL="0" indent="0">
              <a:buNone/>
            </a:pPr>
            <a:r>
              <a:rPr lang="en-US" sz="1800" b="1" dirty="0">
                <a:solidFill>
                  <a:schemeClr val="bg1"/>
                </a:solidFill>
              </a:rPr>
              <a:t>Next: where does it struggle?</a:t>
            </a:r>
            <a:endParaRPr lang="en-US" sz="1800" dirty="0"/>
          </a:p>
        </p:txBody>
      </p:sp>
      <p:sp>
        <p:nvSpPr>
          <p:cNvPr id="12" name="Next step 1"/>
          <p:cNvSpPr/>
          <p:nvPr/>
        </p:nvSpPr>
        <p:spPr>
          <a:xfrm>
            <a:off x="5440680" y="1508760"/>
            <a:ext cx="6199632" cy="914400"/>
          </a:xfrm>
          <a:prstGeom prst="roundRect">
            <a:avLst>
              <a:gd name="adj" fmla="val 1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3" name="Icon circle"/>
          <p:cNvSpPr/>
          <p:nvPr/>
        </p:nvSpPr>
        <p:spPr>
          <a:xfrm>
            <a:off x="5669280" y="1600200"/>
            <a:ext cx="731520" cy="731520"/>
          </a:xfrm>
          <a:prstGeom prst="ellipse">
            <a:avLst/>
          </a:prstGeom>
          <a:solidFill>
            <a:schemeClr val="accent1"/>
          </a:solidFill>
          <a:ln/>
        </p:spPr>
        <p:txBody>
          <a:bodyPr/>
          <a:lstStyle/>
          <a:p>
            <a:endParaRPr lang="en-IN"/>
          </a:p>
        </p:txBody>
      </p:sp>
      <p:pic>
        <p:nvPicPr>
          <p:cNvPr id="14" name="Image 0" descr="UserCheck icon"/>
          <p:cNvPicPr>
            <a:picLocks noChangeAspect="1"/>
          </p:cNvPicPr>
          <p:nvPr/>
        </p:nvPicPr>
        <p:blipFill>
          <a:blip r:embed="rId3"/>
          <a:stretch>
            <a:fillRect/>
          </a:stretch>
        </p:blipFill>
        <p:spPr>
          <a:xfrm>
            <a:off x="5866790" y="1797710"/>
            <a:ext cx="336499" cy="336499"/>
          </a:xfrm>
          <a:prstGeom prst="rect">
            <a:avLst/>
          </a:prstGeom>
        </p:spPr>
      </p:pic>
      <p:sp>
        <p:nvSpPr>
          <p:cNvPr id="15" name="Text 12"/>
          <p:cNvSpPr txBox="1"/>
          <p:nvPr/>
        </p:nvSpPr>
        <p:spPr>
          <a:xfrm>
            <a:off x="6583680" y="1508760"/>
            <a:ext cx="4892040" cy="914400"/>
          </a:xfrm>
          <a:prstGeom prst="rect">
            <a:avLst/>
          </a:prstGeom>
          <a:noFill/>
          <a:ln/>
        </p:spPr>
        <p:txBody>
          <a:bodyPr wrap="square" lIns="0" tIns="0" rIns="0" bIns="0" rtlCol="0" anchor="ctr"/>
          <a:lstStyle/>
          <a:p>
            <a:pPr marL="0" indent="0">
              <a:buNone/>
            </a:pPr>
            <a:r>
              <a:rPr lang="en-US" sz="1800" b="1" dirty="0">
                <a:solidFill>
                  <a:schemeClr val="tx2"/>
                </a:solidFill>
              </a:rPr>
              <a:t>Keep humans in the loop</a:t>
            </a:r>
            <a:endParaRPr lang="en-US" sz="1800" dirty="0"/>
          </a:p>
          <a:p>
            <a:pPr marL="0" indent="0">
              <a:buNone/>
            </a:pPr>
            <a:r>
              <a:rPr lang="en-US" sz="1400" dirty="0">
                <a:solidFill>
                  <a:schemeClr val="tx1"/>
                </a:solidFill>
              </a:rPr>
              <a:t>Borderline, unusual or hardship cases always go to an analyst.</a:t>
            </a:r>
            <a:endParaRPr lang="en-US" sz="1800" dirty="0"/>
          </a:p>
        </p:txBody>
      </p:sp>
      <p:sp>
        <p:nvSpPr>
          <p:cNvPr id="16" name="Next step 2"/>
          <p:cNvSpPr/>
          <p:nvPr/>
        </p:nvSpPr>
        <p:spPr>
          <a:xfrm>
            <a:off x="5440680" y="2697480"/>
            <a:ext cx="6199632" cy="914400"/>
          </a:xfrm>
          <a:prstGeom prst="roundRect">
            <a:avLst>
              <a:gd name="adj" fmla="val 1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7" name="Icon circle"/>
          <p:cNvSpPr/>
          <p:nvPr/>
        </p:nvSpPr>
        <p:spPr>
          <a:xfrm>
            <a:off x="5669280" y="2788920"/>
            <a:ext cx="731520" cy="731520"/>
          </a:xfrm>
          <a:prstGeom prst="ellipse">
            <a:avLst/>
          </a:prstGeom>
          <a:solidFill>
            <a:schemeClr val="accent5"/>
          </a:solidFill>
          <a:ln/>
        </p:spPr>
        <p:txBody>
          <a:bodyPr/>
          <a:lstStyle/>
          <a:p>
            <a:endParaRPr lang="en-IN"/>
          </a:p>
        </p:txBody>
      </p:sp>
      <p:pic>
        <p:nvPicPr>
          <p:cNvPr id="18" name="Image 1" descr="BalanceScale icon"/>
          <p:cNvPicPr>
            <a:picLocks noChangeAspect="1"/>
          </p:cNvPicPr>
          <p:nvPr/>
        </p:nvPicPr>
        <p:blipFill>
          <a:blip r:embed="rId4"/>
          <a:stretch>
            <a:fillRect/>
          </a:stretch>
        </p:blipFill>
        <p:spPr>
          <a:xfrm>
            <a:off x="5866790" y="2986430"/>
            <a:ext cx="336499" cy="336499"/>
          </a:xfrm>
          <a:prstGeom prst="rect">
            <a:avLst/>
          </a:prstGeom>
        </p:spPr>
      </p:pic>
      <p:sp>
        <p:nvSpPr>
          <p:cNvPr id="19" name="Text 15"/>
          <p:cNvSpPr txBox="1"/>
          <p:nvPr/>
        </p:nvSpPr>
        <p:spPr>
          <a:xfrm>
            <a:off x="6583680" y="2697480"/>
            <a:ext cx="4892040" cy="914400"/>
          </a:xfrm>
          <a:prstGeom prst="rect">
            <a:avLst/>
          </a:prstGeom>
          <a:noFill/>
          <a:ln/>
        </p:spPr>
        <p:txBody>
          <a:bodyPr wrap="square" lIns="0" tIns="0" rIns="0" bIns="0" rtlCol="0" anchor="ctr"/>
          <a:lstStyle/>
          <a:p>
            <a:pPr marL="0" indent="0">
              <a:buNone/>
            </a:pPr>
            <a:r>
              <a:rPr lang="en-US" sz="1800" b="1" dirty="0">
                <a:solidFill>
                  <a:schemeClr val="tx2"/>
                </a:solidFill>
              </a:rPr>
              <a:t>Watch fairness</a:t>
            </a:r>
            <a:endParaRPr lang="en-US" sz="1800" dirty="0"/>
          </a:p>
          <a:p>
            <a:pPr marL="0" indent="0">
              <a:buNone/>
            </a:pPr>
            <a:r>
              <a:rPr lang="en-US" sz="1400" dirty="0">
                <a:solidFill>
                  <a:schemeClr val="tx1"/>
                </a:solidFill>
              </a:rPr>
              <a:t>Track approvals and errors by gender, income and job type.</a:t>
            </a:r>
            <a:endParaRPr lang="en-US" sz="1800" dirty="0"/>
          </a:p>
        </p:txBody>
      </p:sp>
      <p:sp>
        <p:nvSpPr>
          <p:cNvPr id="20" name="Next step 3"/>
          <p:cNvSpPr/>
          <p:nvPr/>
        </p:nvSpPr>
        <p:spPr>
          <a:xfrm>
            <a:off x="5440680" y="3886200"/>
            <a:ext cx="6199632" cy="914400"/>
          </a:xfrm>
          <a:prstGeom prst="roundRect">
            <a:avLst>
              <a:gd name="adj" fmla="val 1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1" name="Icon circle"/>
          <p:cNvSpPr/>
          <p:nvPr/>
        </p:nvSpPr>
        <p:spPr>
          <a:xfrm>
            <a:off x="5669280" y="3977640"/>
            <a:ext cx="731520" cy="731520"/>
          </a:xfrm>
          <a:prstGeom prst="ellipse">
            <a:avLst/>
          </a:prstGeom>
          <a:solidFill>
            <a:schemeClr val="accent4"/>
          </a:solidFill>
          <a:ln/>
        </p:spPr>
        <p:txBody>
          <a:bodyPr/>
          <a:lstStyle/>
          <a:p>
            <a:endParaRPr lang="en-IN"/>
          </a:p>
        </p:txBody>
      </p:sp>
      <p:pic>
        <p:nvPicPr>
          <p:cNvPr id="22" name="Image 2" descr="Rocket icon"/>
          <p:cNvPicPr>
            <a:picLocks noChangeAspect="1"/>
          </p:cNvPicPr>
          <p:nvPr/>
        </p:nvPicPr>
        <p:blipFill>
          <a:blip r:embed="rId5"/>
          <a:stretch>
            <a:fillRect/>
          </a:stretch>
        </p:blipFill>
        <p:spPr>
          <a:xfrm>
            <a:off x="5866790" y="4175150"/>
            <a:ext cx="336499" cy="336499"/>
          </a:xfrm>
          <a:prstGeom prst="rect">
            <a:avLst/>
          </a:prstGeom>
        </p:spPr>
      </p:pic>
      <p:sp>
        <p:nvSpPr>
          <p:cNvPr id="23" name="Text 18"/>
          <p:cNvSpPr txBox="1"/>
          <p:nvPr/>
        </p:nvSpPr>
        <p:spPr>
          <a:xfrm>
            <a:off x="6583680" y="3886200"/>
            <a:ext cx="4892040" cy="914400"/>
          </a:xfrm>
          <a:prstGeom prst="rect">
            <a:avLst/>
          </a:prstGeom>
          <a:noFill/>
          <a:ln/>
        </p:spPr>
        <p:txBody>
          <a:bodyPr wrap="square" lIns="0" tIns="0" rIns="0" bIns="0" rtlCol="0" anchor="ctr"/>
          <a:lstStyle/>
          <a:p>
            <a:pPr marL="0" indent="0">
              <a:buNone/>
            </a:pPr>
            <a:r>
              <a:rPr lang="en-US" sz="1800" b="1" dirty="0">
                <a:solidFill>
                  <a:schemeClr val="tx2"/>
                </a:solidFill>
              </a:rPr>
              <a:t>Pilot before launch</a:t>
            </a:r>
            <a:endParaRPr lang="en-US" sz="1800" dirty="0"/>
          </a:p>
          <a:p>
            <a:pPr marL="0" indent="0">
              <a:buNone/>
            </a:pPr>
            <a:r>
              <a:rPr lang="en-US" sz="1400" dirty="0">
                <a:solidFill>
                  <a:schemeClr val="tx1"/>
                </a:solidFill>
              </a:rPr>
              <a:t>Run a shadow pilot on new applications before switching automation on.</a:t>
            </a:r>
            <a:endParaRPr lang="en-US" sz="1800" dirty="0"/>
          </a:p>
        </p:txBody>
      </p:sp>
      <p:sp>
        <p:nvSpPr>
          <p:cNvPr id="24" name="Next step 4"/>
          <p:cNvSpPr/>
          <p:nvPr/>
        </p:nvSpPr>
        <p:spPr>
          <a:xfrm>
            <a:off x="5440680" y="5074920"/>
            <a:ext cx="6199632" cy="914400"/>
          </a:xfrm>
          <a:prstGeom prst="roundRect">
            <a:avLst>
              <a:gd name="adj" fmla="val 14000"/>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25" name="Icon circle"/>
          <p:cNvSpPr/>
          <p:nvPr/>
        </p:nvSpPr>
        <p:spPr>
          <a:xfrm>
            <a:off x="5669280" y="5166360"/>
            <a:ext cx="731520" cy="731520"/>
          </a:xfrm>
          <a:prstGeom prst="ellipse">
            <a:avLst/>
          </a:prstGeom>
          <a:solidFill>
            <a:schemeClr val="accent2"/>
          </a:solidFill>
          <a:ln/>
        </p:spPr>
        <p:txBody>
          <a:bodyPr/>
          <a:lstStyle/>
          <a:p>
            <a:endParaRPr lang="en-IN"/>
          </a:p>
        </p:txBody>
      </p:sp>
      <p:pic>
        <p:nvPicPr>
          <p:cNvPr id="26" name="Image 3" descr="SyncAlt icon"/>
          <p:cNvPicPr>
            <a:picLocks noChangeAspect="1"/>
          </p:cNvPicPr>
          <p:nvPr/>
        </p:nvPicPr>
        <p:blipFill>
          <a:blip r:embed="rId6"/>
          <a:stretch>
            <a:fillRect/>
          </a:stretch>
        </p:blipFill>
        <p:spPr>
          <a:xfrm>
            <a:off x="5866790" y="5363870"/>
            <a:ext cx="336499" cy="336499"/>
          </a:xfrm>
          <a:prstGeom prst="rect">
            <a:avLst/>
          </a:prstGeom>
        </p:spPr>
      </p:pic>
      <p:sp>
        <p:nvSpPr>
          <p:cNvPr id="27" name="Text 21"/>
          <p:cNvSpPr txBox="1"/>
          <p:nvPr/>
        </p:nvSpPr>
        <p:spPr>
          <a:xfrm>
            <a:off x="6583680" y="5074920"/>
            <a:ext cx="4892040" cy="914400"/>
          </a:xfrm>
          <a:prstGeom prst="rect">
            <a:avLst/>
          </a:prstGeom>
          <a:noFill/>
          <a:ln/>
        </p:spPr>
        <p:txBody>
          <a:bodyPr wrap="square" lIns="0" tIns="0" rIns="0" bIns="0" rtlCol="0" anchor="ctr"/>
          <a:lstStyle/>
          <a:p>
            <a:pPr marL="0" indent="0">
              <a:buNone/>
            </a:pPr>
            <a:r>
              <a:rPr lang="en-US" sz="1800" b="1" dirty="0">
                <a:solidFill>
                  <a:schemeClr val="tx2"/>
                </a:solidFill>
              </a:rPr>
              <a:t>Re-check the limits</a:t>
            </a:r>
            <a:endParaRPr lang="en-US" sz="1800" dirty="0"/>
          </a:p>
          <a:p>
            <a:pPr marL="0" indent="0">
              <a:buNone/>
            </a:pPr>
            <a:r>
              <a:rPr lang="en-US" sz="1400" dirty="0">
                <a:solidFill>
                  <a:schemeClr val="tx1"/>
                </a:solidFill>
              </a:rPr>
              <a:t>Thresholds were chosen on test data, so confirm them on fresh data and over time.</a:t>
            </a:r>
            <a:endParaRPr lang="en-US" sz="1800" dirty="0"/>
          </a:p>
        </p:txBody>
      </p:sp>
      <p:sp>
        <p:nvSpPr>
          <p:cNvPr id="28"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91672" cy="822960"/>
          </a:xfrm>
          <a:prstGeom prst="rect">
            <a:avLst/>
          </a:prstGeom>
          <a:noFill/>
          <a:ln/>
        </p:spPr>
        <p:txBody>
          <a:bodyPr wrap="square" lIns="0" tIns="0" rIns="0" bIns="0" rtlCol="0" anchor="ctr"/>
          <a:lstStyle/>
          <a:p>
            <a:pPr marL="0" indent="0" algn="l">
              <a:buNone/>
            </a:pPr>
            <a:r>
              <a:rPr lang="en-US" sz="2800" b="1" dirty="0">
                <a:solidFill>
                  <a:schemeClr val="tx2"/>
                </a:solidFill>
              </a:rPr>
              <a:t>5.12  Stretch (optional): Where does the model struggle?</a:t>
            </a:r>
          </a:p>
          <a:p>
            <a:pPr marL="0" indent="0" algn="l">
              <a:buNone/>
            </a:pPr>
            <a:r>
              <a:rPr lang="en-US" sz="1600" b="0" dirty="0">
                <a:solidFill>
                  <a:schemeClr val="accent1"/>
                </a:solidFill>
              </a:rPr>
              <a:t>Four applicant groups, and where errors are highest</a:t>
            </a:r>
          </a:p>
        </p:txBody>
      </p:sp>
      <p:sp>
        <p:nvSpPr>
          <p:cNvPr id="3" name="Chart card"/>
          <p:cNvSpPr/>
          <p:nvPr/>
        </p:nvSpPr>
        <p:spPr>
          <a:xfrm>
            <a:off x="548640" y="1508760"/>
            <a:ext cx="5394960" cy="3886200"/>
          </a:xfrm>
          <a:prstGeom prst="roundRect">
            <a:avLst>
              <a:gd name="adj" fmla="val 3294"/>
            </a:avLst>
          </a:prstGeom>
          <a:solidFill>
            <a:schemeClr val="bg1"/>
          </a:solidFill>
          <a:ln/>
          <a:effectLst>
            <a:outerShdw blurRad="101600" dist="25400" dir="5400000" algn="bl" rotWithShape="0">
              <a:srgbClr val="0B3B3F">
                <a:alpha val="12000"/>
              </a:srgbClr>
            </a:outerShdw>
          </a:effectLst>
        </p:spPr>
        <p:txBody>
          <a:bodyPr/>
          <a:lstStyle/>
          <a:p>
            <a:endParaRPr lang="en-IN"/>
          </a:p>
        </p:txBody>
      </p:sp>
      <p:graphicFrame>
        <p:nvGraphicFramePr>
          <p:cNvPr id="4" name="Chart 0"/>
          <p:cNvGraphicFramePr/>
          <p:nvPr/>
        </p:nvGraphicFramePr>
        <p:xfrm>
          <a:off x="685800" y="1600200"/>
          <a:ext cx="512064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egment row 1"/>
          <p:cNvSpPr/>
          <p:nvPr/>
        </p:nvSpPr>
        <p:spPr>
          <a:xfrm>
            <a:off x="6217920" y="1508760"/>
            <a:ext cx="5422392" cy="868680"/>
          </a:xfrm>
          <a:prstGeom prst="roundRect">
            <a:avLst>
              <a:gd name="adj" fmla="val 14737"/>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6" name="Text 3"/>
          <p:cNvSpPr txBox="1"/>
          <p:nvPr/>
        </p:nvSpPr>
        <p:spPr>
          <a:xfrm>
            <a:off x="6446520" y="1508760"/>
            <a:ext cx="3749040" cy="868680"/>
          </a:xfrm>
          <a:prstGeom prst="rect">
            <a:avLst/>
          </a:prstGeom>
          <a:noFill/>
          <a:ln/>
        </p:spPr>
        <p:txBody>
          <a:bodyPr wrap="square" lIns="0" tIns="0" rIns="0" bIns="0" rtlCol="0" anchor="ctr"/>
          <a:lstStyle/>
          <a:p>
            <a:pPr marL="0" indent="0">
              <a:buNone/>
            </a:pPr>
            <a:r>
              <a:rPr lang="en-US" sz="1400" b="1" dirty="0">
                <a:solidFill>
                  <a:schemeClr val="tx2"/>
                </a:solidFill>
              </a:rPr>
              <a:t>0  Established, higher approval</a:t>
            </a:r>
            <a:endParaRPr lang="en-US" sz="1400" dirty="0"/>
          </a:p>
          <a:p>
            <a:pPr marL="0" indent="0">
              <a:buNone/>
            </a:pPr>
            <a:r>
              <a:rPr lang="en-US" sz="1400" dirty="0">
                <a:solidFill>
                  <a:schemeClr val="tx1"/>
                </a:solidFill>
              </a:rPr>
              <a:t>555 applicants · 69.37% approved</a:t>
            </a:r>
            <a:endParaRPr lang="en-US" sz="1400" dirty="0"/>
          </a:p>
        </p:txBody>
      </p:sp>
      <p:sp>
        <p:nvSpPr>
          <p:cNvPr id="7" name="Text 4"/>
          <p:cNvSpPr txBox="1"/>
          <p:nvPr/>
        </p:nvSpPr>
        <p:spPr>
          <a:xfrm>
            <a:off x="10241280" y="1508760"/>
            <a:ext cx="1234440" cy="868680"/>
          </a:xfrm>
          <a:prstGeom prst="rect">
            <a:avLst/>
          </a:prstGeom>
          <a:noFill/>
          <a:ln/>
        </p:spPr>
        <p:txBody>
          <a:bodyPr wrap="square" lIns="0" tIns="0" rIns="0" bIns="0" rtlCol="0" anchor="ctr"/>
          <a:lstStyle/>
          <a:p>
            <a:pPr marL="0" indent="0" algn="r">
              <a:buNone/>
            </a:pPr>
            <a:r>
              <a:rPr lang="en-US" sz="2400" b="1" dirty="0">
                <a:solidFill>
                  <a:schemeClr val="tx1"/>
                </a:solidFill>
              </a:rPr>
              <a:t>18.92%</a:t>
            </a:r>
            <a:endParaRPr lang="en-US" sz="2400" dirty="0"/>
          </a:p>
        </p:txBody>
      </p:sp>
      <p:sp>
        <p:nvSpPr>
          <p:cNvPr id="8" name="Segment row 2"/>
          <p:cNvSpPr/>
          <p:nvPr/>
        </p:nvSpPr>
        <p:spPr>
          <a:xfrm>
            <a:off x="6217920" y="2496312"/>
            <a:ext cx="5422392" cy="868680"/>
          </a:xfrm>
          <a:prstGeom prst="roundRect">
            <a:avLst>
              <a:gd name="adj" fmla="val 14737"/>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9" name="Text 6"/>
          <p:cNvSpPr txBox="1"/>
          <p:nvPr/>
        </p:nvSpPr>
        <p:spPr>
          <a:xfrm>
            <a:off x="6446520" y="2496312"/>
            <a:ext cx="3749040" cy="868680"/>
          </a:xfrm>
          <a:prstGeom prst="rect">
            <a:avLst/>
          </a:prstGeom>
          <a:noFill/>
          <a:ln/>
        </p:spPr>
        <p:txBody>
          <a:bodyPr wrap="square" lIns="0" tIns="0" rIns="0" bIns="0" rtlCol="0" anchor="ctr"/>
          <a:lstStyle/>
          <a:p>
            <a:pPr marL="0" indent="0">
              <a:buNone/>
            </a:pPr>
            <a:r>
              <a:rPr lang="en-US" sz="1400" b="1" dirty="0">
                <a:solidFill>
                  <a:schemeClr val="tx2"/>
                </a:solidFill>
              </a:rPr>
              <a:t>1  Lower income, shorter job tenure</a:t>
            </a:r>
            <a:endParaRPr lang="en-US" sz="1400" dirty="0"/>
          </a:p>
          <a:p>
            <a:pPr marL="0" indent="0">
              <a:buNone/>
            </a:pPr>
            <a:r>
              <a:rPr lang="en-US" sz="1400" dirty="0">
                <a:solidFill>
                  <a:schemeClr val="tx1"/>
                </a:solidFill>
              </a:rPr>
              <a:t>1,161 applicants · 53.49% approved</a:t>
            </a:r>
            <a:endParaRPr lang="en-US" sz="1400" dirty="0"/>
          </a:p>
        </p:txBody>
      </p:sp>
      <p:sp>
        <p:nvSpPr>
          <p:cNvPr id="10" name="Text 7"/>
          <p:cNvSpPr txBox="1"/>
          <p:nvPr/>
        </p:nvSpPr>
        <p:spPr>
          <a:xfrm>
            <a:off x="10241280" y="2496312"/>
            <a:ext cx="1234440" cy="868680"/>
          </a:xfrm>
          <a:prstGeom prst="rect">
            <a:avLst/>
          </a:prstGeom>
          <a:noFill/>
          <a:ln/>
        </p:spPr>
        <p:txBody>
          <a:bodyPr wrap="square" lIns="0" tIns="0" rIns="0" bIns="0" rtlCol="0" anchor="ctr"/>
          <a:lstStyle/>
          <a:p>
            <a:pPr marL="0" indent="0" algn="r">
              <a:buNone/>
            </a:pPr>
            <a:r>
              <a:rPr lang="en-US" sz="2400" b="1" dirty="0">
                <a:solidFill>
                  <a:schemeClr val="tx1"/>
                </a:solidFill>
              </a:rPr>
              <a:t>20.76%</a:t>
            </a:r>
            <a:endParaRPr lang="en-US" sz="2400" dirty="0"/>
          </a:p>
        </p:txBody>
      </p:sp>
      <p:sp>
        <p:nvSpPr>
          <p:cNvPr id="11" name="Segment row 3"/>
          <p:cNvSpPr/>
          <p:nvPr/>
        </p:nvSpPr>
        <p:spPr>
          <a:xfrm>
            <a:off x="6217920" y="3483864"/>
            <a:ext cx="5422392" cy="868680"/>
          </a:xfrm>
          <a:prstGeom prst="roundRect">
            <a:avLst>
              <a:gd name="adj" fmla="val 14737"/>
            </a:avLst>
          </a:prstGeom>
          <a:solidFill>
            <a:srgbClr val="FADDD8"/>
          </a:solidFill>
          <a:ln/>
          <a:effectLst>
            <a:outerShdw blurRad="101600" dist="25400" dir="5400000" algn="bl" rotWithShape="0">
              <a:srgbClr val="0B3B3F">
                <a:alpha val="12000"/>
              </a:srgbClr>
            </a:outerShdw>
          </a:effectLst>
        </p:spPr>
        <p:txBody>
          <a:bodyPr/>
          <a:lstStyle/>
          <a:p>
            <a:endParaRPr lang="en-IN"/>
          </a:p>
        </p:txBody>
      </p:sp>
      <p:sp>
        <p:nvSpPr>
          <p:cNvPr id="12" name="Text 9"/>
          <p:cNvSpPr txBox="1"/>
          <p:nvPr/>
        </p:nvSpPr>
        <p:spPr>
          <a:xfrm>
            <a:off x="6446520" y="3483864"/>
            <a:ext cx="3749040" cy="868680"/>
          </a:xfrm>
          <a:prstGeom prst="rect">
            <a:avLst/>
          </a:prstGeom>
          <a:noFill/>
          <a:ln/>
        </p:spPr>
        <p:txBody>
          <a:bodyPr wrap="square" lIns="0" tIns="0" rIns="0" bIns="0" rtlCol="0" anchor="ctr"/>
          <a:lstStyle/>
          <a:p>
            <a:pPr marL="0" indent="0">
              <a:buNone/>
            </a:pPr>
            <a:r>
              <a:rPr lang="en-US" sz="1400" b="1" dirty="0">
                <a:solidFill>
                  <a:schemeClr val="tx2"/>
                </a:solidFill>
              </a:rPr>
              <a:t>2  Higher income, higher model error</a:t>
            </a:r>
            <a:endParaRPr lang="en-US" sz="1400" dirty="0"/>
          </a:p>
          <a:p>
            <a:pPr marL="0" indent="0">
              <a:buNone/>
            </a:pPr>
            <a:r>
              <a:rPr lang="en-US" sz="1400" dirty="0">
                <a:solidFill>
                  <a:schemeClr val="tx1"/>
                </a:solidFill>
              </a:rPr>
              <a:t>291 applicants · 61.17% approved</a:t>
            </a:r>
            <a:endParaRPr lang="en-US" sz="1400" dirty="0"/>
          </a:p>
        </p:txBody>
      </p:sp>
      <p:sp>
        <p:nvSpPr>
          <p:cNvPr id="13" name="Text 10"/>
          <p:cNvSpPr txBox="1"/>
          <p:nvPr/>
        </p:nvSpPr>
        <p:spPr>
          <a:xfrm>
            <a:off x="10241280" y="3483864"/>
            <a:ext cx="1234440" cy="868680"/>
          </a:xfrm>
          <a:prstGeom prst="rect">
            <a:avLst/>
          </a:prstGeom>
          <a:noFill/>
          <a:ln/>
        </p:spPr>
        <p:txBody>
          <a:bodyPr wrap="square" lIns="0" tIns="0" rIns="0" bIns="0" rtlCol="0" anchor="ctr"/>
          <a:lstStyle/>
          <a:p>
            <a:pPr marL="0" indent="0" algn="r">
              <a:buNone/>
            </a:pPr>
            <a:r>
              <a:rPr lang="en-US" sz="2400" b="1" dirty="0">
                <a:solidFill>
                  <a:schemeClr val="accent2"/>
                </a:solidFill>
              </a:rPr>
              <a:t>24.74%</a:t>
            </a:r>
            <a:endParaRPr lang="en-US" sz="2400" dirty="0"/>
          </a:p>
        </p:txBody>
      </p:sp>
      <p:sp>
        <p:nvSpPr>
          <p:cNvPr id="14" name="Segment row 4"/>
          <p:cNvSpPr/>
          <p:nvPr/>
        </p:nvSpPr>
        <p:spPr>
          <a:xfrm>
            <a:off x="6217920" y="4471416"/>
            <a:ext cx="5422392" cy="868680"/>
          </a:xfrm>
          <a:prstGeom prst="roundRect">
            <a:avLst>
              <a:gd name="adj" fmla="val 14737"/>
            </a:avLst>
          </a:prstGeom>
          <a:solidFill>
            <a:schemeClr val="bg1"/>
          </a:solidFill>
          <a:ln/>
          <a:effectLst>
            <a:outerShdw blurRad="101600" dist="25400" dir="5400000" algn="bl" rotWithShape="0">
              <a:srgbClr val="0B3B3F">
                <a:alpha val="12000"/>
              </a:srgbClr>
            </a:outerShdw>
          </a:effectLst>
        </p:spPr>
        <p:txBody>
          <a:bodyPr/>
          <a:lstStyle/>
          <a:p>
            <a:endParaRPr lang="en-IN"/>
          </a:p>
        </p:txBody>
      </p:sp>
      <p:sp>
        <p:nvSpPr>
          <p:cNvPr id="15" name="Text 12"/>
          <p:cNvSpPr txBox="1"/>
          <p:nvPr/>
        </p:nvSpPr>
        <p:spPr>
          <a:xfrm>
            <a:off x="6446520" y="4471416"/>
            <a:ext cx="3749040" cy="868680"/>
          </a:xfrm>
          <a:prstGeom prst="rect">
            <a:avLst/>
          </a:prstGeom>
          <a:noFill/>
          <a:ln/>
        </p:spPr>
        <p:txBody>
          <a:bodyPr wrap="square" lIns="0" tIns="0" rIns="0" bIns="0" rtlCol="0" anchor="ctr"/>
          <a:lstStyle/>
          <a:p>
            <a:pPr marL="0" indent="0">
              <a:buNone/>
            </a:pPr>
            <a:r>
              <a:rPr lang="en-US" sz="1400" b="1" dirty="0">
                <a:solidFill>
                  <a:schemeClr val="tx2"/>
                </a:solidFill>
              </a:rPr>
              <a:t>3  High FOIR, lower approval</a:t>
            </a:r>
            <a:endParaRPr lang="en-US" sz="1400" dirty="0"/>
          </a:p>
          <a:p>
            <a:pPr marL="0" indent="0">
              <a:buNone/>
            </a:pPr>
            <a:r>
              <a:rPr lang="en-US" sz="1400" dirty="0">
                <a:solidFill>
                  <a:schemeClr val="tx1"/>
                </a:solidFill>
              </a:rPr>
              <a:t>393 applicants · 22.14% approved</a:t>
            </a:r>
            <a:endParaRPr lang="en-US" sz="1400" dirty="0"/>
          </a:p>
        </p:txBody>
      </p:sp>
      <p:sp>
        <p:nvSpPr>
          <p:cNvPr id="16" name="Text 13"/>
          <p:cNvSpPr txBox="1"/>
          <p:nvPr/>
        </p:nvSpPr>
        <p:spPr>
          <a:xfrm>
            <a:off x="10241280" y="4471416"/>
            <a:ext cx="1234440" cy="868680"/>
          </a:xfrm>
          <a:prstGeom prst="rect">
            <a:avLst/>
          </a:prstGeom>
          <a:noFill/>
          <a:ln/>
        </p:spPr>
        <p:txBody>
          <a:bodyPr wrap="square" lIns="0" tIns="0" rIns="0" bIns="0" rtlCol="0" anchor="ctr"/>
          <a:lstStyle/>
          <a:p>
            <a:pPr marL="0" indent="0" algn="r">
              <a:buNone/>
            </a:pPr>
            <a:r>
              <a:rPr lang="en-US" sz="2400" b="1" dirty="0">
                <a:solidFill>
                  <a:schemeClr val="tx1"/>
                </a:solidFill>
              </a:rPr>
              <a:t>13.99%</a:t>
            </a:r>
            <a:endParaRPr lang="en-US" sz="2400" dirty="0"/>
          </a:p>
        </p:txBody>
      </p:sp>
      <p:sp>
        <p:nvSpPr>
          <p:cNvPr id="17" name="Segment banner"/>
          <p:cNvSpPr/>
          <p:nvPr/>
        </p:nvSpPr>
        <p:spPr>
          <a:xfrm>
            <a:off x="548640" y="5577840"/>
            <a:ext cx="11091672" cy="685800"/>
          </a:xfrm>
          <a:prstGeom prst="roundRect">
            <a:avLst>
              <a:gd name="adj" fmla="val 18667"/>
            </a:avLst>
          </a:prstGeom>
          <a:solidFill>
            <a:schemeClr val="tx2"/>
          </a:solidFill>
          <a:ln/>
          <a:effectLst>
            <a:outerShdw blurRad="101600" dist="25400" dir="5400000" algn="bl" rotWithShape="0">
              <a:srgbClr val="0B3B3F">
                <a:alpha val="12000"/>
              </a:srgbClr>
            </a:outerShdw>
          </a:effectLst>
        </p:spPr>
        <p:txBody>
          <a:bodyPr/>
          <a:lstStyle/>
          <a:p>
            <a:endParaRPr lang="en-IN"/>
          </a:p>
        </p:txBody>
      </p:sp>
      <p:sp>
        <p:nvSpPr>
          <p:cNvPr id="18" name="Text 15"/>
          <p:cNvSpPr txBox="1"/>
          <p:nvPr/>
        </p:nvSpPr>
        <p:spPr>
          <a:xfrm>
            <a:off x="868680" y="5577840"/>
            <a:ext cx="10424160" cy="685800"/>
          </a:xfrm>
          <a:prstGeom prst="rect">
            <a:avLst/>
          </a:prstGeom>
          <a:noFill/>
          <a:ln/>
        </p:spPr>
        <p:txBody>
          <a:bodyPr wrap="square" lIns="0" tIns="0" rIns="0" bIns="0" rtlCol="0" anchor="ctr"/>
          <a:lstStyle/>
          <a:p>
            <a:pPr marL="0" indent="0">
              <a:buNone/>
            </a:pPr>
            <a:r>
              <a:rPr lang="en-US" sz="1800" b="1" dirty="0">
                <a:solidFill>
                  <a:schemeClr val="bg1"/>
                </a:solidFill>
              </a:rPr>
              <a:t>Group 2 has the highest error rate, so a human analyst should review those applications first.</a:t>
            </a:r>
            <a:endParaRPr lang="en-US" sz="18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5656F"/>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25880"/>
            <a:ext cx="5486400" cy="320040"/>
          </a:xfrm>
          <a:prstGeom prst="rect">
            <a:avLst/>
          </a:prstGeom>
          <a:noFill/>
          <a:ln/>
        </p:spPr>
        <p:txBody>
          <a:bodyPr wrap="square" lIns="0" tIns="0" rIns="0" bIns="0" rtlCol="0" anchor="t"/>
          <a:lstStyle/>
          <a:p>
            <a:pPr marL="0" indent="0">
              <a:buNone/>
            </a:pPr>
            <a:r>
              <a:rPr lang="en-US" sz="1400" b="1" kern="0" spc="400" dirty="0">
                <a:solidFill>
                  <a:schemeClr val="accent3"/>
                </a:solidFill>
              </a:rPr>
              <a:t>CREDIT PRE-SCREENING ENGINE</a:t>
            </a:r>
            <a:endParaRPr lang="en-US" sz="1400" dirty="0"/>
          </a:p>
        </p:txBody>
      </p:sp>
      <p:sp>
        <p:nvSpPr>
          <p:cNvPr id="3" name="Text 1"/>
          <p:cNvSpPr>
            <a:spLocks noGrp="1"/>
          </p:cNvSpPr>
          <p:nvPr>
            <p:ph type="title" idx="101" hasCustomPrompt="1"/>
          </p:nvPr>
        </p:nvSpPr>
        <p:spPr>
          <a:xfrm>
            <a:off x="3524596" y="3017519"/>
            <a:ext cx="6084916" cy="1546167"/>
          </a:xfrm>
          <a:prstGeom prst="rect">
            <a:avLst/>
          </a:prstGeom>
          <a:noFill/>
          <a:ln/>
        </p:spPr>
        <p:txBody>
          <a:bodyPr wrap="square" lIns="0" tIns="0" rIns="0" bIns="0" rtlCol="0" anchor="t"/>
          <a:lstStyle/>
          <a:p>
            <a:pPr marL="0" indent="0" algn="l">
              <a:buNone/>
            </a:pPr>
            <a:r>
              <a:rPr lang="en-US" sz="5200" b="1" dirty="0">
                <a:solidFill>
                  <a:schemeClr val="bg1"/>
                </a:solidFill>
              </a:rPr>
              <a:t>Thank you</a:t>
            </a:r>
            <a:endParaRPr lang="en-US" sz="5200" dirty="0"/>
          </a:p>
        </p:txBody>
      </p:sp>
      <p:sp>
        <p:nvSpPr>
          <p:cNvPr id="4" name="Text 1"/>
          <p:cNvSpPr>
            <a:spLocks noGrp="1"/>
          </p:cNvSpPr>
          <p:nvPr>
            <p:ph type="body" idx="102" hasCustomPrompt="1"/>
          </p:nvPr>
        </p:nvSpPr>
        <p:spPr>
          <a:xfrm>
            <a:off x="4389120" y="4181301"/>
            <a:ext cx="5685905" cy="1546168"/>
          </a:xfrm>
          <a:prstGeom prst="rect">
            <a:avLst/>
          </a:prstGeom>
          <a:noFill/>
          <a:ln/>
        </p:spPr>
        <p:txBody>
          <a:bodyPr wrap="square" lIns="0" tIns="0" rIns="0" bIns="0" rtlCol="0" anchor="t"/>
          <a:lstStyle/>
          <a:p>
            <a:pPr marL="0" indent="0" algn="l">
              <a:buNone/>
            </a:pPr>
            <a:r>
              <a:rPr lang="en-US" sz="2200" dirty="0">
                <a:solidFill>
                  <a:schemeClr val="bg2"/>
                </a:solidFill>
              </a:rPr>
              <a:t>Any questions? </a:t>
            </a:r>
            <a:endParaRPr lang="en-US" sz="2200" dirty="0"/>
          </a:p>
        </p:txBody>
      </p:sp>
      <p:sp>
        <p:nvSpPr>
          <p:cNvPr id="5" name="Text 3"/>
          <p:cNvSpPr txBox="1"/>
          <p:nvPr/>
        </p:nvSpPr>
        <p:spPr>
          <a:xfrm>
            <a:off x="731520" y="5669280"/>
            <a:ext cx="6217920" cy="365760"/>
          </a:xfrm>
          <a:prstGeom prst="rect">
            <a:avLst/>
          </a:prstGeom>
          <a:noFill/>
          <a:ln/>
        </p:spPr>
        <p:txBody>
          <a:bodyPr wrap="square" lIns="0" tIns="0" rIns="0" bIns="0" rtlCol="0" anchor="t"/>
          <a:lstStyle/>
          <a:p>
            <a:pPr marL="0" indent="0">
              <a:buNone/>
            </a:pPr>
            <a:r>
              <a:rPr lang="en-US" sz="1600" dirty="0">
                <a:solidFill>
                  <a:schemeClr val="bg1"/>
                </a:solidFill>
              </a:rPr>
              <a:t>Keerthipriya  |  MUC02 · Path 3 · Batch 1</a:t>
            </a:r>
            <a:endParaRPr lang="en-US" sz="1600" dirty="0"/>
          </a:p>
        </p:txBody>
      </p:sp>
    </p:spTree>
  </p:cSld>
  <p:clrMapOvr>
    <a:masterClrMapping/>
  </p:clrMapOvr>
</p:sld>
</file>

<file path=ppt/theme/theme1.xml><?xml version="1.0" encoding="utf-8"?>
<a:theme xmlns:a="http://schemas.openxmlformats.org/drawingml/2006/main" name="Loan Pre-Screener">
  <a:themeElements>
    <a:clrScheme name="Loan Pre-Screener">
      <a:dk1>
        <a:srgbClr val="1E2B33"/>
      </a:dk1>
      <a:lt1>
        <a:srgbClr val="FFFFFF"/>
      </a:lt1>
      <a:dk2>
        <a:srgbClr val="0B5560"/>
      </a:dk2>
      <a:lt2>
        <a:srgbClr val="EAF5F3"/>
      </a:lt2>
      <a:accent1>
        <a:srgbClr val="0F8B8D"/>
      </a:accent1>
      <a:accent2>
        <a:srgbClr val="DC5442"/>
      </a:accent2>
      <a:accent3>
        <a:srgbClr val="F2B84B"/>
      </a:accent3>
      <a:accent4>
        <a:srgbClr val="2F8F5F"/>
      </a:accent4>
      <a:accent5>
        <a:srgbClr val="6C8EAD"/>
      </a:accent5>
      <a:accent6>
        <a:srgbClr val="9AA9B2"/>
      </a:accent6>
      <a:hlink>
        <a:srgbClr val="0F8B8D"/>
      </a:hlink>
      <a:folHlink>
        <a:srgbClr val="6C8EAD"/>
      </a:folHlink>
    </a:clrScheme>
    <a:fontScheme name="Loan Pre-Screen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4313</Words>
  <Application>Microsoft Office PowerPoint</Application>
  <PresentationFormat>Widescreen</PresentationFormat>
  <Paragraphs>341</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Loan Pre-Screener</vt:lpstr>
      <vt:lpstr>Credit Pre-Screening Engine</vt:lpstr>
      <vt:lpstr>Problem Statement Why we need a pre-screener</vt:lpstr>
      <vt:lpstr>What we want to achieve Success measures and who it is for</vt:lpstr>
      <vt:lpstr>CBIM Problem Canvas How we framed the problem</vt:lpstr>
      <vt:lpstr>5.1  Load, inspect and clean Meet the data</vt:lpstr>
      <vt:lpstr>5.1  Load, inspect and clean Tidying up the data</vt:lpstr>
      <vt:lpstr>5.2  What drives approval today? Credit score matters a lot</vt:lpstr>
      <vt:lpstr>5.2  What drives approval today? Job type and “no score” applicants</vt:lpstr>
      <vt:lpstr>5.3  Engineer the affordability feature Three helpful new clues</vt:lpstr>
      <vt:lpstr>5.3  Engineer the affordability feature Higher FOIR, lower approval</vt:lpstr>
      <vt:lpstr>5.4  Build the logistic regression pre-screener Model 1: Logistic Regression</vt:lpstr>
      <vt:lpstr>5.4  Build the logistic regression pre-screener What the first model looks at</vt:lpstr>
      <vt:lpstr>5.5  Set the auto-decline threshold What the 0.90 rule saves</vt:lpstr>
      <vt:lpstr>5.6  Fairness check Is it fair? A quick check</vt:lpstr>
      <vt:lpstr>5.7  Interim briefing (Part 1) What we can tell the head of lending so far</vt:lpstr>
      <vt:lpstr>5.8  Rebuild the baseline as a pipeline One reusable workflow</vt:lpstr>
      <vt:lpstr>5.9  Compare models with cross-validation Model showdown</vt:lpstr>
      <vt:lpstr>5.9  Compare models with cross-validation What Gradient Boosting looks at</vt:lpstr>
      <vt:lpstr>5.10  Design the two-lane pre-screener Three lanes for every application</vt:lpstr>
      <vt:lpstr>5.10  Design the two-lane pre-screener How much time we save</vt:lpstr>
      <vt:lpstr>5.11  Your recommendation to the Credit Policy Analyst Our recommendation</vt:lpstr>
      <vt:lpstr>5.12  Stretch (optional): Where does the model struggle? Four applicant groups, and where errors are highest</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Pre-Screening Engine</dc:title>
  <dc:subject>PptxGenJS Presentation</dc:subject>
  <dc:creator>Keerthipriya</dc:creator>
  <cp:lastModifiedBy>Keerthi Priya</cp:lastModifiedBy>
  <cp:revision>2</cp:revision>
  <dcterms:created xsi:type="dcterms:W3CDTF">2026-10-24T17:46:08Z</dcterms:created>
  <dcterms:modified xsi:type="dcterms:W3CDTF">2026-10-24T18:22:48Z</dcterms:modified>
</cp:coreProperties>
</file>